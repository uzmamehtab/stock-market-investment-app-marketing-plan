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Investors</c:v>
                </c:pt>
              </c:strCache>
            </c:strRef>
          </c:tx>
          <c:spPr>
            <a:solidFill>
              <a:srgbClr val="440973"/>
            </a:solidFill>
            <a:effectLst/>
          </c:spPr>
          <c:invertIfNegative val="0"/>
          <c:dLbls>
            <c:numFmt formatCode="#,##0" sourceLinked="0"/>
            <c:txPr>
              <a:bodyPr/>
              <a:lstStyle/>
              <a:p>
                <a:pPr>
                  <a:defRPr b="0" i="0" strike="noStrike" sz="1000" u="none">
                    <a:solidFill>
                      <a:srgbClr val="0E0F3D"/>
                    </a:solidFill>
                    <a:latin typeface="Arial"/>
                  </a:defRPr>
                </a:pPr>
              </a:p>
            </c:txPr>
            <c:showLegendKey val="0"/>
            <c:showVal val="1"/>
            <c:showCatName val="0"/>
            <c:showSerName val="0"/>
            <c:showPercent val="0"/>
            <c:showBubbleSize val="0"/>
            <c:showLeaderLines val="0"/>
          </c:dLbls>
          <c:cat>
            <c:multiLvlStrRef>
              <c:f>Sheet1!$A$2:$A$4</c:f>
              <c:multiLvlStrCache>
                <c:ptCount val="3"/>
                <c:lvl>
                  <c:pt idx="0">
                    <c:v>Jun 2022</c:v>
                  </c:pt>
                  <c:pt idx="1">
                    <c:v>Feb 2026</c:v>
                  </c:pt>
                  <c:pt idx="2">
                    <c:v>Jul 2026</c:v>
                  </c:pt>
                </c:lvl>
              </c:multiLvlStrCache>
            </c:multiLvlStrRef>
          </c:cat>
          <c:val>
            <c:numRef>
              <c:f>Sheet1!$B$2:$B$4</c:f>
              <c:numCache>
                <c:formatCode>General</c:formatCode>
                <c:ptCount val="3"/>
                <c:pt idx="0">
                  <c:v>275000</c:v>
                </c:pt>
                <c:pt idx="1">
                  <c:v>502024</c:v>
                </c:pt>
                <c:pt idx="2">
                  <c:v>607025</c:v>
                </c:pt>
              </c:numCache>
            </c:numRef>
          </c:val>
        </c:ser>
        <c:dLbls>
          <c:numFmt formatCode="#,##0" sourceLinked="0"/>
          <c:txPr>
            <a:bodyPr/>
            <a:lstStyle/>
            <a:p>
              <a:pPr>
                <a:defRPr b="0" i="0" strike="noStrike" sz="1000" u="none">
                  <a:solidFill>
                    <a:srgbClr val="0E0F3D"/>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B6B80"/>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New accounts</c:v>
                </c:pt>
              </c:strCache>
            </c:strRef>
          </c:tx>
          <c:spPr>
            <a:solidFill>
              <a:srgbClr val="86BC00"/>
            </a:solidFill>
            <a:effectLst/>
          </c:spPr>
          <c:invertIfNegative val="0"/>
          <c:dLbls>
            <c:numFmt formatCode="#,##0" sourceLinked="0"/>
            <c:txPr>
              <a:bodyPr/>
              <a:lstStyle/>
              <a:p>
                <a:pPr>
                  <a:defRPr b="0" i="0" strike="noStrike" sz="1000" u="none">
                    <a:solidFill>
                      <a:srgbClr val="0E0F3D"/>
                    </a:solidFill>
                    <a:latin typeface="Arial"/>
                  </a:defRPr>
                </a:pPr>
              </a:p>
            </c:txPr>
            <c:showLegendKey val="0"/>
            <c:showVal val="1"/>
            <c:showCatName val="0"/>
            <c:showSerName val="0"/>
            <c:showPercent val="0"/>
            <c:showBubbleSize val="0"/>
            <c:showLeaderLines val="0"/>
          </c:dLbls>
          <c:dPt>
            <c:idx val="0"/>
            <c:invertIfNegative val="0"/>
            <c:bubble3D val="0"/>
            <c:spPr>
              <a:solidFill>
                <a:srgbClr val="86BC00"/>
              </a:solidFill>
              <a:effectLst/>
            </c:spPr>
          </c:dPt>
          <c:dPt>
            <c:idx val="1"/>
            <c:invertIfNegative val="0"/>
            <c:bubble3D val="0"/>
            <c:spPr>
              <a:solidFill>
                <a:srgbClr val="86BC00"/>
              </a:solidFill>
              <a:effectLst/>
            </c:spPr>
          </c:dPt>
          <c:dPt>
            <c:idx val="2"/>
            <c:invertIfNegative val="0"/>
            <c:bubble3D val="0"/>
            <c:spPr>
              <a:solidFill>
                <a:srgbClr val="86BC00"/>
              </a:solidFill>
              <a:effectLst/>
            </c:spPr>
          </c:dPt>
          <c:dPt>
            <c:idx val="3"/>
            <c:invertIfNegative val="0"/>
            <c:bubble3D val="0"/>
            <c:spPr>
              <a:solidFill>
                <a:srgbClr val="86BC00"/>
              </a:solidFill>
              <a:effectLst/>
            </c:spPr>
          </c:dPt>
          <c:dPt>
            <c:idx val="4"/>
            <c:invertIfNegative val="0"/>
            <c:bubble3D val="0"/>
            <c:spPr>
              <a:solidFill>
                <a:srgbClr val="4F7A00"/>
              </a:solidFill>
              <a:effectLst/>
            </c:spPr>
          </c:dPt>
          <c:cat>
            <c:multiLvlStrRef>
              <c:f>Sheet1!$A$2:$A$6</c:f>
              <c:multiLvlStrCache>
                <c:ptCount val="5"/>
                <c:lvl>
                  <c:pt idx="0">
                    <c:v>FY23</c:v>
                  </c:pt>
                  <c:pt idx="1">
                    <c:v>FY24</c:v>
                  </c:pt>
                  <c:pt idx="2">
                    <c:v>FY25</c:v>
                  </c:pt>
                  <c:pt idx="3">
                    <c:v>FY26</c:v>
                  </c:pt>
                  <c:pt idx="4">
                    <c:v>Jul 2026</c:v>
                  </c:pt>
                </c:lvl>
              </c:multiLvlStrCache>
            </c:multiLvlStrRef>
          </c:cat>
          <c:val>
            <c:numRef>
              <c:f>Sheet1!$B$2:$B$6</c:f>
              <c:numCache>
                <c:formatCode>General</c:formatCode>
                <c:ptCount val="5"/>
                <c:pt idx="0">
                  <c:v>2300</c:v>
                </c:pt>
                <c:pt idx="1">
                  <c:v>2200</c:v>
                </c:pt>
                <c:pt idx="2">
                  <c:v>5300</c:v>
                </c:pt>
                <c:pt idx="3">
                  <c:v>15860</c:v>
                </c:pt>
                <c:pt idx="4">
                  <c:v>25140</c:v>
                </c:pt>
              </c:numCache>
            </c:numRef>
          </c:val>
        </c:ser>
        <c:dLbls>
          <c:numFmt formatCode="#,##0" sourceLinked="0"/>
          <c:txPr>
            <a:bodyPr/>
            <a:lstStyle/>
            <a:p>
              <a:pPr>
                <a:defRPr b="0" i="0" strike="noStrike" sz="1000" u="none">
                  <a:solidFill>
                    <a:srgbClr val="0E0F3D"/>
                  </a:solidFill>
                  <a:latin typeface="Arial"/>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B6B80"/>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chart" Target="/ppt/charts/chart1.xml"/><Relationship Id="rId4" Type="http://schemas.openxmlformats.org/officeDocument/2006/relationships/chart" Target="/ppt/charts/chart2.xml"/><Relationship Id="rId1" Type="http://schemas.openxmlformats.org/officeDocument/2006/relationships/image" Target="../media/image-3-1.png"/><Relationship Id="rId2" Type="http://schemas.openxmlformats.org/officeDocument/2006/relationships/image" Target="../media/image-3-2.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jpg"/><Relationship Id="rId4" Type="http://schemas.openxmlformats.org/officeDocument/2006/relationships/image" Target="../media/image-8-4.jp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slideLayout" Target="../slideLayouts/slideLayout1.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slideLayout" Target="../slideLayouts/slideLayout1.xml"/><Relationship Id="rId10"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slideLayout" Target="../slideLayouts/slideLayout1.xml"/><Relationship Id="rId10"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image" Target="../media/image-18-8.png"/><Relationship Id="rId9" Type="http://schemas.openxmlformats.org/officeDocument/2006/relationships/image" Target="../media/image-18-9.png"/><Relationship Id="rId10" Type="http://schemas.openxmlformats.org/officeDocument/2006/relationships/image" Target="../media/image-18-10.png"/><Relationship Id="rId11" Type="http://schemas.openxmlformats.org/officeDocument/2006/relationships/image" Target="../media/image-18-11.png"/><Relationship Id="rId12" Type="http://schemas.openxmlformats.org/officeDocument/2006/relationships/image" Target="../media/image-18-12.png"/><Relationship Id="rId13" Type="http://schemas.openxmlformats.org/officeDocument/2006/relationships/slideLayout" Target="../slideLayouts/slideLayout1.xml"/><Relationship Id="rId1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440973"/>
        </a:solidFill>
      </p:bgPr>
    </p:bg>
    <p:spTree>
      <p:nvGrpSpPr>
        <p:cNvPr id="1" name=""/>
        <p:cNvGrpSpPr/>
        <p:nvPr/>
      </p:nvGrpSpPr>
      <p:grpSpPr>
        <a:xfrm>
          <a:off x="0" y="0"/>
          <a:ext cx="0" cy="0"/>
          <a:chOff x="0" y="0"/>
          <a:chExt cx="0" cy="0"/>
        </a:xfrm>
      </p:grpSpPr>
      <p:pic>
        <p:nvPicPr>
          <p:cNvPr id="2" name="Image 0" descr="logo_purple.png">    </p:cNvPr>
          <p:cNvPicPr>
            <a:picLocks noChangeAspect="1"/>
          </p:cNvPicPr>
          <p:nvPr/>
        </p:nvPicPr>
        <p:blipFill>
          <a:blip r:embed="rId1"/>
          <a:stretch>
            <a:fillRect/>
          </a:stretch>
        </p:blipFill>
        <p:spPr>
          <a:xfrm>
            <a:off x="457200" y="411480"/>
            <a:ext cx="1737360" cy="932688"/>
          </a:xfrm>
          <a:prstGeom prst="rect">
            <a:avLst/>
          </a:prstGeom>
        </p:spPr>
      </p:pic>
      <p:sp>
        <p:nvSpPr>
          <p:cNvPr id="3" name="Text 0"/>
          <p:cNvSpPr txBox="1"/>
          <p:nvPr/>
        </p:nvSpPr>
        <p:spPr>
          <a:xfrm>
            <a:off x="457200" y="1737360"/>
            <a:ext cx="7315200" cy="548640"/>
          </a:xfrm>
          <a:prstGeom prst="rect">
            <a:avLst/>
          </a:prstGeom>
          <a:noFill/>
          <a:ln/>
        </p:spPr>
        <p:txBody>
          <a:bodyPr wrap="square" lIns="0" tIns="0" rIns="0" bIns="0" rtlCol="0" anchor="t"/>
          <a:lstStyle/>
          <a:p>
            <a:pPr indent="0" marL="0">
              <a:buNone/>
            </a:pPr>
            <a:r>
              <a:rPr lang="en-US" sz="3400" b="1" dirty="0">
                <a:solidFill>
                  <a:srgbClr val="FFFFFF"/>
                </a:solidFill>
                <a:latin typeface="Arial" pitchFamily="34" charset="0"/>
                <a:ea typeface="Arial" pitchFamily="34" charset="-122"/>
                <a:cs typeface="Arial" pitchFamily="34" charset="-120"/>
              </a:rPr>
              <a:t>AL Habib Capital GROW</a:t>
            </a:r>
            <a:endParaRPr lang="en-US" sz="3400" dirty="0"/>
          </a:p>
        </p:txBody>
      </p:sp>
      <p:sp>
        <p:nvSpPr>
          <p:cNvPr id="4" name="Text 1"/>
          <p:cNvSpPr txBox="1"/>
          <p:nvPr/>
        </p:nvSpPr>
        <p:spPr>
          <a:xfrm>
            <a:off x="457200" y="2331720"/>
            <a:ext cx="7589520" cy="411480"/>
          </a:xfrm>
          <a:prstGeom prst="rect">
            <a:avLst/>
          </a:prstGeom>
          <a:noFill/>
          <a:ln/>
        </p:spPr>
        <p:txBody>
          <a:bodyPr wrap="square" lIns="0" tIns="0" rIns="0" bIns="0" rtlCol="0" anchor="t"/>
          <a:lstStyle/>
          <a:p>
            <a:pPr indent="0" marL="0">
              <a:buNone/>
            </a:pPr>
            <a:r>
              <a:rPr lang="en-US" sz="1700" dirty="0">
                <a:solidFill>
                  <a:srgbClr val="D9F29A"/>
                </a:solidFill>
                <a:latin typeface="Arial" pitchFamily="34" charset="0"/>
                <a:ea typeface="Arial" pitchFamily="34" charset="-122"/>
                <a:cs typeface="Arial" pitchFamily="34" charset="-120"/>
              </a:rPr>
              <a:t>Growth plan: fix the foundations first, then test what brings funded accounts</a:t>
            </a:r>
            <a:endParaRPr lang="en-US" sz="1700" dirty="0"/>
          </a:p>
        </p:txBody>
      </p:sp>
      <p:sp>
        <p:nvSpPr>
          <p:cNvPr id="5" name="Text 2"/>
          <p:cNvSpPr txBox="1"/>
          <p:nvPr/>
        </p:nvSpPr>
        <p:spPr>
          <a:xfrm>
            <a:off x="457200" y="2971800"/>
            <a:ext cx="7772400" cy="274320"/>
          </a:xfrm>
          <a:prstGeom prst="rect">
            <a:avLst/>
          </a:prstGeom>
          <a:noFill/>
          <a:ln/>
        </p:spPr>
        <p:txBody>
          <a:bodyPr wrap="square" lIns="0" tIns="0" rIns="0" bIns="0" rtlCol="0" anchor="t"/>
          <a:lstStyle/>
          <a:p>
            <a:pPr indent="0" marL="0">
              <a:buNone/>
            </a:pPr>
            <a:r>
              <a:rPr lang="en-US" sz="1100" dirty="0">
                <a:solidFill>
                  <a:srgbClr val="E4DAF0"/>
                </a:solidFill>
                <a:latin typeface="Arial" pitchFamily="34" charset="0"/>
                <a:ea typeface="Arial" pitchFamily="34" charset="-122"/>
                <a:cs typeface="Arial" pitchFamily="34" charset="-120"/>
              </a:rPr>
              <a:t>Prepared for AL Habib Capital Markets (Pvt) Ltd  |  CEO and CFO briefing  |  September 2026</a:t>
            </a:r>
            <a:endParaRPr lang="en-US" sz="1100" dirty="0"/>
          </a:p>
        </p:txBody>
      </p:sp>
      <p:sp>
        <p:nvSpPr>
          <p:cNvPr id="6" name="Shape 3"/>
          <p:cNvSpPr/>
          <p:nvPr/>
        </p:nvSpPr>
        <p:spPr>
          <a:xfrm>
            <a:off x="457200" y="3840480"/>
            <a:ext cx="5303520" cy="685800"/>
          </a:xfrm>
          <a:prstGeom prst="roundRect">
            <a:avLst>
              <a:gd name="adj" fmla="val 10667"/>
            </a:avLst>
          </a:prstGeom>
          <a:solidFill>
            <a:srgbClr val="2E0550"/>
          </a:solidFill>
          <a:ln w="12700">
            <a:solidFill>
              <a:srgbClr val="2E0550"/>
            </a:solidFill>
            <a:prstDash val="solid"/>
          </a:ln>
        </p:spPr>
      </p:sp>
      <p:sp>
        <p:nvSpPr>
          <p:cNvPr id="7" name="Text 4"/>
          <p:cNvSpPr txBox="1"/>
          <p:nvPr/>
        </p:nvSpPr>
        <p:spPr>
          <a:xfrm>
            <a:off x="594360" y="3913632"/>
            <a:ext cx="5074920" cy="548640"/>
          </a:xfrm>
          <a:prstGeom prst="rect">
            <a:avLst/>
          </a:prstGeom>
          <a:noFill/>
          <a:ln/>
        </p:spPr>
        <p:txBody>
          <a:bodyPr wrap="square" lIns="0" tIns="0" rIns="0" bIns="0" rtlCol="0" anchor="ctr"/>
          <a:lstStyle/>
          <a:p>
            <a:pPr indent="0" marL="0">
              <a:buNone/>
            </a:pPr>
            <a:r>
              <a:rPr lang="en-US" sz="1000" b="1" dirty="0">
                <a:solidFill>
                  <a:srgbClr val="D9F29A"/>
                </a:solidFill>
                <a:latin typeface="Arial" pitchFamily="34" charset="0"/>
                <a:ea typeface="Arial" pitchFamily="34" charset="-122"/>
                <a:cs typeface="Arial" pitchFamily="34" charset="-120"/>
              </a:rPr>
              <a:t>Scope: </a:t>
            </a:r>
            <a:pPr indent="0" marL="0">
              <a:buNone/>
            </a:pPr>
            <a:r>
              <a:rPr lang="en-US" sz="1000" dirty="0">
                <a:solidFill>
                  <a:srgbClr val="FFFFFF"/>
                </a:solidFill>
                <a:latin typeface="Arial" pitchFamily="34" charset="0"/>
                <a:ea typeface="Arial" pitchFamily="34" charset="-122"/>
                <a:cs typeface="Arial" pitchFamily="34" charset="-120"/>
              </a:rPr>
              <a:t>this deck outlines the scope of an annual digital marketing plan. All results shown are estimates until tested.</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logo_light.png">    </p:cNvPr>
          <p:cNvPicPr>
            <a:picLocks noChangeAspect="1"/>
          </p:cNvPicPr>
          <p:nvPr/>
        </p:nvPicPr>
        <p:blipFill>
          <a:blip r:embed="rId1"/>
          <a:stretch>
            <a:fillRect/>
          </a:stretch>
        </p:blipFill>
        <p:spPr>
          <a:xfrm>
            <a:off x="7882128" y="164592"/>
            <a:ext cx="896112" cy="475488"/>
          </a:xfrm>
          <a:prstGeom prst="rect">
            <a:avLst/>
          </a:prstGeom>
        </p:spPr>
      </p:pic>
      <p:pic>
        <p:nvPicPr>
          <p:cNvPr id="3" name="Image 1" descr="corner_t.png">    </p:cNvPr>
          <p:cNvPicPr>
            <a:picLocks noChangeAspect="1"/>
          </p:cNvPicPr>
          <p:nvPr/>
        </p:nvPicPr>
        <p:blipFill>
          <a:blip r:embed="rId2"/>
          <a:stretch>
            <a:fillRect/>
          </a:stretch>
        </p:blipFill>
        <p:spPr>
          <a:xfrm>
            <a:off x="8138160" y="4553712"/>
            <a:ext cx="1005840" cy="726948"/>
          </a:xfrm>
          <a:prstGeom prst="rect">
            <a:avLst/>
          </a:prstGeom>
        </p:spPr>
      </p:pic>
      <p:sp>
        <p:nvSpPr>
          <p:cNvPr id="4" name="Text 0"/>
          <p:cNvSpPr txBox="1"/>
          <p:nvPr/>
        </p:nvSpPr>
        <p:spPr>
          <a:xfrm>
            <a:off x="457200" y="228600"/>
            <a:ext cx="7223760" cy="548640"/>
          </a:xfrm>
          <a:prstGeom prst="rect">
            <a:avLst/>
          </a:prstGeom>
          <a:noFill/>
          <a:ln/>
        </p:spPr>
        <p:txBody>
          <a:bodyPr wrap="square" lIns="0" tIns="0" rIns="0" bIns="0" rtlCol="0" anchor="ctr"/>
          <a:lstStyle/>
          <a:p>
            <a:pPr indent="0" marL="0">
              <a:buNone/>
            </a:pPr>
            <a:r>
              <a:rPr lang="en-US" sz="2400" b="1" dirty="0">
                <a:solidFill>
                  <a:srgbClr val="440973"/>
                </a:solidFill>
                <a:latin typeface="Arial" pitchFamily="34" charset="0"/>
                <a:ea typeface="Arial" pitchFamily="34" charset="-122"/>
                <a:cs typeface="Arial" pitchFamily="34" charset="-120"/>
              </a:rPr>
              <a:t>Summary: start lean, learn fast, then decide</a:t>
            </a:r>
            <a:endParaRPr lang="en-US" sz="2400" dirty="0"/>
          </a:p>
        </p:txBody>
      </p:sp>
      <p:sp>
        <p:nvSpPr>
          <p:cNvPr id="5" name="Shape 1"/>
          <p:cNvSpPr/>
          <p:nvPr/>
        </p:nvSpPr>
        <p:spPr>
          <a:xfrm>
            <a:off x="457200" y="914400"/>
            <a:ext cx="1737360" cy="1371600"/>
          </a:xfrm>
          <a:prstGeom prst="roundRect">
            <a:avLst>
              <a:gd name="adj" fmla="val 5333"/>
            </a:avLst>
          </a:prstGeom>
          <a:solidFill>
            <a:srgbClr val="F3EEF8"/>
          </a:solidFill>
          <a:ln w="12700">
            <a:solidFill>
              <a:srgbClr val="F3EEF8"/>
            </a:solidFill>
            <a:prstDash val="solid"/>
          </a:ln>
        </p:spPr>
      </p:sp>
      <p:sp>
        <p:nvSpPr>
          <p:cNvPr id="6" name="Text 2"/>
          <p:cNvSpPr txBox="1"/>
          <p:nvPr/>
        </p:nvSpPr>
        <p:spPr>
          <a:xfrm>
            <a:off x="594360" y="1024128"/>
            <a:ext cx="1508760" cy="457200"/>
          </a:xfrm>
          <a:prstGeom prst="rect">
            <a:avLst/>
          </a:prstGeom>
          <a:noFill/>
          <a:ln/>
        </p:spPr>
        <p:txBody>
          <a:bodyPr wrap="square" lIns="0" tIns="0" rIns="0" bIns="0" rtlCol="0" anchor="t"/>
          <a:lstStyle/>
          <a:p>
            <a:pPr indent="0" marL="0">
              <a:buNone/>
            </a:pPr>
            <a:r>
              <a:rPr lang="en-US" sz="1900" b="1" dirty="0">
                <a:solidFill>
                  <a:srgbClr val="440973"/>
                </a:solidFill>
                <a:latin typeface="Arial" pitchFamily="34" charset="0"/>
                <a:ea typeface="Arial" pitchFamily="34" charset="-122"/>
                <a:cs typeface="Arial" pitchFamily="34" charset="-120"/>
              </a:rPr>
              <a:t>607,025</a:t>
            </a:r>
            <a:endParaRPr lang="en-US" sz="1900" dirty="0"/>
          </a:p>
        </p:txBody>
      </p:sp>
      <p:sp>
        <p:nvSpPr>
          <p:cNvPr id="7" name="Text 3"/>
          <p:cNvSpPr txBox="1"/>
          <p:nvPr/>
        </p:nvSpPr>
        <p:spPr>
          <a:xfrm>
            <a:off x="594360" y="1536192"/>
            <a:ext cx="1508760" cy="685800"/>
          </a:xfrm>
          <a:prstGeom prst="rect">
            <a:avLst/>
          </a:prstGeom>
          <a:noFill/>
          <a:ln/>
        </p:spPr>
        <p:txBody>
          <a:bodyPr wrap="square" lIns="0" tIns="0" rIns="0" bIns="0" rtlCol="0" anchor="t"/>
          <a:lstStyle/>
          <a:p>
            <a:pPr indent="0" marL="0">
              <a:buNone/>
            </a:pPr>
            <a:r>
              <a:rPr lang="en-US" sz="950" dirty="0">
                <a:solidFill>
                  <a:srgbClr val="2B2B3A"/>
                </a:solidFill>
                <a:latin typeface="Arial" pitchFamily="34" charset="0"/>
                <a:ea typeface="Arial" pitchFamily="34" charset="-122"/>
                <a:cs typeface="Arial" pitchFamily="34" charset="-120"/>
              </a:rPr>
              <a:t>PSX investor accounts in July 2026, up 121% since 2022</a:t>
            </a:r>
            <a:endParaRPr lang="en-US" sz="950" dirty="0"/>
          </a:p>
        </p:txBody>
      </p:sp>
      <p:sp>
        <p:nvSpPr>
          <p:cNvPr id="8" name="Shape 4"/>
          <p:cNvSpPr/>
          <p:nvPr/>
        </p:nvSpPr>
        <p:spPr>
          <a:xfrm>
            <a:off x="2331720" y="914400"/>
            <a:ext cx="1737360" cy="1371600"/>
          </a:xfrm>
          <a:prstGeom prst="roundRect">
            <a:avLst>
              <a:gd name="adj" fmla="val 5333"/>
            </a:avLst>
          </a:prstGeom>
          <a:solidFill>
            <a:srgbClr val="F3EEF8"/>
          </a:solidFill>
          <a:ln w="12700">
            <a:solidFill>
              <a:srgbClr val="F3EEF8"/>
            </a:solidFill>
            <a:prstDash val="solid"/>
          </a:ln>
        </p:spPr>
      </p:sp>
      <p:sp>
        <p:nvSpPr>
          <p:cNvPr id="9" name="Text 5"/>
          <p:cNvSpPr txBox="1"/>
          <p:nvPr/>
        </p:nvSpPr>
        <p:spPr>
          <a:xfrm>
            <a:off x="2468880" y="1024128"/>
            <a:ext cx="1508760" cy="457200"/>
          </a:xfrm>
          <a:prstGeom prst="rect">
            <a:avLst/>
          </a:prstGeom>
          <a:noFill/>
          <a:ln/>
        </p:spPr>
        <p:txBody>
          <a:bodyPr wrap="square" lIns="0" tIns="0" rIns="0" bIns="0" rtlCol="0" anchor="t"/>
          <a:lstStyle/>
          <a:p>
            <a:pPr indent="0" marL="0">
              <a:buNone/>
            </a:pPr>
            <a:r>
              <a:rPr lang="en-US" sz="1900" b="1" dirty="0">
                <a:solidFill>
                  <a:srgbClr val="440973"/>
                </a:solidFill>
                <a:latin typeface="Arial" pitchFamily="34" charset="0"/>
                <a:ea typeface="Arial" pitchFamily="34" charset="-122"/>
                <a:cs typeface="Arial" pitchFamily="34" charset="-120"/>
              </a:rPr>
              <a:t>~25,000</a:t>
            </a:r>
            <a:endParaRPr lang="en-US" sz="1900" dirty="0"/>
          </a:p>
        </p:txBody>
      </p:sp>
      <p:sp>
        <p:nvSpPr>
          <p:cNvPr id="10" name="Text 6"/>
          <p:cNvSpPr txBox="1"/>
          <p:nvPr/>
        </p:nvSpPr>
        <p:spPr>
          <a:xfrm>
            <a:off x="2468880" y="1536192"/>
            <a:ext cx="1508760" cy="685800"/>
          </a:xfrm>
          <a:prstGeom prst="rect">
            <a:avLst/>
          </a:prstGeom>
          <a:noFill/>
          <a:ln/>
        </p:spPr>
        <p:txBody>
          <a:bodyPr wrap="square" lIns="0" tIns="0" rIns="0" bIns="0" rtlCol="0" anchor="t"/>
          <a:lstStyle/>
          <a:p>
            <a:pPr indent="0" marL="0">
              <a:buNone/>
            </a:pPr>
            <a:r>
              <a:rPr lang="en-US" sz="950" dirty="0">
                <a:solidFill>
                  <a:srgbClr val="2B2B3A"/>
                </a:solidFill>
                <a:latin typeface="Arial" pitchFamily="34" charset="0"/>
                <a:ea typeface="Arial" pitchFamily="34" charset="-122"/>
                <a:cs typeface="Arial" pitchFamily="34" charset="-120"/>
              </a:rPr>
              <a:t>new investor accounts opened every month, a record pace</a:t>
            </a:r>
            <a:endParaRPr lang="en-US" sz="950" dirty="0"/>
          </a:p>
        </p:txBody>
      </p:sp>
      <p:sp>
        <p:nvSpPr>
          <p:cNvPr id="11" name="Shape 7"/>
          <p:cNvSpPr/>
          <p:nvPr/>
        </p:nvSpPr>
        <p:spPr>
          <a:xfrm>
            <a:off x="4206240" y="914400"/>
            <a:ext cx="1737360" cy="1371600"/>
          </a:xfrm>
          <a:prstGeom prst="roundRect">
            <a:avLst>
              <a:gd name="adj" fmla="val 5333"/>
            </a:avLst>
          </a:prstGeom>
          <a:solidFill>
            <a:srgbClr val="EEF6DC"/>
          </a:solidFill>
          <a:ln w="12700">
            <a:solidFill>
              <a:srgbClr val="EEF6DC"/>
            </a:solidFill>
            <a:prstDash val="solid"/>
          </a:ln>
        </p:spPr>
      </p:sp>
      <p:sp>
        <p:nvSpPr>
          <p:cNvPr id="12" name="Text 8"/>
          <p:cNvSpPr txBox="1"/>
          <p:nvPr/>
        </p:nvSpPr>
        <p:spPr>
          <a:xfrm>
            <a:off x="4343400" y="1024128"/>
            <a:ext cx="1508760" cy="457200"/>
          </a:xfrm>
          <a:prstGeom prst="rect">
            <a:avLst/>
          </a:prstGeom>
          <a:noFill/>
          <a:ln/>
        </p:spPr>
        <p:txBody>
          <a:bodyPr wrap="square" lIns="0" tIns="0" rIns="0" bIns="0" rtlCol="0" anchor="t"/>
          <a:lstStyle/>
          <a:p>
            <a:pPr indent="0" marL="0">
              <a:buNone/>
            </a:pPr>
            <a:r>
              <a:rPr lang="en-US" sz="1900" b="1" dirty="0">
                <a:solidFill>
                  <a:srgbClr val="4F7A00"/>
                </a:solidFill>
                <a:latin typeface="Arial" pitchFamily="34" charset="0"/>
                <a:ea typeface="Arial" pitchFamily="34" charset="-122"/>
                <a:cs typeface="Arial" pitchFamily="34" charset="-120"/>
              </a:rPr>
              <a:t>PKR 50,000</a:t>
            </a:r>
            <a:endParaRPr lang="en-US" sz="1900" dirty="0"/>
          </a:p>
        </p:txBody>
      </p:sp>
      <p:sp>
        <p:nvSpPr>
          <p:cNvPr id="13" name="Text 9"/>
          <p:cNvSpPr txBox="1"/>
          <p:nvPr/>
        </p:nvSpPr>
        <p:spPr>
          <a:xfrm>
            <a:off x="4343400" y="1536192"/>
            <a:ext cx="1508760" cy="685800"/>
          </a:xfrm>
          <a:prstGeom prst="rect">
            <a:avLst/>
          </a:prstGeom>
          <a:noFill/>
          <a:ln/>
        </p:spPr>
        <p:txBody>
          <a:bodyPr wrap="square" lIns="0" tIns="0" rIns="0" bIns="0" rtlCol="0" anchor="t"/>
          <a:lstStyle/>
          <a:p>
            <a:pPr indent="0" marL="0">
              <a:buNone/>
            </a:pPr>
            <a:r>
              <a:rPr lang="en-US" sz="950" dirty="0">
                <a:solidFill>
                  <a:srgbClr val="2B2B3A"/>
                </a:solidFill>
                <a:latin typeface="Arial" pitchFamily="34" charset="0"/>
                <a:ea typeface="Arial" pitchFamily="34" charset="-122"/>
                <a:cs typeface="Arial" pitchFamily="34" charset="-120"/>
              </a:rPr>
              <a:t>a month for Hummingbird's organic work. First 3 months free</a:t>
            </a:r>
            <a:endParaRPr lang="en-US" sz="950" dirty="0"/>
          </a:p>
        </p:txBody>
      </p:sp>
      <p:sp>
        <p:nvSpPr>
          <p:cNvPr id="14" name="Shape 10"/>
          <p:cNvSpPr/>
          <p:nvPr/>
        </p:nvSpPr>
        <p:spPr>
          <a:xfrm>
            <a:off x="6080760" y="914400"/>
            <a:ext cx="1737360" cy="1371600"/>
          </a:xfrm>
          <a:prstGeom prst="roundRect">
            <a:avLst>
              <a:gd name="adj" fmla="val 5333"/>
            </a:avLst>
          </a:prstGeom>
          <a:solidFill>
            <a:srgbClr val="F3EEF8"/>
          </a:solidFill>
          <a:ln w="12700">
            <a:solidFill>
              <a:srgbClr val="F3EEF8"/>
            </a:solidFill>
            <a:prstDash val="solid"/>
          </a:ln>
        </p:spPr>
      </p:sp>
      <p:sp>
        <p:nvSpPr>
          <p:cNvPr id="15" name="Text 11"/>
          <p:cNvSpPr txBox="1"/>
          <p:nvPr/>
        </p:nvSpPr>
        <p:spPr>
          <a:xfrm>
            <a:off x="6217920" y="1024128"/>
            <a:ext cx="1508760" cy="457200"/>
          </a:xfrm>
          <a:prstGeom prst="rect">
            <a:avLst/>
          </a:prstGeom>
          <a:noFill/>
          <a:ln/>
        </p:spPr>
        <p:txBody>
          <a:bodyPr wrap="square" lIns="0" tIns="0" rIns="0" bIns="0" rtlCol="0" anchor="t"/>
          <a:lstStyle/>
          <a:p>
            <a:pPr indent="0" marL="0">
              <a:buNone/>
            </a:pPr>
            <a:r>
              <a:rPr lang="en-US" sz="1900" b="1" dirty="0">
                <a:solidFill>
                  <a:srgbClr val="440973"/>
                </a:solidFill>
                <a:latin typeface="Arial" pitchFamily="34" charset="0"/>
                <a:ea typeface="Arial" pitchFamily="34" charset="-122"/>
                <a:cs typeface="Arial" pitchFamily="34" charset="-120"/>
              </a:rPr>
              <a:t>PKR 900,000</a:t>
            </a:r>
            <a:endParaRPr lang="en-US" sz="1900" dirty="0"/>
          </a:p>
        </p:txBody>
      </p:sp>
      <p:sp>
        <p:nvSpPr>
          <p:cNvPr id="16" name="Text 12"/>
          <p:cNvSpPr txBox="1"/>
          <p:nvPr/>
        </p:nvSpPr>
        <p:spPr>
          <a:xfrm>
            <a:off x="6217920" y="1536192"/>
            <a:ext cx="1508760" cy="685800"/>
          </a:xfrm>
          <a:prstGeom prst="rect">
            <a:avLst/>
          </a:prstGeom>
          <a:noFill/>
          <a:ln/>
        </p:spPr>
        <p:txBody>
          <a:bodyPr wrap="square" lIns="0" tIns="0" rIns="0" bIns="0" rtlCol="0" anchor="t"/>
          <a:lstStyle/>
          <a:p>
            <a:pPr indent="0" marL="0">
              <a:buNone/>
            </a:pPr>
            <a:r>
              <a:rPr lang="en-US" sz="950" dirty="0">
                <a:solidFill>
                  <a:srgbClr val="2B2B3A"/>
                </a:solidFill>
                <a:latin typeface="Arial" pitchFamily="34" charset="0"/>
                <a:ea typeface="Arial" pitchFamily="34" charset="-122"/>
                <a:cs typeface="Arial" pitchFamily="34" charset="-120"/>
              </a:rPr>
              <a:t>suggested media for a 6-month Instagram test</a:t>
            </a:r>
            <a:endParaRPr lang="en-US" sz="950" dirty="0"/>
          </a:p>
        </p:txBody>
      </p:sp>
      <p:sp>
        <p:nvSpPr>
          <p:cNvPr id="17" name="Text 13"/>
          <p:cNvSpPr txBox="1"/>
          <p:nvPr/>
        </p:nvSpPr>
        <p:spPr>
          <a:xfrm>
            <a:off x="457200" y="2514600"/>
            <a:ext cx="7498080" cy="2103120"/>
          </a:xfrm>
          <a:prstGeom prst="rect">
            <a:avLst/>
          </a:prstGeom>
          <a:noFill/>
          <a:ln/>
        </p:spPr>
        <p:txBody>
          <a:bodyPr wrap="square" lIns="0" tIns="0" rIns="0" bIns="0" rtlCol="0" anchor="t"/>
          <a:lstStyle/>
          <a:p>
            <a:pPr indent="0" marL="0">
              <a:spcAft>
                <a:spcPts val="500"/>
              </a:spcAft>
              <a:buNone/>
            </a:pPr>
            <a:r>
              <a:rPr lang="en-US" sz="1300" b="1" dirty="0">
                <a:solidFill>
                  <a:srgbClr val="440973"/>
                </a:solidFill>
                <a:latin typeface="Arial" pitchFamily="34" charset="0"/>
                <a:ea typeface="Arial" pitchFamily="34" charset="-122"/>
                <a:cs typeface="Arial" pitchFamily="34" charset="-120"/>
              </a:rPr>
              <a:t>What we recommend, in order</a:t>
            </a:r>
            <a:endParaRPr lang="en-US" sz="1150" dirty="0"/>
          </a:p>
          <a:p>
            <a:pPr marL="342900" indent="-342900">
              <a:spcAft>
                <a:spcPts val="500"/>
              </a:spcAft>
              <a:buSzPct val="100000"/>
              <a:buFont typeface="+mj-lt"/>
              <a:buAutoNum type="arabicPeriod" startAt="1"/>
            </a:pPr>
            <a:r>
              <a:rPr lang="en-US" sz="1150" dirty="0">
                <a:solidFill>
                  <a:srgbClr val="2B2B3A"/>
                </a:solidFill>
                <a:latin typeface="Arial" pitchFamily="34" charset="0"/>
                <a:ea typeface="Arial" pitchFamily="34" charset="-122"/>
                <a:cs typeface="Arial" pitchFamily="34" charset="-120"/>
              </a:rPr>
              <a:t>Fix the foundations: social content, website, app store pages and answers in AI search (ChatGPT, Google). Low cost.</a:t>
            </a:r>
            <a:endParaRPr lang="en-US" sz="1150" dirty="0"/>
          </a:p>
          <a:p>
            <a:pPr marL="342900" indent="-342900">
              <a:spcAft>
                <a:spcPts val="500"/>
              </a:spcAft>
              <a:buSzPct val="100000"/>
              <a:buFont typeface="+mj-lt"/>
              <a:buAutoNum type="arabicPeriod" startAt="1"/>
            </a:pPr>
            <a:r>
              <a:rPr lang="en-US" sz="1150" dirty="0">
                <a:solidFill>
                  <a:srgbClr val="2B2B3A"/>
                </a:solidFill>
                <a:latin typeface="Arial" pitchFamily="34" charset="0"/>
                <a:ea typeface="Arial" pitchFamily="34" charset="-122"/>
                <a:cs typeface="Arial" pitchFamily="34" charset="-120"/>
              </a:rPr>
              <a:t>Add a small 6-month Instagram ad test, so the improved content actually reaches new people.</a:t>
            </a:r>
            <a:endParaRPr lang="en-US" sz="1150" dirty="0"/>
          </a:p>
          <a:p>
            <a:pPr marL="342900" indent="-342900">
              <a:spcAft>
                <a:spcPts val="500"/>
              </a:spcAft>
              <a:buSzPct val="100000"/>
              <a:buFont typeface="+mj-lt"/>
              <a:buAutoNum type="arabicPeriod" startAt="1"/>
            </a:pPr>
            <a:r>
              <a:rPr lang="en-US" sz="1150" dirty="0">
                <a:solidFill>
                  <a:srgbClr val="2B2B3A"/>
                </a:solidFill>
                <a:latin typeface="Arial" pitchFamily="34" charset="0"/>
                <a:ea typeface="Arial" pitchFamily="34" charset="-122"/>
                <a:cs typeface="Arial" pitchFamily="34" charset="-120"/>
              </a:rPr>
              <a:t>Review real results after 6 weeks of ads. Only then agree targets, or decide to scale or stop.</a:t>
            </a:r>
            <a:endParaRPr lang="en-US" sz="1150" dirty="0"/>
          </a:p>
          <a:p>
            <a:pPr marL="342900" indent="-342900">
              <a:spcAft>
                <a:spcPts val="500"/>
              </a:spcAft>
              <a:buSzPct val="100000"/>
              <a:buFont typeface="+mj-lt"/>
              <a:buAutoNum type="arabicPeriod" startAt="1"/>
            </a:pPr>
            <a:r>
              <a:rPr lang="en-US" sz="1150" dirty="0">
                <a:solidFill>
                  <a:srgbClr val="2B2B3A"/>
                </a:solidFill>
                <a:latin typeface="Arial" pitchFamily="34" charset="0"/>
                <a:ea typeface="Arial" pitchFamily="34" charset="-122"/>
                <a:cs typeface="Arial" pitchFamily="34" charset="-120"/>
              </a:rPr>
              <a:t>If there is no media budget: improve content and test one or two paid influencers instead.</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logo_light.png">    </p:cNvPr>
          <p:cNvPicPr>
            <a:picLocks noChangeAspect="1"/>
          </p:cNvPicPr>
          <p:nvPr/>
        </p:nvPicPr>
        <p:blipFill>
          <a:blip r:embed="rId1"/>
          <a:stretch>
            <a:fillRect/>
          </a:stretch>
        </p:blipFill>
        <p:spPr>
          <a:xfrm>
            <a:off x="7882128" y="164592"/>
            <a:ext cx="896112" cy="475488"/>
          </a:xfrm>
          <a:prstGeom prst="rect">
            <a:avLst/>
          </a:prstGeom>
        </p:spPr>
      </p:pic>
      <p:pic>
        <p:nvPicPr>
          <p:cNvPr id="3" name="Image 1" descr="corner_t.png">    </p:cNvPr>
          <p:cNvPicPr>
            <a:picLocks noChangeAspect="1"/>
          </p:cNvPicPr>
          <p:nvPr/>
        </p:nvPicPr>
        <p:blipFill>
          <a:blip r:embed="rId2"/>
          <a:stretch>
            <a:fillRect/>
          </a:stretch>
        </p:blipFill>
        <p:spPr>
          <a:xfrm>
            <a:off x="8138160" y="4553712"/>
            <a:ext cx="1005840" cy="726948"/>
          </a:xfrm>
          <a:prstGeom prst="rect">
            <a:avLst/>
          </a:prstGeom>
        </p:spPr>
      </p:pic>
      <p:sp>
        <p:nvSpPr>
          <p:cNvPr id="4" name="Text 0"/>
          <p:cNvSpPr txBox="1"/>
          <p:nvPr/>
        </p:nvSpPr>
        <p:spPr>
          <a:xfrm>
            <a:off x="457200" y="228600"/>
            <a:ext cx="7223760" cy="548640"/>
          </a:xfrm>
          <a:prstGeom prst="rect">
            <a:avLst/>
          </a:prstGeom>
          <a:noFill/>
          <a:ln/>
        </p:spPr>
        <p:txBody>
          <a:bodyPr wrap="square" lIns="0" tIns="0" rIns="0" bIns="0" rtlCol="0" anchor="ctr"/>
          <a:lstStyle/>
          <a:p>
            <a:pPr indent="0" marL="0">
              <a:buNone/>
            </a:pPr>
            <a:r>
              <a:rPr lang="en-US" sz="2400" b="1" dirty="0">
                <a:solidFill>
                  <a:srgbClr val="440973"/>
                </a:solidFill>
                <a:latin typeface="Arial" pitchFamily="34" charset="0"/>
                <a:ea typeface="Arial" pitchFamily="34" charset="-122"/>
                <a:cs typeface="Arial" pitchFamily="34" charset="-120"/>
              </a:rPr>
              <a:t>Investor numbers have more than doubled</a:t>
            </a:r>
            <a:endParaRPr lang="en-US" sz="2400" dirty="0"/>
          </a:p>
        </p:txBody>
      </p:sp>
      <p:sp>
        <p:nvSpPr>
          <p:cNvPr id="5" name="Text 1"/>
          <p:cNvSpPr txBox="1"/>
          <p:nvPr/>
        </p:nvSpPr>
        <p:spPr>
          <a:xfrm>
            <a:off x="457200" y="4828032"/>
            <a:ext cx="7498080" cy="228600"/>
          </a:xfrm>
          <a:prstGeom prst="rect">
            <a:avLst/>
          </a:prstGeom>
          <a:noFill/>
          <a:ln/>
        </p:spPr>
        <p:txBody>
          <a:bodyPr wrap="square" lIns="0" tIns="0" rIns="0" bIns="0" rtlCol="0" anchor="ctr"/>
          <a:lstStyle/>
          <a:p>
            <a:pPr indent="0" marL="0">
              <a:buNone/>
            </a:pPr>
            <a:r>
              <a:rPr lang="en-US" sz="750" dirty="0">
                <a:solidFill>
                  <a:srgbClr val="6B6B80"/>
                </a:solidFill>
                <a:latin typeface="Arial" pitchFamily="34" charset="0"/>
                <a:ea typeface="Arial" pitchFamily="34" charset="-122"/>
                <a:cs typeface="Arial" pitchFamily="34" charset="-120"/>
              </a:rPr>
              <a:t>Sources: Arab News (Aug 2026, citing Adviser to Finance Minister); ProPakistani (Feb and Aug 2026, citing NCCPL). FY = July to June.</a:t>
            </a:r>
            <a:endParaRPr lang="en-US" sz="750" dirty="0"/>
          </a:p>
        </p:txBody>
      </p:sp>
      <p:sp>
        <p:nvSpPr>
          <p:cNvPr id="6" name="Text 2"/>
          <p:cNvSpPr txBox="1"/>
          <p:nvPr/>
        </p:nvSpPr>
        <p:spPr>
          <a:xfrm>
            <a:off x="457200" y="868680"/>
            <a:ext cx="3840480" cy="274320"/>
          </a:xfrm>
          <a:prstGeom prst="rect">
            <a:avLst/>
          </a:prstGeom>
          <a:noFill/>
          <a:ln/>
        </p:spPr>
        <p:txBody>
          <a:bodyPr wrap="square" lIns="0" tIns="0" rIns="0" bIns="0" rtlCol="0" anchor="t"/>
          <a:lstStyle/>
          <a:p>
            <a:pPr indent="0" marL="0">
              <a:buNone/>
            </a:pPr>
            <a:r>
              <a:rPr lang="en-US" sz="1200" b="1" dirty="0">
                <a:solidFill>
                  <a:srgbClr val="0E0F3D"/>
                </a:solidFill>
                <a:latin typeface="Arial" pitchFamily="34" charset="0"/>
                <a:ea typeface="Arial" pitchFamily="34" charset="-122"/>
                <a:cs typeface="Arial" pitchFamily="34" charset="-120"/>
              </a:rPr>
              <a:t>Total PSX investor accounts</a:t>
            </a:r>
            <a:endParaRPr lang="en-US" sz="1200" dirty="0"/>
          </a:p>
        </p:txBody>
      </p:sp>
      <p:graphicFrame>
        <p:nvGraphicFramePr>
          <p:cNvPr id="7" name="Chart 0" descr=""/>
          <p:cNvGraphicFramePr/>
          <p:nvPr/>
        </p:nvGraphicFramePr>
        <p:xfrm>
          <a:off x="365760" y="1143000"/>
          <a:ext cx="3931920" cy="2651760"/>
        </p:xfrm>
        <a:graphic xmlns:a="http://schemas.openxmlformats.org/drawingml/2006/main">
          <a:graphicData uri="http://schemas.openxmlformats.org/drawingml/2006/chart">
            <c:chart xmlns:c="http://schemas.openxmlformats.org/drawingml/2006/chart" r:id="rId3"/>
          </a:graphicData>
        </a:graphic>
      </p:graphicFrame>
      <p:sp>
        <p:nvSpPr>
          <p:cNvPr id="8" name="Text 3"/>
          <p:cNvSpPr txBox="1"/>
          <p:nvPr/>
        </p:nvSpPr>
        <p:spPr>
          <a:xfrm>
            <a:off x="4572000" y="868680"/>
            <a:ext cx="3840480" cy="274320"/>
          </a:xfrm>
          <a:prstGeom prst="rect">
            <a:avLst/>
          </a:prstGeom>
          <a:noFill/>
          <a:ln/>
        </p:spPr>
        <p:txBody>
          <a:bodyPr wrap="square" lIns="0" tIns="0" rIns="0" bIns="0" rtlCol="0" anchor="t"/>
          <a:lstStyle/>
          <a:p>
            <a:pPr indent="0" marL="0">
              <a:buNone/>
            </a:pPr>
            <a:r>
              <a:rPr lang="en-US" sz="1200" b="1" dirty="0">
                <a:solidFill>
                  <a:srgbClr val="0E0F3D"/>
                </a:solidFill>
                <a:latin typeface="Arial" pitchFamily="34" charset="0"/>
                <a:ea typeface="Arial" pitchFamily="34" charset="-122"/>
                <a:cs typeface="Arial" pitchFamily="34" charset="-120"/>
              </a:rPr>
              <a:t>Average new accounts per month</a:t>
            </a:r>
            <a:endParaRPr lang="en-US" sz="1200" dirty="0"/>
          </a:p>
        </p:txBody>
      </p:sp>
      <p:graphicFrame>
        <p:nvGraphicFramePr>
          <p:cNvPr id="9" name="Chart 1" descr=""/>
          <p:cNvGraphicFramePr/>
          <p:nvPr/>
        </p:nvGraphicFramePr>
        <p:xfrm>
          <a:off x="4480560" y="1143000"/>
          <a:ext cx="3566160" cy="2651760"/>
        </p:xfrm>
        <a:graphic xmlns:a="http://schemas.openxmlformats.org/drawingml/2006/main">
          <a:graphicData uri="http://schemas.openxmlformats.org/drawingml/2006/chart">
            <c:chart xmlns:c="http://schemas.openxmlformats.org/drawingml/2006/chart" r:id="rId4"/>
          </a:graphicData>
        </a:graphic>
      </p:graphicFrame>
      <p:sp>
        <p:nvSpPr>
          <p:cNvPr id="10" name="Shape 4"/>
          <p:cNvSpPr/>
          <p:nvPr/>
        </p:nvSpPr>
        <p:spPr>
          <a:xfrm>
            <a:off x="457200" y="3931920"/>
            <a:ext cx="7498080" cy="777240"/>
          </a:xfrm>
          <a:prstGeom prst="roundRect">
            <a:avLst>
              <a:gd name="adj" fmla="val 9412"/>
            </a:avLst>
          </a:prstGeom>
          <a:solidFill>
            <a:srgbClr val="F3EEF8"/>
          </a:solidFill>
          <a:ln w="12700">
            <a:solidFill>
              <a:srgbClr val="F3EEF8"/>
            </a:solidFill>
            <a:prstDash val="solid"/>
          </a:ln>
        </p:spPr>
      </p:sp>
      <p:sp>
        <p:nvSpPr>
          <p:cNvPr id="11" name="Text 5"/>
          <p:cNvSpPr txBox="1"/>
          <p:nvPr/>
        </p:nvSpPr>
        <p:spPr>
          <a:xfrm>
            <a:off x="640080" y="4005072"/>
            <a:ext cx="7132320" cy="640080"/>
          </a:xfrm>
          <a:prstGeom prst="rect">
            <a:avLst/>
          </a:prstGeom>
          <a:noFill/>
          <a:ln/>
        </p:spPr>
        <p:txBody>
          <a:bodyPr wrap="square" lIns="0" tIns="0" rIns="0" bIns="0" rtlCol="0" anchor="ctr"/>
          <a:lstStyle/>
          <a:p>
            <a:pPr indent="0" marL="0">
              <a:buNone/>
            </a:pPr>
            <a:r>
              <a:rPr lang="en-US" sz="1050" b="1" dirty="0">
                <a:solidFill>
                  <a:srgbClr val="440973"/>
                </a:solidFill>
                <a:latin typeface="Arial" pitchFamily="34" charset="0"/>
                <a:ea typeface="Arial" pitchFamily="34" charset="-122"/>
                <a:cs typeface="Arial" pitchFamily="34" charset="-120"/>
              </a:rPr>
              <a:t>What this means: </a:t>
            </a:r>
            <a:pPr indent="0" marL="0">
              <a:buNone/>
            </a:pPr>
            <a:r>
              <a:rPr lang="en-US" sz="1050" dirty="0">
                <a:solidFill>
                  <a:srgbClr val="2B2B3A"/>
                </a:solidFill>
                <a:latin typeface="Arial" pitchFamily="34" charset="0"/>
                <a:ea typeface="Arial" pitchFamily="34" charset="-122"/>
                <a:cs typeface="Arial" pitchFamily="34" charset="-120"/>
              </a:rPr>
              <a:t>demand is already here. Around 290,000 people are likely to open a PSX account in the next 12 months. Still, fewer than 0.2% of Pakistanis invest, against 6% in India, so the headroom is very large. The question is which broker they choose.</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logo_light.png">    </p:cNvPr>
          <p:cNvPicPr>
            <a:picLocks noChangeAspect="1"/>
          </p:cNvPicPr>
          <p:nvPr/>
        </p:nvPicPr>
        <p:blipFill>
          <a:blip r:embed="rId1"/>
          <a:stretch>
            <a:fillRect/>
          </a:stretch>
        </p:blipFill>
        <p:spPr>
          <a:xfrm>
            <a:off x="7882128" y="164592"/>
            <a:ext cx="896112" cy="475488"/>
          </a:xfrm>
          <a:prstGeom prst="rect">
            <a:avLst/>
          </a:prstGeom>
        </p:spPr>
      </p:pic>
      <p:pic>
        <p:nvPicPr>
          <p:cNvPr id="3" name="Image 1" descr="corner_t.png">    </p:cNvPr>
          <p:cNvPicPr>
            <a:picLocks noChangeAspect="1"/>
          </p:cNvPicPr>
          <p:nvPr/>
        </p:nvPicPr>
        <p:blipFill>
          <a:blip r:embed="rId2"/>
          <a:stretch>
            <a:fillRect/>
          </a:stretch>
        </p:blipFill>
        <p:spPr>
          <a:xfrm>
            <a:off x="8138160" y="4553712"/>
            <a:ext cx="1005840" cy="726948"/>
          </a:xfrm>
          <a:prstGeom prst="rect">
            <a:avLst/>
          </a:prstGeom>
        </p:spPr>
      </p:pic>
      <p:sp>
        <p:nvSpPr>
          <p:cNvPr id="4" name="Text 0"/>
          <p:cNvSpPr txBox="1"/>
          <p:nvPr/>
        </p:nvSpPr>
        <p:spPr>
          <a:xfrm>
            <a:off x="457200" y="228600"/>
            <a:ext cx="7223760" cy="548640"/>
          </a:xfrm>
          <a:prstGeom prst="rect">
            <a:avLst/>
          </a:prstGeom>
          <a:noFill/>
          <a:ln/>
        </p:spPr>
        <p:txBody>
          <a:bodyPr wrap="square" lIns="0" tIns="0" rIns="0" bIns="0" rtlCol="0" anchor="ctr"/>
          <a:lstStyle/>
          <a:p>
            <a:pPr indent="0" marL="0">
              <a:buNone/>
            </a:pPr>
            <a:r>
              <a:rPr lang="en-US" sz="2400" b="1" dirty="0">
                <a:solidFill>
                  <a:srgbClr val="440973"/>
                </a:solidFill>
                <a:latin typeface="Arial" pitchFamily="34" charset="0"/>
                <a:ea typeface="Arial" pitchFamily="34" charset="-122"/>
                <a:cs typeface="Arial" pitchFamily="34" charset="-120"/>
              </a:rPr>
              <a:t>Who is investing, and what they want to know</a:t>
            </a:r>
            <a:endParaRPr lang="en-US" sz="2400" dirty="0"/>
          </a:p>
        </p:txBody>
      </p:sp>
      <p:sp>
        <p:nvSpPr>
          <p:cNvPr id="5" name="Text 1"/>
          <p:cNvSpPr txBox="1"/>
          <p:nvPr/>
        </p:nvSpPr>
        <p:spPr>
          <a:xfrm>
            <a:off x="457200" y="4828032"/>
            <a:ext cx="7498080" cy="228600"/>
          </a:xfrm>
          <a:prstGeom prst="rect">
            <a:avLst/>
          </a:prstGeom>
          <a:noFill/>
          <a:ln/>
        </p:spPr>
        <p:txBody>
          <a:bodyPr wrap="square" lIns="0" tIns="0" rIns="0" bIns="0" rtlCol="0" anchor="ctr"/>
          <a:lstStyle/>
          <a:p>
            <a:pPr indent="0" marL="0">
              <a:buNone/>
            </a:pPr>
            <a:r>
              <a:rPr lang="en-US" sz="750" dirty="0">
                <a:solidFill>
                  <a:srgbClr val="6B6B80"/>
                </a:solidFill>
                <a:latin typeface="Arial" pitchFamily="34" charset="0"/>
                <a:ea typeface="Arial" pitchFamily="34" charset="-122"/>
                <a:cs typeface="Arial" pitchFamily="34" charset="-120"/>
              </a:rPr>
              <a:t>Sources: NCCPL data via ProPakistani (Aug 2026, July new accounts); Arab News (2026). Questions: Hummingbird review of beginner guides, app reviews and SECP scam warnings; to be validated with search data in month 1.</a:t>
            </a:r>
            <a:endParaRPr lang="en-US" sz="750" dirty="0"/>
          </a:p>
        </p:txBody>
      </p:sp>
      <p:sp>
        <p:nvSpPr>
          <p:cNvPr id="6" name="Text 2"/>
          <p:cNvSpPr txBox="1"/>
          <p:nvPr/>
        </p:nvSpPr>
        <p:spPr>
          <a:xfrm>
            <a:off x="457200" y="868680"/>
            <a:ext cx="3657600" cy="274320"/>
          </a:xfrm>
          <a:prstGeom prst="rect">
            <a:avLst/>
          </a:prstGeom>
          <a:noFill/>
          <a:ln/>
        </p:spPr>
        <p:txBody>
          <a:bodyPr wrap="square" lIns="0" tIns="0" rIns="0" bIns="0" rtlCol="0" anchor="t"/>
          <a:lstStyle/>
          <a:p>
            <a:pPr indent="0" marL="0">
              <a:buNone/>
            </a:pPr>
            <a:r>
              <a:rPr lang="en-US" sz="1200" b="1" dirty="0">
                <a:solidFill>
                  <a:srgbClr val="0E0F3D"/>
                </a:solidFill>
                <a:latin typeface="Arial" pitchFamily="34" charset="0"/>
                <a:ea typeface="Arial" pitchFamily="34" charset="-122"/>
                <a:cs typeface="Arial" pitchFamily="34" charset="-120"/>
              </a:rPr>
              <a:t>New investors, July 2026</a:t>
            </a:r>
            <a:endParaRPr lang="en-US" sz="1200" dirty="0"/>
          </a:p>
        </p:txBody>
      </p:sp>
      <p:sp>
        <p:nvSpPr>
          <p:cNvPr id="7" name="Shape 3"/>
          <p:cNvSpPr/>
          <p:nvPr/>
        </p:nvSpPr>
        <p:spPr>
          <a:xfrm>
            <a:off x="457200" y="1188720"/>
            <a:ext cx="3657600" cy="731520"/>
          </a:xfrm>
          <a:prstGeom prst="roundRect">
            <a:avLst>
              <a:gd name="adj" fmla="val 10000"/>
            </a:avLst>
          </a:prstGeom>
          <a:solidFill>
            <a:srgbClr val="F3EEF8"/>
          </a:solidFill>
          <a:ln w="12700">
            <a:solidFill>
              <a:srgbClr val="F3EEF8"/>
            </a:solidFill>
            <a:prstDash val="solid"/>
          </a:ln>
        </p:spPr>
      </p:sp>
      <p:sp>
        <p:nvSpPr>
          <p:cNvPr id="8" name="Text 4"/>
          <p:cNvSpPr txBox="1"/>
          <p:nvPr/>
        </p:nvSpPr>
        <p:spPr>
          <a:xfrm>
            <a:off x="594360" y="1188720"/>
            <a:ext cx="1143000" cy="731520"/>
          </a:xfrm>
          <a:prstGeom prst="rect">
            <a:avLst/>
          </a:prstGeom>
          <a:noFill/>
          <a:ln/>
        </p:spPr>
        <p:txBody>
          <a:bodyPr wrap="square" lIns="0" tIns="0" rIns="0" bIns="0" rtlCol="0" anchor="ctr"/>
          <a:lstStyle/>
          <a:p>
            <a:pPr indent="0" marL="0">
              <a:buNone/>
            </a:pPr>
            <a:r>
              <a:rPr lang="en-US" sz="1700" b="1" dirty="0">
                <a:solidFill>
                  <a:srgbClr val="440973"/>
                </a:solidFill>
                <a:latin typeface="Arial" pitchFamily="34" charset="0"/>
                <a:ea typeface="Arial" pitchFamily="34" charset="-122"/>
                <a:cs typeface="Arial" pitchFamily="34" charset="-120"/>
              </a:rPr>
              <a:t>41%+</a:t>
            </a:r>
            <a:endParaRPr lang="en-US" sz="1700" dirty="0"/>
          </a:p>
        </p:txBody>
      </p:sp>
      <p:sp>
        <p:nvSpPr>
          <p:cNvPr id="9" name="Text 5"/>
          <p:cNvSpPr txBox="1"/>
          <p:nvPr/>
        </p:nvSpPr>
        <p:spPr>
          <a:xfrm>
            <a:off x="1783080" y="1188720"/>
            <a:ext cx="2240280" cy="731520"/>
          </a:xfrm>
          <a:prstGeom prst="rect">
            <a:avLst/>
          </a:prstGeom>
          <a:noFill/>
          <a:ln/>
        </p:spPr>
        <p:txBody>
          <a:bodyPr wrap="square" lIns="0" tIns="0" rIns="0" bIns="0" rtlCol="0" anchor="ctr"/>
          <a:lstStyle/>
          <a:p>
            <a:pPr indent="0" marL="0">
              <a:buNone/>
            </a:pPr>
            <a:r>
              <a:rPr lang="en-US" sz="1000" dirty="0">
                <a:solidFill>
                  <a:srgbClr val="2B2B3A"/>
                </a:solidFill>
                <a:latin typeface="Arial" pitchFamily="34" charset="0"/>
                <a:ea typeface="Arial" pitchFamily="34" charset="-122"/>
                <a:cs typeface="Arial" pitchFamily="34" charset="-120"/>
              </a:rPr>
              <a:t>are aged 18 to 30, the largest group; 31 to 45 is second</a:t>
            </a:r>
            <a:endParaRPr lang="en-US" sz="1000" dirty="0"/>
          </a:p>
        </p:txBody>
      </p:sp>
      <p:sp>
        <p:nvSpPr>
          <p:cNvPr id="10" name="Shape 6"/>
          <p:cNvSpPr/>
          <p:nvPr/>
        </p:nvSpPr>
        <p:spPr>
          <a:xfrm>
            <a:off x="457200" y="2039112"/>
            <a:ext cx="3657600" cy="731520"/>
          </a:xfrm>
          <a:prstGeom prst="roundRect">
            <a:avLst>
              <a:gd name="adj" fmla="val 10000"/>
            </a:avLst>
          </a:prstGeom>
          <a:solidFill>
            <a:srgbClr val="F3EEF8"/>
          </a:solidFill>
          <a:ln w="12700">
            <a:solidFill>
              <a:srgbClr val="F3EEF8"/>
            </a:solidFill>
            <a:prstDash val="solid"/>
          </a:ln>
        </p:spPr>
      </p:sp>
      <p:sp>
        <p:nvSpPr>
          <p:cNvPr id="11" name="Text 7"/>
          <p:cNvSpPr txBox="1"/>
          <p:nvPr/>
        </p:nvSpPr>
        <p:spPr>
          <a:xfrm>
            <a:off x="594360" y="2039112"/>
            <a:ext cx="1143000" cy="731520"/>
          </a:xfrm>
          <a:prstGeom prst="rect">
            <a:avLst/>
          </a:prstGeom>
          <a:noFill/>
          <a:ln/>
        </p:spPr>
        <p:txBody>
          <a:bodyPr wrap="square" lIns="0" tIns="0" rIns="0" bIns="0" rtlCol="0" anchor="ctr"/>
          <a:lstStyle/>
          <a:p>
            <a:pPr indent="0" marL="0">
              <a:buNone/>
            </a:pPr>
            <a:r>
              <a:rPr lang="en-US" sz="1700" b="1" dirty="0">
                <a:solidFill>
                  <a:srgbClr val="440973"/>
                </a:solidFill>
                <a:latin typeface="Arial" pitchFamily="34" charset="0"/>
                <a:ea typeface="Arial" pitchFamily="34" charset="-122"/>
                <a:cs typeface="Arial" pitchFamily="34" charset="-120"/>
              </a:rPr>
              <a:t>84%</a:t>
            </a:r>
            <a:endParaRPr lang="en-US" sz="1700" dirty="0"/>
          </a:p>
        </p:txBody>
      </p:sp>
      <p:sp>
        <p:nvSpPr>
          <p:cNvPr id="12" name="Text 8"/>
          <p:cNvSpPr txBox="1"/>
          <p:nvPr/>
        </p:nvSpPr>
        <p:spPr>
          <a:xfrm>
            <a:off x="1783080" y="2039112"/>
            <a:ext cx="2240280" cy="731520"/>
          </a:xfrm>
          <a:prstGeom prst="rect">
            <a:avLst/>
          </a:prstGeom>
          <a:noFill/>
          <a:ln/>
        </p:spPr>
        <p:txBody>
          <a:bodyPr wrap="square" lIns="0" tIns="0" rIns="0" bIns="0" rtlCol="0" anchor="ctr"/>
          <a:lstStyle/>
          <a:p>
            <a:pPr indent="0" marL="0">
              <a:buNone/>
            </a:pPr>
            <a:r>
              <a:rPr lang="en-US" sz="1000" dirty="0">
                <a:solidFill>
                  <a:srgbClr val="2B2B3A"/>
                </a:solidFill>
                <a:latin typeface="Arial" pitchFamily="34" charset="0"/>
                <a:ea typeface="Arial" pitchFamily="34" charset="-122"/>
                <a:cs typeface="Arial" pitchFamily="34" charset="-120"/>
              </a:rPr>
              <a:t>male and 16% female: women are an untapped segment</a:t>
            </a:r>
            <a:endParaRPr lang="en-US" sz="1000" dirty="0"/>
          </a:p>
        </p:txBody>
      </p:sp>
      <p:sp>
        <p:nvSpPr>
          <p:cNvPr id="13" name="Shape 9"/>
          <p:cNvSpPr/>
          <p:nvPr/>
        </p:nvSpPr>
        <p:spPr>
          <a:xfrm>
            <a:off x="457200" y="2889504"/>
            <a:ext cx="3657600" cy="731520"/>
          </a:xfrm>
          <a:prstGeom prst="roundRect">
            <a:avLst>
              <a:gd name="adj" fmla="val 10000"/>
            </a:avLst>
          </a:prstGeom>
          <a:solidFill>
            <a:srgbClr val="F3EEF8"/>
          </a:solidFill>
          <a:ln w="12700">
            <a:solidFill>
              <a:srgbClr val="F3EEF8"/>
            </a:solidFill>
            <a:prstDash val="solid"/>
          </a:ln>
        </p:spPr>
      </p:sp>
      <p:sp>
        <p:nvSpPr>
          <p:cNvPr id="14" name="Text 10"/>
          <p:cNvSpPr txBox="1"/>
          <p:nvPr/>
        </p:nvSpPr>
        <p:spPr>
          <a:xfrm>
            <a:off x="594360" y="2889504"/>
            <a:ext cx="1143000" cy="731520"/>
          </a:xfrm>
          <a:prstGeom prst="rect">
            <a:avLst/>
          </a:prstGeom>
          <a:noFill/>
          <a:ln/>
        </p:spPr>
        <p:txBody>
          <a:bodyPr wrap="square" lIns="0" tIns="0" rIns="0" bIns="0" rtlCol="0" anchor="ctr"/>
          <a:lstStyle/>
          <a:p>
            <a:pPr indent="0" marL="0">
              <a:buNone/>
            </a:pPr>
            <a:r>
              <a:rPr lang="en-US" sz="1700" b="1" dirty="0">
                <a:solidFill>
                  <a:srgbClr val="440973"/>
                </a:solidFill>
                <a:latin typeface="Arial" pitchFamily="34" charset="0"/>
                <a:ea typeface="Arial" pitchFamily="34" charset="-122"/>
                <a:cs typeface="Arial" pitchFamily="34" charset="-120"/>
              </a:rPr>
              <a:t>51% / 32%</a:t>
            </a:r>
            <a:endParaRPr lang="en-US" sz="1700" dirty="0"/>
          </a:p>
        </p:txBody>
      </p:sp>
      <p:sp>
        <p:nvSpPr>
          <p:cNvPr id="15" name="Text 11"/>
          <p:cNvSpPr txBox="1"/>
          <p:nvPr/>
        </p:nvSpPr>
        <p:spPr>
          <a:xfrm>
            <a:off x="1783080" y="2889504"/>
            <a:ext cx="2240280" cy="731520"/>
          </a:xfrm>
          <a:prstGeom prst="rect">
            <a:avLst/>
          </a:prstGeom>
          <a:noFill/>
          <a:ln/>
        </p:spPr>
        <p:txBody>
          <a:bodyPr wrap="square" lIns="0" tIns="0" rIns="0" bIns="0" rtlCol="0" anchor="ctr"/>
          <a:lstStyle/>
          <a:p>
            <a:pPr indent="0" marL="0">
              <a:buNone/>
            </a:pPr>
            <a:r>
              <a:rPr lang="en-US" sz="1000" dirty="0">
                <a:solidFill>
                  <a:srgbClr val="2B2B3A"/>
                </a:solidFill>
                <a:latin typeface="Arial" pitchFamily="34" charset="0"/>
                <a:ea typeface="Arial" pitchFamily="34" charset="-122"/>
                <a:cs typeface="Arial" pitchFamily="34" charset="-120"/>
              </a:rPr>
              <a:t>come from Punjab and Sindh respectively</a:t>
            </a:r>
            <a:endParaRPr lang="en-US" sz="1000" dirty="0"/>
          </a:p>
        </p:txBody>
      </p:sp>
      <p:sp>
        <p:nvSpPr>
          <p:cNvPr id="16" name="Shape 12"/>
          <p:cNvSpPr/>
          <p:nvPr/>
        </p:nvSpPr>
        <p:spPr>
          <a:xfrm>
            <a:off x="457200" y="3739896"/>
            <a:ext cx="3657600" cy="731520"/>
          </a:xfrm>
          <a:prstGeom prst="roundRect">
            <a:avLst>
              <a:gd name="adj" fmla="val 10000"/>
            </a:avLst>
          </a:prstGeom>
          <a:solidFill>
            <a:srgbClr val="F3EEF8"/>
          </a:solidFill>
          <a:ln w="12700">
            <a:solidFill>
              <a:srgbClr val="F3EEF8"/>
            </a:solidFill>
            <a:prstDash val="solid"/>
          </a:ln>
        </p:spPr>
      </p:sp>
      <p:sp>
        <p:nvSpPr>
          <p:cNvPr id="17" name="Text 13"/>
          <p:cNvSpPr txBox="1"/>
          <p:nvPr/>
        </p:nvSpPr>
        <p:spPr>
          <a:xfrm>
            <a:off x="594360" y="3739896"/>
            <a:ext cx="1143000" cy="731520"/>
          </a:xfrm>
          <a:prstGeom prst="rect">
            <a:avLst/>
          </a:prstGeom>
          <a:noFill/>
          <a:ln/>
        </p:spPr>
        <p:txBody>
          <a:bodyPr wrap="square" lIns="0" tIns="0" rIns="0" bIns="0" rtlCol="0" anchor="ctr"/>
          <a:lstStyle/>
          <a:p>
            <a:pPr indent="0" marL="0">
              <a:buNone/>
            </a:pPr>
            <a:r>
              <a:rPr lang="en-US" sz="1700" b="1" dirty="0">
                <a:solidFill>
                  <a:srgbClr val="440973"/>
                </a:solidFill>
                <a:latin typeface="Arial" pitchFamily="34" charset="0"/>
                <a:ea typeface="Arial" pitchFamily="34" charset="-122"/>
                <a:cs typeface="Arial" pitchFamily="34" charset="-120"/>
              </a:rPr>
              <a:t>59%</a:t>
            </a:r>
            <a:endParaRPr lang="en-US" sz="1700" dirty="0"/>
          </a:p>
        </p:txBody>
      </p:sp>
      <p:sp>
        <p:nvSpPr>
          <p:cNvPr id="18" name="Text 14"/>
          <p:cNvSpPr txBox="1"/>
          <p:nvPr/>
        </p:nvSpPr>
        <p:spPr>
          <a:xfrm>
            <a:off x="1783080" y="3739896"/>
            <a:ext cx="2240280" cy="731520"/>
          </a:xfrm>
          <a:prstGeom prst="rect">
            <a:avLst/>
          </a:prstGeom>
          <a:noFill/>
          <a:ln/>
        </p:spPr>
        <p:txBody>
          <a:bodyPr wrap="square" lIns="0" tIns="0" rIns="0" bIns="0" rtlCol="0" anchor="ctr"/>
          <a:lstStyle/>
          <a:p>
            <a:pPr indent="0" marL="0">
              <a:buNone/>
            </a:pPr>
            <a:r>
              <a:rPr lang="en-US" sz="1000" dirty="0">
                <a:solidFill>
                  <a:srgbClr val="2B2B3A"/>
                </a:solidFill>
                <a:latin typeface="Arial" pitchFamily="34" charset="0"/>
                <a:ea typeface="Arial" pitchFamily="34" charset="-122"/>
                <a:cs typeface="Arial" pitchFamily="34" charset="-120"/>
              </a:rPr>
              <a:t>open simple Sahulat accounts: small, first-time investors</a:t>
            </a:r>
            <a:endParaRPr lang="en-US" sz="1000" dirty="0"/>
          </a:p>
        </p:txBody>
      </p:sp>
      <p:sp>
        <p:nvSpPr>
          <p:cNvPr id="19" name="Text 15"/>
          <p:cNvSpPr txBox="1"/>
          <p:nvPr/>
        </p:nvSpPr>
        <p:spPr>
          <a:xfrm>
            <a:off x="4434840" y="868680"/>
            <a:ext cx="3474720" cy="274320"/>
          </a:xfrm>
          <a:prstGeom prst="rect">
            <a:avLst/>
          </a:prstGeom>
          <a:noFill/>
          <a:ln/>
        </p:spPr>
        <p:txBody>
          <a:bodyPr wrap="square" lIns="0" tIns="0" rIns="0" bIns="0" rtlCol="0" anchor="t"/>
          <a:lstStyle/>
          <a:p>
            <a:pPr indent="0" marL="0">
              <a:buNone/>
            </a:pPr>
            <a:r>
              <a:rPr lang="en-US" sz="1200" b="1" dirty="0">
                <a:solidFill>
                  <a:srgbClr val="0E0F3D"/>
                </a:solidFill>
                <a:latin typeface="Arial" pitchFamily="34" charset="0"/>
                <a:ea typeface="Arial" pitchFamily="34" charset="-122"/>
                <a:cs typeface="Arial" pitchFamily="34" charset="-120"/>
              </a:rPr>
              <a:t>Their top three questions</a:t>
            </a:r>
            <a:endParaRPr lang="en-US" sz="1200" dirty="0"/>
          </a:p>
        </p:txBody>
      </p:sp>
      <p:sp>
        <p:nvSpPr>
          <p:cNvPr id="20" name="Shape 16"/>
          <p:cNvSpPr/>
          <p:nvPr/>
        </p:nvSpPr>
        <p:spPr>
          <a:xfrm>
            <a:off x="4434840" y="1234440"/>
            <a:ext cx="502920" cy="502920"/>
          </a:xfrm>
          <a:prstGeom prst="ellipse">
            <a:avLst/>
          </a:prstGeom>
          <a:solidFill>
            <a:srgbClr val="440973"/>
          </a:solidFill>
          <a:ln w="12700">
            <a:solidFill>
              <a:srgbClr val="440973"/>
            </a:solidFill>
            <a:prstDash val="solid"/>
          </a:ln>
        </p:spPr>
      </p:sp>
      <p:pic>
        <p:nvPicPr>
          <p:cNvPr id="21" name="Image 2" descr="preencoded.png">    </p:cNvPr>
          <p:cNvPicPr>
            <a:picLocks noChangeAspect="1"/>
          </p:cNvPicPr>
          <p:nvPr/>
        </p:nvPicPr>
        <p:blipFill>
          <a:blip r:embed="rId3"/>
          <a:stretch>
            <a:fillRect/>
          </a:stretch>
        </p:blipFill>
        <p:spPr>
          <a:xfrm>
            <a:off x="4565599" y="1365199"/>
            <a:ext cx="241402" cy="241402"/>
          </a:xfrm>
          <a:prstGeom prst="rect">
            <a:avLst/>
          </a:prstGeom>
        </p:spPr>
      </p:pic>
      <p:sp>
        <p:nvSpPr>
          <p:cNvPr id="22" name="Text 17"/>
          <p:cNvSpPr txBox="1"/>
          <p:nvPr/>
        </p:nvSpPr>
        <p:spPr>
          <a:xfrm>
            <a:off x="5074920" y="1188720"/>
            <a:ext cx="2926080" cy="365760"/>
          </a:xfrm>
          <a:prstGeom prst="rect">
            <a:avLst/>
          </a:prstGeom>
          <a:noFill/>
          <a:ln/>
        </p:spPr>
        <p:txBody>
          <a:bodyPr wrap="square" lIns="0" tIns="0" rIns="0" bIns="0" rtlCol="0" anchor="t"/>
          <a:lstStyle/>
          <a:p>
            <a:pPr indent="0" marL="0">
              <a:buNone/>
            </a:pPr>
            <a:r>
              <a:rPr lang="en-US" sz="1150" b="1" dirty="0">
                <a:solidFill>
                  <a:srgbClr val="0E0F3D"/>
                </a:solidFill>
                <a:latin typeface="Arial" pitchFamily="34" charset="0"/>
                <a:ea typeface="Arial" pitchFamily="34" charset="-122"/>
                <a:cs typeface="Arial" pitchFamily="34" charset="-120"/>
              </a:rPr>
              <a:t>How do I start, and how much do I need?</a:t>
            </a:r>
            <a:endParaRPr lang="en-US" sz="1150" dirty="0"/>
          </a:p>
        </p:txBody>
      </p:sp>
      <p:sp>
        <p:nvSpPr>
          <p:cNvPr id="23" name="Text 18"/>
          <p:cNvSpPr txBox="1"/>
          <p:nvPr/>
        </p:nvSpPr>
        <p:spPr>
          <a:xfrm>
            <a:off x="5074920" y="1554480"/>
            <a:ext cx="2926080" cy="594360"/>
          </a:xfrm>
          <a:prstGeom prst="rect">
            <a:avLst/>
          </a:prstGeom>
          <a:noFill/>
          <a:ln/>
        </p:spPr>
        <p:txBody>
          <a:bodyPr wrap="square" lIns="0" tIns="0" rIns="0" bIns="0" rtlCol="0" anchor="t"/>
          <a:lstStyle/>
          <a:p>
            <a:pPr indent="0" marL="0">
              <a:buNone/>
            </a:pPr>
            <a:r>
              <a:rPr lang="en-US" sz="1000" dirty="0">
                <a:solidFill>
                  <a:srgbClr val="2B2B3A"/>
                </a:solidFill>
                <a:latin typeface="Arial" pitchFamily="34" charset="0"/>
                <a:ea typeface="Arial" pitchFamily="34" charset="-122"/>
                <a:cs typeface="Arial" pitchFamily="34" charset="-120"/>
              </a:rPr>
              <a:t>Answer: open in minutes with a small first amount, and a person to guide you.</a:t>
            </a:r>
            <a:endParaRPr lang="en-US" sz="1000" dirty="0"/>
          </a:p>
        </p:txBody>
      </p:sp>
      <p:sp>
        <p:nvSpPr>
          <p:cNvPr id="24" name="Shape 19"/>
          <p:cNvSpPr/>
          <p:nvPr/>
        </p:nvSpPr>
        <p:spPr>
          <a:xfrm>
            <a:off x="4434840" y="2368296"/>
            <a:ext cx="502920" cy="502920"/>
          </a:xfrm>
          <a:prstGeom prst="ellipse">
            <a:avLst/>
          </a:prstGeom>
          <a:solidFill>
            <a:srgbClr val="440973"/>
          </a:solidFill>
          <a:ln w="12700">
            <a:solidFill>
              <a:srgbClr val="440973"/>
            </a:solidFill>
            <a:prstDash val="solid"/>
          </a:ln>
        </p:spPr>
      </p:sp>
      <p:pic>
        <p:nvPicPr>
          <p:cNvPr id="25" name="Image 3" descr="preencoded.png">    </p:cNvPr>
          <p:cNvPicPr>
            <a:picLocks noChangeAspect="1"/>
          </p:cNvPicPr>
          <p:nvPr/>
        </p:nvPicPr>
        <p:blipFill>
          <a:blip r:embed="rId4"/>
          <a:stretch>
            <a:fillRect/>
          </a:stretch>
        </p:blipFill>
        <p:spPr>
          <a:xfrm>
            <a:off x="4565599" y="2499055"/>
            <a:ext cx="241402" cy="241402"/>
          </a:xfrm>
          <a:prstGeom prst="rect">
            <a:avLst/>
          </a:prstGeom>
        </p:spPr>
      </p:pic>
      <p:sp>
        <p:nvSpPr>
          <p:cNvPr id="26" name="Text 20"/>
          <p:cNvSpPr txBox="1"/>
          <p:nvPr/>
        </p:nvSpPr>
        <p:spPr>
          <a:xfrm>
            <a:off x="5074920" y="2322576"/>
            <a:ext cx="2926080" cy="365760"/>
          </a:xfrm>
          <a:prstGeom prst="rect">
            <a:avLst/>
          </a:prstGeom>
          <a:noFill/>
          <a:ln/>
        </p:spPr>
        <p:txBody>
          <a:bodyPr wrap="square" lIns="0" tIns="0" rIns="0" bIns="0" rtlCol="0" anchor="t"/>
          <a:lstStyle/>
          <a:p>
            <a:pPr indent="0" marL="0">
              <a:buNone/>
            </a:pPr>
            <a:r>
              <a:rPr lang="en-US" sz="1150" b="1" dirty="0">
                <a:solidFill>
                  <a:srgbClr val="0E0F3D"/>
                </a:solidFill>
                <a:latin typeface="Arial" pitchFamily="34" charset="0"/>
                <a:ea typeface="Arial" pitchFamily="34" charset="-122"/>
                <a:cs typeface="Arial" pitchFamily="34" charset="-120"/>
              </a:rPr>
              <a:t>Is it halal?</a:t>
            </a:r>
            <a:endParaRPr lang="en-US" sz="1150" dirty="0"/>
          </a:p>
        </p:txBody>
      </p:sp>
      <p:sp>
        <p:nvSpPr>
          <p:cNvPr id="27" name="Text 21"/>
          <p:cNvSpPr txBox="1"/>
          <p:nvPr/>
        </p:nvSpPr>
        <p:spPr>
          <a:xfrm>
            <a:off x="5074920" y="2688336"/>
            <a:ext cx="2926080" cy="594360"/>
          </a:xfrm>
          <a:prstGeom prst="rect">
            <a:avLst/>
          </a:prstGeom>
          <a:noFill/>
          <a:ln/>
        </p:spPr>
        <p:txBody>
          <a:bodyPr wrap="square" lIns="0" tIns="0" rIns="0" bIns="0" rtlCol="0" anchor="t"/>
          <a:lstStyle/>
          <a:p>
            <a:pPr indent="0" marL="0">
              <a:buNone/>
            </a:pPr>
            <a:r>
              <a:rPr lang="en-US" sz="1000" dirty="0">
                <a:solidFill>
                  <a:srgbClr val="2B2B3A"/>
                </a:solidFill>
                <a:latin typeface="Arial" pitchFamily="34" charset="0"/>
                <a:ea typeface="Arial" pitchFamily="34" charset="-122"/>
                <a:cs typeface="Arial" pitchFamily="34" charset="-120"/>
              </a:rPr>
              <a:t>Answer: Shariah-compliant stocks are available; show how to find them.</a:t>
            </a:r>
            <a:endParaRPr lang="en-US" sz="1000" dirty="0"/>
          </a:p>
        </p:txBody>
      </p:sp>
      <p:sp>
        <p:nvSpPr>
          <p:cNvPr id="28" name="Shape 22"/>
          <p:cNvSpPr/>
          <p:nvPr/>
        </p:nvSpPr>
        <p:spPr>
          <a:xfrm>
            <a:off x="4434840" y="3502152"/>
            <a:ext cx="502920" cy="502920"/>
          </a:xfrm>
          <a:prstGeom prst="ellipse">
            <a:avLst/>
          </a:prstGeom>
          <a:solidFill>
            <a:srgbClr val="4F7A00"/>
          </a:solidFill>
          <a:ln w="12700">
            <a:solidFill>
              <a:srgbClr val="4F7A00"/>
            </a:solidFill>
            <a:prstDash val="solid"/>
          </a:ln>
        </p:spPr>
      </p:sp>
      <p:pic>
        <p:nvPicPr>
          <p:cNvPr id="29" name="Image 4" descr="preencoded.png">    </p:cNvPr>
          <p:cNvPicPr>
            <a:picLocks noChangeAspect="1"/>
          </p:cNvPicPr>
          <p:nvPr/>
        </p:nvPicPr>
        <p:blipFill>
          <a:blip r:embed="rId5"/>
          <a:stretch>
            <a:fillRect/>
          </a:stretch>
        </p:blipFill>
        <p:spPr>
          <a:xfrm>
            <a:off x="4565599" y="3632911"/>
            <a:ext cx="241402" cy="241402"/>
          </a:xfrm>
          <a:prstGeom prst="rect">
            <a:avLst/>
          </a:prstGeom>
        </p:spPr>
      </p:pic>
      <p:sp>
        <p:nvSpPr>
          <p:cNvPr id="30" name="Text 23"/>
          <p:cNvSpPr txBox="1"/>
          <p:nvPr/>
        </p:nvSpPr>
        <p:spPr>
          <a:xfrm>
            <a:off x="5074920" y="3456432"/>
            <a:ext cx="2926080" cy="365760"/>
          </a:xfrm>
          <a:prstGeom prst="rect">
            <a:avLst/>
          </a:prstGeom>
          <a:noFill/>
          <a:ln/>
        </p:spPr>
        <p:txBody>
          <a:bodyPr wrap="square" lIns="0" tIns="0" rIns="0" bIns="0" rtlCol="0" anchor="t"/>
          <a:lstStyle/>
          <a:p>
            <a:pPr indent="0" marL="0">
              <a:buNone/>
            </a:pPr>
            <a:r>
              <a:rPr lang="en-US" sz="1150" b="1" dirty="0">
                <a:solidFill>
                  <a:srgbClr val="0E0F3D"/>
                </a:solidFill>
                <a:latin typeface="Arial" pitchFamily="34" charset="0"/>
                <a:ea typeface="Arial" pitchFamily="34" charset="-122"/>
                <a:cs typeface="Arial" pitchFamily="34" charset="-120"/>
              </a:rPr>
              <a:t>Is it safe, and who can I trust?</a:t>
            </a:r>
            <a:endParaRPr lang="en-US" sz="1150" dirty="0"/>
          </a:p>
        </p:txBody>
      </p:sp>
      <p:sp>
        <p:nvSpPr>
          <p:cNvPr id="31" name="Text 24"/>
          <p:cNvSpPr txBox="1"/>
          <p:nvPr/>
        </p:nvSpPr>
        <p:spPr>
          <a:xfrm>
            <a:off x="5074920" y="3822192"/>
            <a:ext cx="2926080" cy="594360"/>
          </a:xfrm>
          <a:prstGeom prst="rect">
            <a:avLst/>
          </a:prstGeom>
          <a:noFill/>
          <a:ln/>
        </p:spPr>
        <p:txBody>
          <a:bodyPr wrap="square" lIns="0" tIns="0" rIns="0" bIns="0" rtlCol="0" anchor="t"/>
          <a:lstStyle/>
          <a:p>
            <a:pPr indent="0" marL="0">
              <a:buNone/>
            </a:pPr>
            <a:r>
              <a:rPr lang="en-US" sz="1000" dirty="0">
                <a:solidFill>
                  <a:srgbClr val="2B2B3A"/>
                </a:solidFill>
                <a:latin typeface="Arial" pitchFamily="34" charset="0"/>
                <a:ea typeface="Arial" pitchFamily="34" charset="-122"/>
                <a:cs typeface="Arial" pitchFamily="34" charset="-120"/>
              </a:rPr>
              <a:t>Answer: a Bank AL Habib subsidiary, regulated, licensed since 2006.</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logo_light.png">    </p:cNvPr>
          <p:cNvPicPr>
            <a:picLocks noChangeAspect="1"/>
          </p:cNvPicPr>
          <p:nvPr/>
        </p:nvPicPr>
        <p:blipFill>
          <a:blip r:embed="rId1"/>
          <a:stretch>
            <a:fillRect/>
          </a:stretch>
        </p:blipFill>
        <p:spPr>
          <a:xfrm>
            <a:off x="7882128" y="164592"/>
            <a:ext cx="896112" cy="475488"/>
          </a:xfrm>
          <a:prstGeom prst="rect">
            <a:avLst/>
          </a:prstGeom>
        </p:spPr>
      </p:pic>
      <p:pic>
        <p:nvPicPr>
          <p:cNvPr id="3" name="Image 1" descr="corner_t.png">    </p:cNvPr>
          <p:cNvPicPr>
            <a:picLocks noChangeAspect="1"/>
          </p:cNvPicPr>
          <p:nvPr/>
        </p:nvPicPr>
        <p:blipFill>
          <a:blip r:embed="rId2"/>
          <a:stretch>
            <a:fillRect/>
          </a:stretch>
        </p:blipFill>
        <p:spPr>
          <a:xfrm>
            <a:off x="8138160" y="4553712"/>
            <a:ext cx="1005840" cy="726948"/>
          </a:xfrm>
          <a:prstGeom prst="rect">
            <a:avLst/>
          </a:prstGeom>
        </p:spPr>
      </p:pic>
      <p:sp>
        <p:nvSpPr>
          <p:cNvPr id="4" name="Text 0"/>
          <p:cNvSpPr txBox="1"/>
          <p:nvPr/>
        </p:nvSpPr>
        <p:spPr>
          <a:xfrm>
            <a:off x="457200" y="228600"/>
            <a:ext cx="7223760" cy="548640"/>
          </a:xfrm>
          <a:prstGeom prst="rect">
            <a:avLst/>
          </a:prstGeom>
          <a:noFill/>
          <a:ln/>
        </p:spPr>
        <p:txBody>
          <a:bodyPr wrap="square" lIns="0" tIns="0" rIns="0" bIns="0" rtlCol="0" anchor="ctr"/>
          <a:lstStyle/>
          <a:p>
            <a:pPr indent="0" marL="0">
              <a:buNone/>
            </a:pPr>
            <a:r>
              <a:rPr lang="en-US" sz="2400" b="1" dirty="0">
                <a:solidFill>
                  <a:srgbClr val="440973"/>
                </a:solidFill>
                <a:latin typeface="Arial" pitchFamily="34" charset="0"/>
                <a:ea typeface="Arial" pitchFamily="34" charset="-122"/>
                <a:cs typeface="Arial" pitchFamily="34" charset="-120"/>
              </a:rPr>
              <a:t>Market size: who we can realistically win</a:t>
            </a:r>
            <a:endParaRPr lang="en-US" sz="2400" dirty="0"/>
          </a:p>
        </p:txBody>
      </p:sp>
      <p:sp>
        <p:nvSpPr>
          <p:cNvPr id="5" name="Text 1"/>
          <p:cNvSpPr txBox="1"/>
          <p:nvPr/>
        </p:nvSpPr>
        <p:spPr>
          <a:xfrm>
            <a:off x="457200" y="4828032"/>
            <a:ext cx="7498080" cy="228600"/>
          </a:xfrm>
          <a:prstGeom prst="rect">
            <a:avLst/>
          </a:prstGeom>
          <a:noFill/>
          <a:ln/>
        </p:spPr>
        <p:txBody>
          <a:bodyPr wrap="square" lIns="0" tIns="0" rIns="0" bIns="0" rtlCol="0" anchor="ctr"/>
          <a:lstStyle/>
          <a:p>
            <a:pPr indent="0" marL="0">
              <a:buNone/>
            </a:pPr>
            <a:r>
              <a:rPr lang="en-US" sz="750" dirty="0">
                <a:solidFill>
                  <a:srgbClr val="6B6B80"/>
                </a:solidFill>
                <a:latin typeface="Arial" pitchFamily="34" charset="0"/>
                <a:ea typeface="Arial" pitchFamily="34" charset="-122"/>
                <a:cs typeface="Arial" pitchFamily="34" charset="-120"/>
              </a:rPr>
              <a:t>Sources: PBS Labour Force Survey 2024-25 via Pakistan Economic Survey 2025-26 (77.2M employed); DataReportal Digital 2026 Pakistan (45.6% online; Instagram ad reach 22.4M); Arab News Aug 2026 (607,025 investors, ~24k new/month).</a:t>
            </a:r>
            <a:endParaRPr lang="en-US" sz="750" dirty="0"/>
          </a:p>
        </p:txBody>
      </p:sp>
      <p:sp>
        <p:nvSpPr>
          <p:cNvPr id="6" name="Shape 2"/>
          <p:cNvSpPr/>
          <p:nvPr/>
        </p:nvSpPr>
        <p:spPr>
          <a:xfrm>
            <a:off x="457200" y="868680"/>
            <a:ext cx="3749040" cy="3749040"/>
          </a:xfrm>
          <a:prstGeom prst="ellipse">
            <a:avLst/>
          </a:prstGeom>
          <a:solidFill>
            <a:srgbClr val="F3EEF8"/>
          </a:solidFill>
          <a:ln w="12700">
            <a:solidFill>
              <a:srgbClr val="DCD3E8"/>
            </a:solidFill>
            <a:prstDash val="solid"/>
          </a:ln>
        </p:spPr>
      </p:sp>
      <p:sp>
        <p:nvSpPr>
          <p:cNvPr id="7" name="Shape 3"/>
          <p:cNvSpPr/>
          <p:nvPr/>
        </p:nvSpPr>
        <p:spPr>
          <a:xfrm>
            <a:off x="1143000" y="1828800"/>
            <a:ext cx="2377440" cy="2377440"/>
          </a:xfrm>
          <a:prstGeom prst="ellipse">
            <a:avLst/>
          </a:prstGeom>
          <a:solidFill>
            <a:srgbClr val="D9CCEA"/>
          </a:solidFill>
          <a:ln w="12700">
            <a:solidFill>
              <a:srgbClr val="C4B2DD"/>
            </a:solidFill>
            <a:prstDash val="solid"/>
          </a:ln>
        </p:spPr>
      </p:sp>
      <p:sp>
        <p:nvSpPr>
          <p:cNvPr id="8" name="Shape 4"/>
          <p:cNvSpPr/>
          <p:nvPr/>
        </p:nvSpPr>
        <p:spPr>
          <a:xfrm>
            <a:off x="1737360" y="2788920"/>
            <a:ext cx="1188720" cy="1188720"/>
          </a:xfrm>
          <a:prstGeom prst="ellipse">
            <a:avLst/>
          </a:prstGeom>
          <a:solidFill>
            <a:srgbClr val="440973"/>
          </a:solidFill>
          <a:ln w="12700">
            <a:solidFill>
              <a:srgbClr val="440973"/>
            </a:solidFill>
            <a:prstDash val="solid"/>
          </a:ln>
        </p:spPr>
      </p:sp>
      <p:sp>
        <p:nvSpPr>
          <p:cNvPr id="9" name="Text 5"/>
          <p:cNvSpPr txBox="1"/>
          <p:nvPr/>
        </p:nvSpPr>
        <p:spPr>
          <a:xfrm>
            <a:off x="1371600" y="1051560"/>
            <a:ext cx="1920240" cy="640080"/>
          </a:xfrm>
          <a:prstGeom prst="rect">
            <a:avLst/>
          </a:prstGeom>
          <a:noFill/>
          <a:ln/>
        </p:spPr>
        <p:txBody>
          <a:bodyPr wrap="square" lIns="0" tIns="0" rIns="0" bIns="0" rtlCol="0" anchor="t"/>
          <a:lstStyle/>
          <a:p>
            <a:pPr algn="ctr" indent="0" marL="0">
              <a:buNone/>
            </a:pPr>
            <a:r>
              <a:rPr lang="en-US" sz="1400" b="1" dirty="0">
                <a:solidFill>
                  <a:srgbClr val="440973"/>
                </a:solidFill>
                <a:latin typeface="Arial" pitchFamily="34" charset="0"/>
                <a:ea typeface="Arial" pitchFamily="34" charset="-122"/>
                <a:cs typeface="Arial" pitchFamily="34" charset="-120"/>
              </a:rPr>
              <a:t>TAM</a:t>
            </a:r>
            <a:endParaRPr lang="en-US" sz="1400" dirty="0"/>
          </a:p>
          <a:p>
            <a:pPr algn="ctr" indent="0" marL="0">
              <a:buNone/>
            </a:pPr>
            <a:r>
              <a:rPr lang="en-US" sz="1400" b="1" dirty="0">
                <a:solidFill>
                  <a:srgbClr val="440973"/>
                </a:solidFill>
                <a:latin typeface="Arial" pitchFamily="34" charset="0"/>
                <a:ea typeface="Arial" pitchFamily="34" charset="-122"/>
                <a:cs typeface="Arial" pitchFamily="34" charset="-120"/>
              </a:rPr>
              <a:t>~35M</a:t>
            </a:r>
            <a:endParaRPr lang="en-US" sz="1400" dirty="0"/>
          </a:p>
        </p:txBody>
      </p:sp>
      <p:sp>
        <p:nvSpPr>
          <p:cNvPr id="10" name="Text 6"/>
          <p:cNvSpPr txBox="1"/>
          <p:nvPr/>
        </p:nvSpPr>
        <p:spPr>
          <a:xfrm>
            <a:off x="1371600" y="2011680"/>
            <a:ext cx="1920240" cy="640080"/>
          </a:xfrm>
          <a:prstGeom prst="rect">
            <a:avLst/>
          </a:prstGeom>
          <a:noFill/>
          <a:ln/>
        </p:spPr>
        <p:txBody>
          <a:bodyPr wrap="square" lIns="0" tIns="0" rIns="0" bIns="0" rtlCol="0" anchor="t"/>
          <a:lstStyle/>
          <a:p>
            <a:pPr algn="ctr" indent="0" marL="0">
              <a:buNone/>
            </a:pPr>
            <a:r>
              <a:rPr lang="en-US" sz="1400" b="1" dirty="0">
                <a:solidFill>
                  <a:srgbClr val="440973"/>
                </a:solidFill>
                <a:latin typeface="Arial" pitchFamily="34" charset="0"/>
                <a:ea typeface="Arial" pitchFamily="34" charset="-122"/>
                <a:cs typeface="Arial" pitchFamily="34" charset="-120"/>
              </a:rPr>
              <a:t>SAM</a:t>
            </a:r>
            <a:endParaRPr lang="en-US" sz="1400" dirty="0"/>
          </a:p>
          <a:p>
            <a:pPr algn="ctr" indent="0" marL="0">
              <a:buNone/>
            </a:pPr>
            <a:r>
              <a:rPr lang="en-US" sz="1400" b="1" dirty="0">
                <a:solidFill>
                  <a:srgbClr val="440973"/>
                </a:solidFill>
                <a:latin typeface="Arial" pitchFamily="34" charset="0"/>
                <a:ea typeface="Arial" pitchFamily="34" charset="-122"/>
                <a:cs typeface="Arial" pitchFamily="34" charset="-120"/>
              </a:rPr>
              <a:t>~11M</a:t>
            </a:r>
            <a:endParaRPr lang="en-US" sz="1400" dirty="0"/>
          </a:p>
        </p:txBody>
      </p:sp>
      <p:sp>
        <p:nvSpPr>
          <p:cNvPr id="11" name="Text 7"/>
          <p:cNvSpPr txBox="1"/>
          <p:nvPr/>
        </p:nvSpPr>
        <p:spPr>
          <a:xfrm>
            <a:off x="1737360" y="3017520"/>
            <a:ext cx="1188720" cy="7315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SOM</a:t>
            </a:r>
            <a:endParaRPr lang="en-US" sz="1200" dirty="0"/>
          </a:p>
          <a:p>
            <a:pPr algn="ctr" indent="0" marL="0">
              <a:buNone/>
            </a:pPr>
            <a:r>
              <a:rPr lang="en-US" sz="1200" b="1" dirty="0">
                <a:solidFill>
                  <a:srgbClr val="FFFFFF"/>
                </a:solidFill>
                <a:latin typeface="Arial" pitchFamily="34" charset="0"/>
                <a:ea typeface="Arial" pitchFamily="34" charset="-122"/>
                <a:cs typeface="Arial" pitchFamily="34" charset="-120"/>
              </a:rPr>
              <a:t>~7,800</a:t>
            </a:r>
            <a:endParaRPr lang="en-US" sz="1200" dirty="0"/>
          </a:p>
        </p:txBody>
      </p:sp>
      <p:sp>
        <p:nvSpPr>
          <p:cNvPr id="12" name="Shape 8"/>
          <p:cNvSpPr/>
          <p:nvPr/>
        </p:nvSpPr>
        <p:spPr>
          <a:xfrm>
            <a:off x="4526280" y="914400"/>
            <a:ext cx="3429000" cy="1097280"/>
          </a:xfrm>
          <a:prstGeom prst="roundRect">
            <a:avLst>
              <a:gd name="adj" fmla="val 6667"/>
            </a:avLst>
          </a:prstGeom>
          <a:solidFill>
            <a:srgbClr val="F3EEF8"/>
          </a:solidFill>
          <a:ln w="12700">
            <a:solidFill>
              <a:srgbClr val="F3EEF8"/>
            </a:solidFill>
            <a:prstDash val="solid"/>
          </a:ln>
        </p:spPr>
      </p:sp>
      <p:sp>
        <p:nvSpPr>
          <p:cNvPr id="13" name="Text 9"/>
          <p:cNvSpPr txBox="1"/>
          <p:nvPr/>
        </p:nvSpPr>
        <p:spPr>
          <a:xfrm>
            <a:off x="4663440" y="1005840"/>
            <a:ext cx="3200400" cy="274320"/>
          </a:xfrm>
          <a:prstGeom prst="rect">
            <a:avLst/>
          </a:prstGeom>
          <a:noFill/>
          <a:ln/>
        </p:spPr>
        <p:txBody>
          <a:bodyPr wrap="square" lIns="0" tIns="0" rIns="0" bIns="0" rtlCol="0" anchor="t"/>
          <a:lstStyle/>
          <a:p>
            <a:pPr indent="0" marL="0">
              <a:buNone/>
            </a:pPr>
            <a:r>
              <a:rPr lang="en-US" sz="1150" b="1" dirty="0">
                <a:solidFill>
                  <a:srgbClr val="440973"/>
                </a:solidFill>
                <a:latin typeface="Arial" pitchFamily="34" charset="0"/>
                <a:ea typeface="Arial" pitchFamily="34" charset="-122"/>
                <a:cs typeface="Arial" pitchFamily="34" charset="-120"/>
              </a:rPr>
              <a:t>TAM  ~35 million</a:t>
            </a:r>
            <a:endParaRPr lang="en-US" sz="1150" dirty="0"/>
          </a:p>
        </p:txBody>
      </p:sp>
      <p:sp>
        <p:nvSpPr>
          <p:cNvPr id="14" name="Text 10"/>
          <p:cNvSpPr txBox="1"/>
          <p:nvPr/>
        </p:nvSpPr>
        <p:spPr>
          <a:xfrm>
            <a:off x="4663440" y="1280160"/>
            <a:ext cx="3200400" cy="685800"/>
          </a:xfrm>
          <a:prstGeom prst="rect">
            <a:avLst/>
          </a:prstGeom>
          <a:noFill/>
          <a:ln/>
        </p:spPr>
        <p:txBody>
          <a:bodyPr wrap="square" lIns="0" tIns="0" rIns="0" bIns="0" rtlCol="0" anchor="t"/>
          <a:lstStyle/>
          <a:p>
            <a:pPr indent="0" marL="0">
              <a:buNone/>
            </a:pPr>
            <a:r>
              <a:rPr lang="en-US" sz="900" dirty="0">
                <a:solidFill>
                  <a:srgbClr val="2B2B3A"/>
                </a:solidFill>
                <a:latin typeface="Arial" pitchFamily="34" charset="0"/>
                <a:ea typeface="Arial" pitchFamily="34" charset="-122"/>
                <a:cs typeface="Arial" pitchFamily="34" charset="-120"/>
              </a:rPr>
              <a:t>Working Pakistanis who are online: 77.2M employed people x 45.6% internet penetration.</a:t>
            </a:r>
            <a:endParaRPr lang="en-US" sz="900" dirty="0"/>
          </a:p>
        </p:txBody>
      </p:sp>
      <p:sp>
        <p:nvSpPr>
          <p:cNvPr id="15" name="Shape 11"/>
          <p:cNvSpPr/>
          <p:nvPr/>
        </p:nvSpPr>
        <p:spPr>
          <a:xfrm>
            <a:off x="4526280" y="2148840"/>
            <a:ext cx="3429000" cy="1097280"/>
          </a:xfrm>
          <a:prstGeom prst="roundRect">
            <a:avLst>
              <a:gd name="adj" fmla="val 6667"/>
            </a:avLst>
          </a:prstGeom>
          <a:solidFill>
            <a:srgbClr val="F3EEF8"/>
          </a:solidFill>
          <a:ln w="12700">
            <a:solidFill>
              <a:srgbClr val="F3EEF8"/>
            </a:solidFill>
            <a:prstDash val="solid"/>
          </a:ln>
        </p:spPr>
      </p:sp>
      <p:sp>
        <p:nvSpPr>
          <p:cNvPr id="16" name="Text 12"/>
          <p:cNvSpPr txBox="1"/>
          <p:nvPr/>
        </p:nvSpPr>
        <p:spPr>
          <a:xfrm>
            <a:off x="4663440" y="2240280"/>
            <a:ext cx="3200400" cy="274320"/>
          </a:xfrm>
          <a:prstGeom prst="rect">
            <a:avLst/>
          </a:prstGeom>
          <a:noFill/>
          <a:ln/>
        </p:spPr>
        <p:txBody>
          <a:bodyPr wrap="square" lIns="0" tIns="0" rIns="0" bIns="0" rtlCol="0" anchor="t"/>
          <a:lstStyle/>
          <a:p>
            <a:pPr indent="0" marL="0">
              <a:buNone/>
            </a:pPr>
            <a:r>
              <a:rPr lang="en-US" sz="1150" b="1" dirty="0">
                <a:solidFill>
                  <a:srgbClr val="440973"/>
                </a:solidFill>
                <a:latin typeface="Arial" pitchFamily="34" charset="0"/>
                <a:ea typeface="Arial" pitchFamily="34" charset="-122"/>
                <a:cs typeface="Arial" pitchFamily="34" charset="-120"/>
              </a:rPr>
              <a:t>SAM  ~11 million</a:t>
            </a:r>
            <a:endParaRPr lang="en-US" sz="1150" dirty="0"/>
          </a:p>
        </p:txBody>
      </p:sp>
      <p:sp>
        <p:nvSpPr>
          <p:cNvPr id="17" name="Text 13"/>
          <p:cNvSpPr txBox="1"/>
          <p:nvPr/>
        </p:nvSpPr>
        <p:spPr>
          <a:xfrm>
            <a:off x="4663440" y="2514600"/>
            <a:ext cx="3200400" cy="685800"/>
          </a:xfrm>
          <a:prstGeom prst="rect">
            <a:avLst/>
          </a:prstGeom>
          <a:noFill/>
          <a:ln/>
        </p:spPr>
        <p:txBody>
          <a:bodyPr wrap="square" lIns="0" tIns="0" rIns="0" bIns="0" rtlCol="0" anchor="t"/>
          <a:lstStyle/>
          <a:p>
            <a:pPr indent="0" marL="0">
              <a:buNone/>
            </a:pPr>
            <a:r>
              <a:rPr lang="en-US" sz="900" dirty="0">
                <a:solidFill>
                  <a:srgbClr val="2B2B3A"/>
                </a:solidFill>
                <a:latin typeface="Arial" pitchFamily="34" charset="0"/>
                <a:ea typeface="Arial" pitchFamily="34" charset="-122"/>
                <a:cs typeface="Arial" pitchFamily="34" charset="-120"/>
              </a:rPr>
              <a:t>Urban working professionals aged 25 to 40 reachable on Instagram and Facebook (about half of Instagram's 22.4M ad reach, our estimate). Plus a warm pool of 607,000 existing investors who may switch brokers.</a:t>
            </a:r>
            <a:endParaRPr lang="en-US" sz="900" dirty="0"/>
          </a:p>
        </p:txBody>
      </p:sp>
      <p:sp>
        <p:nvSpPr>
          <p:cNvPr id="18" name="Shape 14"/>
          <p:cNvSpPr/>
          <p:nvPr/>
        </p:nvSpPr>
        <p:spPr>
          <a:xfrm>
            <a:off x="4526280" y="3383280"/>
            <a:ext cx="3429000" cy="1097280"/>
          </a:xfrm>
          <a:prstGeom prst="roundRect">
            <a:avLst>
              <a:gd name="adj" fmla="val 6667"/>
            </a:avLst>
          </a:prstGeom>
          <a:solidFill>
            <a:srgbClr val="EEF6DC"/>
          </a:solidFill>
          <a:ln w="12700">
            <a:solidFill>
              <a:srgbClr val="EEF6DC"/>
            </a:solidFill>
            <a:prstDash val="solid"/>
          </a:ln>
        </p:spPr>
      </p:sp>
      <p:sp>
        <p:nvSpPr>
          <p:cNvPr id="19" name="Text 15"/>
          <p:cNvSpPr txBox="1"/>
          <p:nvPr/>
        </p:nvSpPr>
        <p:spPr>
          <a:xfrm>
            <a:off x="4663440" y="3474720"/>
            <a:ext cx="3200400" cy="274320"/>
          </a:xfrm>
          <a:prstGeom prst="rect">
            <a:avLst/>
          </a:prstGeom>
          <a:noFill/>
          <a:ln/>
        </p:spPr>
        <p:txBody>
          <a:bodyPr wrap="square" lIns="0" tIns="0" rIns="0" bIns="0" rtlCol="0" anchor="t"/>
          <a:lstStyle/>
          <a:p>
            <a:pPr indent="0" marL="0">
              <a:buNone/>
            </a:pPr>
            <a:r>
              <a:rPr lang="en-US" sz="1150" b="1" dirty="0">
                <a:solidFill>
                  <a:srgbClr val="4F7A00"/>
                </a:solidFill>
                <a:latin typeface="Arial" pitchFamily="34" charset="0"/>
                <a:ea typeface="Arial" pitchFamily="34" charset="-122"/>
                <a:cs typeface="Arial" pitchFamily="34" charset="-120"/>
              </a:rPr>
              <a:t>SOM  up to ~7,800 funded accounts a year</a:t>
            </a:r>
            <a:endParaRPr lang="en-US" sz="1150" dirty="0"/>
          </a:p>
        </p:txBody>
      </p:sp>
      <p:sp>
        <p:nvSpPr>
          <p:cNvPr id="20" name="Text 16"/>
          <p:cNvSpPr txBox="1"/>
          <p:nvPr/>
        </p:nvSpPr>
        <p:spPr>
          <a:xfrm>
            <a:off x="4663440" y="3749040"/>
            <a:ext cx="3200400" cy="685800"/>
          </a:xfrm>
          <a:prstGeom prst="rect">
            <a:avLst/>
          </a:prstGeom>
          <a:noFill/>
          <a:ln/>
        </p:spPr>
        <p:txBody>
          <a:bodyPr wrap="square" lIns="0" tIns="0" rIns="0" bIns="0" rtlCol="0" anchor="t"/>
          <a:lstStyle/>
          <a:p>
            <a:pPr indent="0" marL="0">
              <a:buNone/>
            </a:pPr>
            <a:r>
              <a:rPr lang="en-US" sz="900" dirty="0">
                <a:solidFill>
                  <a:srgbClr val="2B2B3A"/>
                </a:solidFill>
                <a:latin typeface="Arial" pitchFamily="34" charset="0"/>
                <a:ea typeface="Arial" pitchFamily="34" charset="-122"/>
                <a:cs typeface="Arial" pitchFamily="34" charset="-120"/>
              </a:rPr>
              <a:t>About 2.7% of the ~290,000 new PSX accounts expected in the next 12 months. Reachable only with sustained paid activity; the 6-month test will show the realistic share.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logo_light.png">    </p:cNvPr>
          <p:cNvPicPr>
            <a:picLocks noChangeAspect="1"/>
          </p:cNvPicPr>
          <p:nvPr/>
        </p:nvPicPr>
        <p:blipFill>
          <a:blip r:embed="rId1"/>
          <a:stretch>
            <a:fillRect/>
          </a:stretch>
        </p:blipFill>
        <p:spPr>
          <a:xfrm>
            <a:off x="7882128" y="164592"/>
            <a:ext cx="896112" cy="475488"/>
          </a:xfrm>
          <a:prstGeom prst="rect">
            <a:avLst/>
          </a:prstGeom>
        </p:spPr>
      </p:pic>
      <p:pic>
        <p:nvPicPr>
          <p:cNvPr id="3" name="Image 1" descr="corner_t.png">    </p:cNvPr>
          <p:cNvPicPr>
            <a:picLocks noChangeAspect="1"/>
          </p:cNvPicPr>
          <p:nvPr/>
        </p:nvPicPr>
        <p:blipFill>
          <a:blip r:embed="rId2"/>
          <a:stretch>
            <a:fillRect/>
          </a:stretch>
        </p:blipFill>
        <p:spPr>
          <a:xfrm>
            <a:off x="8138160" y="4553712"/>
            <a:ext cx="1005840" cy="726948"/>
          </a:xfrm>
          <a:prstGeom prst="rect">
            <a:avLst/>
          </a:prstGeom>
        </p:spPr>
      </p:pic>
      <p:sp>
        <p:nvSpPr>
          <p:cNvPr id="4" name="Text 0"/>
          <p:cNvSpPr txBox="1"/>
          <p:nvPr/>
        </p:nvSpPr>
        <p:spPr>
          <a:xfrm>
            <a:off x="457200" y="228600"/>
            <a:ext cx="7223760" cy="548640"/>
          </a:xfrm>
          <a:prstGeom prst="rect">
            <a:avLst/>
          </a:prstGeom>
          <a:noFill/>
          <a:ln/>
        </p:spPr>
        <p:txBody>
          <a:bodyPr wrap="square" lIns="0" tIns="0" rIns="0" bIns="0" rtlCol="0" anchor="ctr"/>
          <a:lstStyle/>
          <a:p>
            <a:pPr indent="0" marL="0">
              <a:buNone/>
            </a:pPr>
            <a:r>
              <a:rPr lang="en-US" sz="2400" b="1" dirty="0">
                <a:solidFill>
                  <a:srgbClr val="440973"/>
                </a:solidFill>
                <a:latin typeface="Arial" pitchFamily="34" charset="0"/>
                <a:ea typeface="Arial" pitchFamily="34" charset="-122"/>
                <a:cs typeface="Arial" pitchFamily="34" charset="-120"/>
              </a:rPr>
              <a:t>Competitors: everyone says "easy and digital"</a:t>
            </a:r>
            <a:endParaRPr lang="en-US" sz="2400" dirty="0"/>
          </a:p>
        </p:txBody>
      </p:sp>
      <p:sp>
        <p:nvSpPr>
          <p:cNvPr id="5" name="Text 1"/>
          <p:cNvSpPr txBox="1"/>
          <p:nvPr/>
        </p:nvSpPr>
        <p:spPr>
          <a:xfrm>
            <a:off x="457200" y="4828032"/>
            <a:ext cx="7498080" cy="228600"/>
          </a:xfrm>
          <a:prstGeom prst="rect">
            <a:avLst/>
          </a:prstGeom>
          <a:noFill/>
          <a:ln/>
        </p:spPr>
        <p:txBody>
          <a:bodyPr wrap="square" lIns="0" tIns="0" rIns="0" bIns="0" rtlCol="0" anchor="ctr"/>
          <a:lstStyle/>
          <a:p>
            <a:pPr indent="0" marL="0">
              <a:buNone/>
            </a:pPr>
            <a:r>
              <a:rPr lang="en-US" sz="750" dirty="0">
                <a:solidFill>
                  <a:srgbClr val="6B6B80"/>
                </a:solidFill>
                <a:latin typeface="Arial" pitchFamily="34" charset="0"/>
                <a:ea typeface="Arial" pitchFamily="34" charset="-122"/>
                <a:cs typeface="Arial" pitchFamily="34" charset="-120"/>
              </a:rPr>
              <a:t>Sources: Google Play listings (Sept 2026); company websites; Investify.pk app review (2026). Live ad activity to be confirmed in the Meta Ad Library at kick-off.</a:t>
            </a:r>
            <a:endParaRPr lang="en-US" sz="7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868680"/>
          <a:ext cx="7498080" cy="914400"/>
        </p:xfrm>
        <a:graphic>
          <a:graphicData uri="http://schemas.openxmlformats.org/drawingml/2006/table">
            <a:tbl>
              <a:tblPr/>
              <a:tblGrid>
                <a:gridCol w="1417320"/>
                <a:gridCol w="2834640"/>
                <a:gridCol w="1920240"/>
                <a:gridCol w="1325880"/>
              </a:tblGrid>
              <a:tr h="384048">
                <a:tc>
                  <a:txBody>
                    <a:bodyPr/>
                    <a:lstStyle/>
                    <a:p>
                      <a:pPr indent="0" marL="0">
                        <a:buNone/>
                      </a:pPr>
                      <a:r>
                        <a:rPr lang="en-US" sz="950" b="1" dirty="0">
                          <a:solidFill>
                            <a:srgbClr val="FFFFFF"/>
                          </a:solidFill>
                          <a:latin typeface="Arial" pitchFamily="34" charset="0"/>
                          <a:ea typeface="Arial" pitchFamily="34" charset="-122"/>
                          <a:cs typeface="Arial" pitchFamily="34" charset="-120"/>
                        </a:rPr>
                        <a:t>Competitor</a:t>
                      </a:r>
                      <a:endParaRPr lang="en-US" sz="950" dirty="0">
                        <a:latin typeface="Arial" charset="0"/>
                        <a:ea typeface="Arial" charset="0"/>
                        <a:cs typeface="Arial" charset="0"/>
                      </a:endParaRPr>
                    </a:p>
                  </a:txBody>
                  <a:tcPr marL="63500" marR="63500" marT="25400" marB="25400" anchor="ctr">
                    <a:lnL w="6350" cap="flat" cmpd="sng" algn="ctr">
                      <a:solidFill>
                        <a:srgbClr val="DCD3E8"/>
                      </a:solidFill>
                      <a:prstDash val="solid"/>
                      <a:round/>
                      <a:headEnd type="none" w="med" len="med"/>
                      <a:tailEnd type="none" w="med" len="med"/>
                    </a:lnL>
                    <a:lnR w="6350" cap="flat" cmpd="sng" algn="ctr">
                      <a:solidFill>
                        <a:srgbClr val="DCD3E8"/>
                      </a:solidFill>
                      <a:prstDash val="solid"/>
                      <a:round/>
                      <a:headEnd type="none" w="med" len="med"/>
                      <a:tailEnd type="none" w="med" len="med"/>
                    </a:lnR>
                    <a:lnT w="6350" cap="flat" cmpd="sng" algn="ctr">
                      <a:solidFill>
                        <a:srgbClr val="DCD3E8"/>
                      </a:solidFill>
                      <a:prstDash val="solid"/>
                      <a:round/>
                      <a:headEnd type="none" w="med" len="med"/>
                      <a:tailEnd type="none" w="med" len="med"/>
                    </a:lnT>
                    <a:lnB w="6350" cap="flat" cmpd="sng" algn="ctr">
                      <a:solidFill>
                        <a:srgbClr val="DCD3E8"/>
                      </a:solidFill>
                      <a:prstDash val="solid"/>
                      <a:round/>
                      <a:headEnd type="none" w="med" len="med"/>
                      <a:tailEnd type="none" w="med" len="med"/>
                    </a:lnB>
                    <a:solidFill>
                      <a:srgbClr val="440973"/>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What they tell customers</a:t>
                      </a:r>
                      <a:endParaRPr lang="en-US" sz="950" dirty="0">
                        <a:latin typeface="Arial" charset="0"/>
                        <a:ea typeface="Arial" charset="0"/>
                        <a:cs typeface="Arial" charset="0"/>
                      </a:endParaRPr>
                    </a:p>
                  </a:txBody>
                  <a:tcPr marL="63500" marR="63500" marT="25400" marB="25400" anchor="ctr">
                    <a:lnL w="6350" cap="flat" cmpd="sng" algn="ctr">
                      <a:solidFill>
                        <a:srgbClr val="DCD3E8"/>
                      </a:solidFill>
                      <a:prstDash val="solid"/>
                      <a:round/>
                      <a:headEnd type="none" w="med" len="med"/>
                      <a:tailEnd type="none" w="med" len="med"/>
                    </a:lnL>
                    <a:lnR w="6350" cap="flat" cmpd="sng" algn="ctr">
                      <a:solidFill>
                        <a:srgbClr val="DCD3E8"/>
                      </a:solidFill>
                      <a:prstDash val="solid"/>
                      <a:round/>
                      <a:headEnd type="none" w="med" len="med"/>
                      <a:tailEnd type="none" w="med" len="med"/>
                    </a:lnR>
                    <a:lnT w="6350" cap="flat" cmpd="sng" algn="ctr">
                      <a:solidFill>
                        <a:srgbClr val="DCD3E8"/>
                      </a:solidFill>
                      <a:prstDash val="solid"/>
                      <a:round/>
                      <a:headEnd type="none" w="med" len="med"/>
                      <a:tailEnd type="none" w="med" len="med"/>
                    </a:lnT>
                    <a:lnB w="6350" cap="flat" cmpd="sng" algn="ctr">
                      <a:solidFill>
                        <a:srgbClr val="DCD3E8"/>
                      </a:solidFill>
                      <a:prstDash val="solid"/>
                      <a:round/>
                      <a:headEnd type="none" w="med" len="med"/>
                      <a:tailEnd type="none" w="med" len="med"/>
                    </a:lnB>
                    <a:solidFill>
                      <a:srgbClr val="440973"/>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Where they show up</a:t>
                      </a:r>
                      <a:endParaRPr lang="en-US" sz="950" dirty="0">
                        <a:latin typeface="Arial" charset="0"/>
                        <a:ea typeface="Arial" charset="0"/>
                        <a:cs typeface="Arial" charset="0"/>
                      </a:endParaRPr>
                    </a:p>
                  </a:txBody>
                  <a:tcPr marL="63500" marR="63500" marT="25400" marB="25400" anchor="ctr">
                    <a:lnL w="6350" cap="flat" cmpd="sng" algn="ctr">
                      <a:solidFill>
                        <a:srgbClr val="DCD3E8"/>
                      </a:solidFill>
                      <a:prstDash val="solid"/>
                      <a:round/>
                      <a:headEnd type="none" w="med" len="med"/>
                      <a:tailEnd type="none" w="med" len="med"/>
                    </a:lnL>
                    <a:lnR w="6350" cap="flat" cmpd="sng" algn="ctr">
                      <a:solidFill>
                        <a:srgbClr val="DCD3E8"/>
                      </a:solidFill>
                      <a:prstDash val="solid"/>
                      <a:round/>
                      <a:headEnd type="none" w="med" len="med"/>
                      <a:tailEnd type="none" w="med" len="med"/>
                    </a:lnR>
                    <a:lnT w="6350" cap="flat" cmpd="sng" algn="ctr">
                      <a:solidFill>
                        <a:srgbClr val="DCD3E8"/>
                      </a:solidFill>
                      <a:prstDash val="solid"/>
                      <a:round/>
                      <a:headEnd type="none" w="med" len="med"/>
                      <a:tailEnd type="none" w="med" len="med"/>
                    </a:lnT>
                    <a:lnB w="6350" cap="flat" cmpd="sng" algn="ctr">
                      <a:solidFill>
                        <a:srgbClr val="DCD3E8"/>
                      </a:solidFill>
                      <a:prstDash val="solid"/>
                      <a:round/>
                      <a:headEnd type="none" w="med" len="med"/>
                      <a:tailEnd type="none" w="med" len="med"/>
                    </a:lnB>
                    <a:solidFill>
                      <a:srgbClr val="440973"/>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Play Store</a:t>
                      </a:r>
                      <a:endParaRPr lang="en-US" sz="950" dirty="0">
                        <a:latin typeface="Arial" charset="0"/>
                        <a:ea typeface="Arial" charset="0"/>
                        <a:cs typeface="Arial" charset="0"/>
                      </a:endParaRPr>
                    </a:p>
                  </a:txBody>
                  <a:tcPr marL="63500" marR="63500" marT="25400" marB="25400" anchor="ctr">
                    <a:lnL w="6350" cap="flat" cmpd="sng" algn="ctr">
                      <a:solidFill>
                        <a:srgbClr val="DCD3E8"/>
                      </a:solidFill>
                      <a:prstDash val="solid"/>
                      <a:round/>
                      <a:headEnd type="none" w="med" len="med"/>
                      <a:tailEnd type="none" w="med" len="med"/>
                    </a:lnL>
                    <a:lnR w="6350" cap="flat" cmpd="sng" algn="ctr">
                      <a:solidFill>
                        <a:srgbClr val="DCD3E8"/>
                      </a:solidFill>
                      <a:prstDash val="solid"/>
                      <a:round/>
                      <a:headEnd type="none" w="med" len="med"/>
                      <a:tailEnd type="none" w="med" len="med"/>
                    </a:lnR>
                    <a:lnT w="6350" cap="flat" cmpd="sng" algn="ctr">
                      <a:solidFill>
                        <a:srgbClr val="DCD3E8"/>
                      </a:solidFill>
                      <a:prstDash val="solid"/>
                      <a:round/>
                      <a:headEnd type="none" w="med" len="med"/>
                      <a:tailEnd type="none" w="med" len="med"/>
                    </a:lnT>
                    <a:lnB w="6350" cap="flat" cmpd="sng" algn="ctr">
                      <a:solidFill>
                        <a:srgbClr val="DCD3E8"/>
                      </a:solidFill>
                      <a:prstDash val="solid"/>
                      <a:round/>
                      <a:headEnd type="none" w="med" len="med"/>
                      <a:tailEnd type="none" w="med" len="med"/>
                    </a:lnB>
                    <a:solidFill>
                      <a:srgbClr val="440973"/>
                    </a:solidFill>
                  </a:tcPr>
                </a:tc>
              </a:tr>
              <a:tr h="384048">
                <a:tc>
                  <a:txBody>
                    <a:bodyPr/>
                    <a:lstStyle/>
                    <a:p>
                      <a:pPr indent="0" marL="0">
                        <a:buNone/>
                      </a:pPr>
                      <a:r>
                        <a:rPr lang="en-US" sz="950" b="1" dirty="0">
                          <a:solidFill>
                            <a:srgbClr val="2B2B3A"/>
                          </a:solidFill>
                          <a:latin typeface="Arial" pitchFamily="34" charset="0"/>
                          <a:ea typeface="Arial" pitchFamily="34" charset="-122"/>
                          <a:cs typeface="Arial" pitchFamily="34" charset="-120"/>
                        </a:rPr>
                        <a:t>KTrade</a:t>
                      </a:r>
                      <a:endParaRPr lang="en-US" sz="950" dirty="0">
                        <a:latin typeface="Arial" charset="0"/>
                        <a:ea typeface="Arial" charset="0"/>
                        <a:cs typeface="Arial" charset="0"/>
                      </a:endParaRPr>
                    </a:p>
                  </a:txBody>
                  <a:tcPr marL="63500" marR="63500" marT="25400" marB="25400" anchor="ctr">
                    <a:lnL w="6350" cap="flat" cmpd="sng" algn="ctr">
                      <a:solidFill>
                        <a:srgbClr val="DCD3E8"/>
                      </a:solidFill>
                      <a:prstDash val="solid"/>
                      <a:round/>
                      <a:headEnd type="none" w="med" len="med"/>
                      <a:tailEnd type="none" w="med" len="med"/>
                    </a:lnL>
                    <a:lnR w="6350" cap="flat" cmpd="sng" algn="ctr">
                      <a:solidFill>
                        <a:srgbClr val="DCD3E8"/>
                      </a:solidFill>
                      <a:prstDash val="solid"/>
                      <a:round/>
                      <a:headEnd type="none" w="med" len="med"/>
                      <a:tailEnd type="none" w="med" len="med"/>
                    </a:lnR>
                    <a:lnT w="6350" cap="flat" cmpd="sng" algn="ctr">
                      <a:solidFill>
                        <a:srgbClr val="DCD3E8"/>
                      </a:solidFill>
                      <a:prstDash val="solid"/>
                      <a:round/>
                      <a:headEnd type="none" w="med" len="med"/>
                      <a:tailEnd type="none" w="med" len="med"/>
                    </a:lnT>
                    <a:lnB w="6350" cap="flat" cmpd="sng" algn="ctr">
                      <a:solidFill>
                        <a:srgbClr val="DCD3E8"/>
                      </a:solidFill>
                      <a:prstDash val="solid"/>
                      <a:round/>
                      <a:headEnd type="none" w="med" len="med"/>
                      <a:tailEnd type="none" w="med" len="med"/>
                    </a:lnB>
                    <a:solidFill>
                      <a:srgbClr val="FFFFFF"/>
                    </a:solidFill>
                  </a:tcPr>
                </a:tc>
                <a:tc>
                  <a:txBody>
                    <a:bodyPr/>
                    <a:lstStyle/>
                    <a:p>
                      <a:pPr indent="0" marL="0">
                        <a:buNone/>
                      </a:pPr>
                      <a:r>
                        <a:rPr lang="en-US" sz="950" dirty="0">
                          <a:solidFill>
                            <a:srgbClr val="2B2B3A"/>
                          </a:solidFill>
                          <a:latin typeface="Arial" pitchFamily="34" charset="0"/>
                          <a:ea typeface="Arial" pitchFamily="34" charset="-122"/>
                          <a:cs typeface="Arial" pitchFamily="34" charset="-120"/>
                        </a:rPr>
                        <a:t>Fully digital account, no branch visit</a:t>
                      </a:r>
                      <a:endParaRPr lang="en-US" sz="950" dirty="0">
                        <a:latin typeface="Arial" charset="0"/>
                        <a:ea typeface="Arial" charset="0"/>
                        <a:cs typeface="Arial" charset="0"/>
                      </a:endParaRPr>
                    </a:p>
                  </a:txBody>
                  <a:tcPr marL="63500" marR="63500" marT="25400" marB="25400" anchor="ctr">
                    <a:lnL w="6350" cap="flat" cmpd="sng" algn="ctr">
                      <a:solidFill>
                        <a:srgbClr val="DCD3E8"/>
                      </a:solidFill>
                      <a:prstDash val="solid"/>
                      <a:round/>
                      <a:headEnd type="none" w="med" len="med"/>
                      <a:tailEnd type="none" w="med" len="med"/>
                    </a:lnL>
                    <a:lnR w="6350" cap="flat" cmpd="sng" algn="ctr">
                      <a:solidFill>
                        <a:srgbClr val="DCD3E8"/>
                      </a:solidFill>
                      <a:prstDash val="solid"/>
                      <a:round/>
                      <a:headEnd type="none" w="med" len="med"/>
                      <a:tailEnd type="none" w="med" len="med"/>
                    </a:lnR>
                    <a:lnT w="6350" cap="flat" cmpd="sng" algn="ctr">
                      <a:solidFill>
                        <a:srgbClr val="DCD3E8"/>
                      </a:solidFill>
                      <a:prstDash val="solid"/>
                      <a:round/>
                      <a:headEnd type="none" w="med" len="med"/>
                      <a:tailEnd type="none" w="med" len="med"/>
                    </a:lnT>
                    <a:lnB w="6350" cap="flat" cmpd="sng" algn="ctr">
                      <a:solidFill>
                        <a:srgbClr val="DCD3E8"/>
                      </a:solidFill>
                      <a:prstDash val="solid"/>
                      <a:round/>
                      <a:headEnd type="none" w="med" len="med"/>
                      <a:tailEnd type="none" w="med" len="med"/>
                    </a:lnB>
                    <a:solidFill>
                      <a:srgbClr val="FFFFFF"/>
                    </a:solidFill>
                  </a:tcPr>
                </a:tc>
                <a:tc>
                  <a:txBody>
                    <a:bodyPr/>
                    <a:lstStyle/>
                    <a:p>
                      <a:pPr indent="0" marL="0">
                        <a:buNone/>
                      </a:pPr>
                      <a:r>
                        <a:rPr lang="en-US" sz="950" dirty="0">
                          <a:solidFill>
                            <a:srgbClr val="2B2B3A"/>
                          </a:solidFill>
                          <a:latin typeface="Arial" pitchFamily="34" charset="0"/>
                          <a:ea typeface="Arial" pitchFamily="34" charset="-122"/>
                          <a:cs typeface="Arial" pitchFamily="34" charset="-120"/>
                        </a:rPr>
                        <a:t>YouTube, X, LinkedIn</a:t>
                      </a:r>
                      <a:endParaRPr lang="en-US" sz="950" dirty="0">
                        <a:latin typeface="Arial" charset="0"/>
                        <a:ea typeface="Arial" charset="0"/>
                        <a:cs typeface="Arial" charset="0"/>
                      </a:endParaRPr>
                    </a:p>
                  </a:txBody>
                  <a:tcPr marL="63500" marR="63500" marT="25400" marB="25400" anchor="ctr">
                    <a:lnL w="6350" cap="flat" cmpd="sng" algn="ctr">
                      <a:solidFill>
                        <a:srgbClr val="DCD3E8"/>
                      </a:solidFill>
                      <a:prstDash val="solid"/>
                      <a:round/>
                      <a:headEnd type="none" w="med" len="med"/>
                      <a:tailEnd type="none" w="med" len="med"/>
                    </a:lnL>
                    <a:lnR w="6350" cap="flat" cmpd="sng" algn="ctr">
                      <a:solidFill>
                        <a:srgbClr val="DCD3E8"/>
                      </a:solidFill>
                      <a:prstDash val="solid"/>
                      <a:round/>
                      <a:headEnd type="none" w="med" len="med"/>
                      <a:tailEnd type="none" w="med" len="med"/>
                    </a:lnR>
                    <a:lnT w="6350" cap="flat" cmpd="sng" algn="ctr">
                      <a:solidFill>
                        <a:srgbClr val="DCD3E8"/>
                      </a:solidFill>
                      <a:prstDash val="solid"/>
                      <a:round/>
                      <a:headEnd type="none" w="med" len="med"/>
                      <a:tailEnd type="none" w="med" len="med"/>
                    </a:lnT>
                    <a:lnB w="6350" cap="flat" cmpd="sng" algn="ctr">
                      <a:solidFill>
                        <a:srgbClr val="DCD3E8"/>
                      </a:solidFill>
                      <a:prstDash val="solid"/>
                      <a:round/>
                      <a:headEnd type="none" w="med" len="med"/>
                      <a:tailEnd type="none" w="med" len="med"/>
                    </a:lnB>
                    <a:solidFill>
                      <a:srgbClr val="FFFFFF"/>
                    </a:solidFill>
                  </a:tcPr>
                </a:tc>
                <a:tc>
                  <a:txBody>
                    <a:bodyPr/>
                    <a:lstStyle/>
                    <a:p>
                      <a:pPr indent="0" marL="0">
                        <a:buNone/>
                      </a:pPr>
                      <a:r>
                        <a:rPr lang="en-US" sz="950" dirty="0">
                          <a:solidFill>
                            <a:srgbClr val="2B2B3A"/>
                          </a:solidFill>
                          <a:latin typeface="Arial" pitchFamily="34" charset="0"/>
                          <a:ea typeface="Arial" pitchFamily="34" charset="-122"/>
                          <a:cs typeface="Arial" pitchFamily="34" charset="-120"/>
                        </a:rPr>
                        <a:t>10K+, 3.4 stars</a:t>
                      </a:r>
                      <a:endParaRPr lang="en-US" sz="950" dirty="0">
                        <a:latin typeface="Arial" charset="0"/>
                        <a:ea typeface="Arial" charset="0"/>
                        <a:cs typeface="Arial" charset="0"/>
                      </a:endParaRPr>
                    </a:p>
                  </a:txBody>
                  <a:tcPr marL="63500" marR="63500" marT="25400" marB="25400" anchor="ctr">
                    <a:lnL w="6350" cap="flat" cmpd="sng" algn="ctr">
                      <a:solidFill>
                        <a:srgbClr val="DCD3E8"/>
                      </a:solidFill>
                      <a:prstDash val="solid"/>
                      <a:round/>
                      <a:headEnd type="none" w="med" len="med"/>
                      <a:tailEnd type="none" w="med" len="med"/>
                    </a:lnL>
                    <a:lnR w="6350" cap="flat" cmpd="sng" algn="ctr">
                      <a:solidFill>
                        <a:srgbClr val="DCD3E8"/>
                      </a:solidFill>
                      <a:prstDash val="solid"/>
                      <a:round/>
                      <a:headEnd type="none" w="med" len="med"/>
                      <a:tailEnd type="none" w="med" len="med"/>
                    </a:lnR>
                    <a:lnT w="6350" cap="flat" cmpd="sng" algn="ctr">
                      <a:solidFill>
                        <a:srgbClr val="DCD3E8"/>
                      </a:solidFill>
                      <a:prstDash val="solid"/>
                      <a:round/>
                      <a:headEnd type="none" w="med" len="med"/>
                      <a:tailEnd type="none" w="med" len="med"/>
                    </a:lnT>
                    <a:lnB w="6350" cap="flat" cmpd="sng" algn="ctr">
                      <a:solidFill>
                        <a:srgbClr val="DCD3E8"/>
                      </a:solidFill>
                      <a:prstDash val="solid"/>
                      <a:round/>
                      <a:headEnd type="none" w="med" len="med"/>
                      <a:tailEnd type="none" w="med" len="med"/>
                    </a:lnB>
                    <a:solidFill>
                      <a:srgbClr val="FFFFFF"/>
                    </a:solidFill>
                  </a:tcPr>
                </a:tc>
              </a:tr>
              <a:tr h="384048">
                <a:tc>
                  <a:txBody>
                    <a:bodyPr/>
                    <a:lstStyle/>
                    <a:p>
                      <a:pPr indent="0" marL="0">
                        <a:buNone/>
                      </a:pPr>
                      <a:r>
                        <a:rPr lang="en-US" sz="950" b="1" dirty="0">
                          <a:solidFill>
                            <a:srgbClr val="2B2B3A"/>
                          </a:solidFill>
                          <a:latin typeface="Arial" pitchFamily="34" charset="0"/>
                          <a:ea typeface="Arial" pitchFamily="34" charset="-122"/>
                          <a:cs typeface="Arial" pitchFamily="34" charset="-120"/>
                        </a:rPr>
                        <a:t>Finqalab</a:t>
                      </a:r>
                      <a:endParaRPr lang="en-US" sz="950" dirty="0">
                        <a:latin typeface="Arial" charset="0"/>
                        <a:ea typeface="Arial" charset="0"/>
                        <a:cs typeface="Arial" charset="0"/>
                      </a:endParaRPr>
                    </a:p>
                  </a:txBody>
                  <a:tcPr marL="63500" marR="63500" marT="25400" marB="25400" anchor="ctr">
                    <a:lnL w="6350" cap="flat" cmpd="sng" algn="ctr">
                      <a:solidFill>
                        <a:srgbClr val="DCD3E8"/>
                      </a:solidFill>
                      <a:prstDash val="solid"/>
                      <a:round/>
                      <a:headEnd type="none" w="med" len="med"/>
                      <a:tailEnd type="none" w="med" len="med"/>
                    </a:lnL>
                    <a:lnR w="6350" cap="flat" cmpd="sng" algn="ctr">
                      <a:solidFill>
                        <a:srgbClr val="DCD3E8"/>
                      </a:solidFill>
                      <a:prstDash val="solid"/>
                      <a:round/>
                      <a:headEnd type="none" w="med" len="med"/>
                      <a:tailEnd type="none" w="med" len="med"/>
                    </a:lnR>
                    <a:lnT w="6350" cap="flat" cmpd="sng" algn="ctr">
                      <a:solidFill>
                        <a:srgbClr val="DCD3E8"/>
                      </a:solidFill>
                      <a:prstDash val="solid"/>
                      <a:round/>
                      <a:headEnd type="none" w="med" len="med"/>
                      <a:tailEnd type="none" w="med" len="med"/>
                    </a:lnT>
                    <a:lnB w="6350" cap="flat" cmpd="sng" algn="ctr">
                      <a:solidFill>
                        <a:srgbClr val="DCD3E8"/>
                      </a:solidFill>
                      <a:prstDash val="solid"/>
                      <a:round/>
                      <a:headEnd type="none" w="med" len="med"/>
                      <a:tailEnd type="none" w="med" len="med"/>
                    </a:lnB>
                    <a:solidFill>
                      <a:srgbClr val="FFFFFF"/>
                    </a:solidFill>
                  </a:tcPr>
                </a:tc>
                <a:tc>
                  <a:txBody>
                    <a:bodyPr/>
                    <a:lstStyle/>
                    <a:p>
                      <a:pPr indent="0" marL="0">
                        <a:buNone/>
                      </a:pPr>
                      <a:r>
                        <a:rPr lang="en-US" sz="950" dirty="0">
                          <a:solidFill>
                            <a:srgbClr val="2B2B3A"/>
                          </a:solidFill>
                          <a:latin typeface="Arial" pitchFamily="34" charset="0"/>
                          <a:ea typeface="Arial" pitchFamily="34" charset="-122"/>
                          <a:cs typeface="Arial" pitchFamily="34" charset="-120"/>
                        </a:rPr>
                        <a:t>"Financial freedom one click away"; easy funding</a:t>
                      </a:r>
                      <a:endParaRPr lang="en-US" sz="950" dirty="0">
                        <a:latin typeface="Arial" charset="0"/>
                        <a:ea typeface="Arial" charset="0"/>
                        <a:cs typeface="Arial" charset="0"/>
                      </a:endParaRPr>
                    </a:p>
                  </a:txBody>
                  <a:tcPr marL="63500" marR="63500" marT="25400" marB="25400" anchor="ctr">
                    <a:lnL w="6350" cap="flat" cmpd="sng" algn="ctr">
                      <a:solidFill>
                        <a:srgbClr val="DCD3E8"/>
                      </a:solidFill>
                      <a:prstDash val="solid"/>
                      <a:round/>
                      <a:headEnd type="none" w="med" len="med"/>
                      <a:tailEnd type="none" w="med" len="med"/>
                    </a:lnL>
                    <a:lnR w="6350" cap="flat" cmpd="sng" algn="ctr">
                      <a:solidFill>
                        <a:srgbClr val="DCD3E8"/>
                      </a:solidFill>
                      <a:prstDash val="solid"/>
                      <a:round/>
                      <a:headEnd type="none" w="med" len="med"/>
                      <a:tailEnd type="none" w="med" len="med"/>
                    </a:lnR>
                    <a:lnT w="6350" cap="flat" cmpd="sng" algn="ctr">
                      <a:solidFill>
                        <a:srgbClr val="DCD3E8"/>
                      </a:solidFill>
                      <a:prstDash val="solid"/>
                      <a:round/>
                      <a:headEnd type="none" w="med" len="med"/>
                      <a:tailEnd type="none" w="med" len="med"/>
                    </a:lnT>
                    <a:lnB w="6350" cap="flat" cmpd="sng" algn="ctr">
                      <a:solidFill>
                        <a:srgbClr val="DCD3E8"/>
                      </a:solidFill>
                      <a:prstDash val="solid"/>
                      <a:round/>
                      <a:headEnd type="none" w="med" len="med"/>
                      <a:tailEnd type="none" w="med" len="med"/>
                    </a:lnB>
                    <a:solidFill>
                      <a:srgbClr val="FFFFFF"/>
                    </a:solidFill>
                  </a:tcPr>
                </a:tc>
                <a:tc>
                  <a:txBody>
                    <a:bodyPr/>
                    <a:lstStyle/>
                    <a:p>
                      <a:pPr indent="0" marL="0">
                        <a:buNone/>
                      </a:pPr>
                      <a:r>
                        <a:rPr lang="en-US" sz="950" dirty="0">
                          <a:solidFill>
                            <a:srgbClr val="2B2B3A"/>
                          </a:solidFill>
                          <a:latin typeface="Arial" pitchFamily="34" charset="0"/>
                          <a:ea typeface="Arial" pitchFamily="34" charset="-122"/>
                          <a:cs typeface="Arial" pitchFamily="34" charset="-120"/>
                        </a:rPr>
                        <a:t>Website, app stores</a:t>
                      </a:r>
                      <a:endParaRPr lang="en-US" sz="950" dirty="0">
                        <a:latin typeface="Arial" charset="0"/>
                        <a:ea typeface="Arial" charset="0"/>
                        <a:cs typeface="Arial" charset="0"/>
                      </a:endParaRPr>
                    </a:p>
                  </a:txBody>
                  <a:tcPr marL="63500" marR="63500" marT="25400" marB="25400" anchor="ctr">
                    <a:lnL w="6350" cap="flat" cmpd="sng" algn="ctr">
                      <a:solidFill>
                        <a:srgbClr val="DCD3E8"/>
                      </a:solidFill>
                      <a:prstDash val="solid"/>
                      <a:round/>
                      <a:headEnd type="none" w="med" len="med"/>
                      <a:tailEnd type="none" w="med" len="med"/>
                    </a:lnL>
                    <a:lnR w="6350" cap="flat" cmpd="sng" algn="ctr">
                      <a:solidFill>
                        <a:srgbClr val="DCD3E8"/>
                      </a:solidFill>
                      <a:prstDash val="solid"/>
                      <a:round/>
                      <a:headEnd type="none" w="med" len="med"/>
                      <a:tailEnd type="none" w="med" len="med"/>
                    </a:lnR>
                    <a:lnT w="6350" cap="flat" cmpd="sng" algn="ctr">
                      <a:solidFill>
                        <a:srgbClr val="DCD3E8"/>
                      </a:solidFill>
                      <a:prstDash val="solid"/>
                      <a:round/>
                      <a:headEnd type="none" w="med" len="med"/>
                      <a:tailEnd type="none" w="med" len="med"/>
                    </a:lnT>
                    <a:lnB w="6350" cap="flat" cmpd="sng" algn="ctr">
                      <a:solidFill>
                        <a:srgbClr val="DCD3E8"/>
                      </a:solidFill>
                      <a:prstDash val="solid"/>
                      <a:round/>
                      <a:headEnd type="none" w="med" len="med"/>
                      <a:tailEnd type="none" w="med" len="med"/>
                    </a:lnB>
                    <a:solidFill>
                      <a:srgbClr val="FFFFFF"/>
                    </a:solidFill>
                  </a:tcPr>
                </a:tc>
                <a:tc>
                  <a:txBody>
                    <a:bodyPr/>
                    <a:lstStyle/>
                    <a:p>
                      <a:pPr indent="0" marL="0">
                        <a:buNone/>
                      </a:pPr>
                      <a:r>
                        <a:rPr lang="en-US" sz="950" dirty="0">
                          <a:solidFill>
                            <a:srgbClr val="2B2B3A"/>
                          </a:solidFill>
                          <a:latin typeface="Arial" pitchFamily="34" charset="0"/>
                          <a:ea typeface="Arial" pitchFamily="34" charset="-122"/>
                          <a:cs typeface="Arial" pitchFamily="34" charset="-120"/>
                        </a:rPr>
                        <a:t>50K+, 3.5 stars</a:t>
                      </a:r>
                      <a:endParaRPr lang="en-US" sz="950" dirty="0">
                        <a:latin typeface="Arial" charset="0"/>
                        <a:ea typeface="Arial" charset="0"/>
                        <a:cs typeface="Arial" charset="0"/>
                      </a:endParaRPr>
                    </a:p>
                  </a:txBody>
                  <a:tcPr marL="63500" marR="63500" marT="25400" marB="25400" anchor="ctr">
                    <a:lnL w="6350" cap="flat" cmpd="sng" algn="ctr">
                      <a:solidFill>
                        <a:srgbClr val="DCD3E8"/>
                      </a:solidFill>
                      <a:prstDash val="solid"/>
                      <a:round/>
                      <a:headEnd type="none" w="med" len="med"/>
                      <a:tailEnd type="none" w="med" len="med"/>
                    </a:lnL>
                    <a:lnR w="6350" cap="flat" cmpd="sng" algn="ctr">
                      <a:solidFill>
                        <a:srgbClr val="DCD3E8"/>
                      </a:solidFill>
                      <a:prstDash val="solid"/>
                      <a:round/>
                      <a:headEnd type="none" w="med" len="med"/>
                      <a:tailEnd type="none" w="med" len="med"/>
                    </a:lnR>
                    <a:lnT w="6350" cap="flat" cmpd="sng" algn="ctr">
                      <a:solidFill>
                        <a:srgbClr val="DCD3E8"/>
                      </a:solidFill>
                      <a:prstDash val="solid"/>
                      <a:round/>
                      <a:headEnd type="none" w="med" len="med"/>
                      <a:tailEnd type="none" w="med" len="med"/>
                    </a:lnT>
                    <a:lnB w="6350" cap="flat" cmpd="sng" algn="ctr">
                      <a:solidFill>
                        <a:srgbClr val="DCD3E8"/>
                      </a:solidFill>
                      <a:prstDash val="solid"/>
                      <a:round/>
                      <a:headEnd type="none" w="med" len="med"/>
                      <a:tailEnd type="none" w="med" len="med"/>
                    </a:lnB>
                    <a:solidFill>
                      <a:srgbClr val="FFFFFF"/>
                    </a:solidFill>
                  </a:tcPr>
                </a:tc>
              </a:tr>
              <a:tr h="384048">
                <a:tc>
                  <a:txBody>
                    <a:bodyPr/>
                    <a:lstStyle/>
                    <a:p>
                      <a:pPr indent="0" marL="0">
                        <a:buNone/>
                      </a:pPr>
                      <a:r>
                        <a:rPr lang="en-US" sz="950" b="1" dirty="0">
                          <a:solidFill>
                            <a:srgbClr val="2B2B3A"/>
                          </a:solidFill>
                          <a:latin typeface="Arial" pitchFamily="34" charset="0"/>
                          <a:ea typeface="Arial" pitchFamily="34" charset="-122"/>
                          <a:cs typeface="Arial" pitchFamily="34" charset="-120"/>
                        </a:rPr>
                        <a:t>AKD TradePro</a:t>
                      </a:r>
                      <a:endParaRPr lang="en-US" sz="950" dirty="0">
                        <a:latin typeface="Arial" charset="0"/>
                        <a:ea typeface="Arial" charset="0"/>
                        <a:cs typeface="Arial" charset="0"/>
                      </a:endParaRPr>
                    </a:p>
                  </a:txBody>
                  <a:tcPr marL="63500" marR="63500" marT="25400" marB="25400" anchor="ctr">
                    <a:lnL w="6350" cap="flat" cmpd="sng" algn="ctr">
                      <a:solidFill>
                        <a:srgbClr val="DCD3E8"/>
                      </a:solidFill>
                      <a:prstDash val="solid"/>
                      <a:round/>
                      <a:headEnd type="none" w="med" len="med"/>
                      <a:tailEnd type="none" w="med" len="med"/>
                    </a:lnL>
                    <a:lnR w="6350" cap="flat" cmpd="sng" algn="ctr">
                      <a:solidFill>
                        <a:srgbClr val="DCD3E8"/>
                      </a:solidFill>
                      <a:prstDash val="solid"/>
                      <a:round/>
                      <a:headEnd type="none" w="med" len="med"/>
                      <a:tailEnd type="none" w="med" len="med"/>
                    </a:lnR>
                    <a:lnT w="6350" cap="flat" cmpd="sng" algn="ctr">
                      <a:solidFill>
                        <a:srgbClr val="DCD3E8"/>
                      </a:solidFill>
                      <a:prstDash val="solid"/>
                      <a:round/>
                      <a:headEnd type="none" w="med" len="med"/>
                      <a:tailEnd type="none" w="med" len="med"/>
                    </a:lnT>
                    <a:lnB w="6350" cap="flat" cmpd="sng" algn="ctr">
                      <a:solidFill>
                        <a:srgbClr val="DCD3E8"/>
                      </a:solidFill>
                      <a:prstDash val="solid"/>
                      <a:round/>
                      <a:headEnd type="none" w="med" len="med"/>
                      <a:tailEnd type="none" w="med" len="med"/>
                    </a:lnB>
                    <a:solidFill>
                      <a:srgbClr val="FFFFFF"/>
                    </a:solidFill>
                  </a:tcPr>
                </a:tc>
                <a:tc>
                  <a:txBody>
                    <a:bodyPr/>
                    <a:lstStyle/>
                    <a:p>
                      <a:pPr indent="0" marL="0">
                        <a:buNone/>
                      </a:pPr>
                      <a:r>
                        <a:rPr lang="en-US" sz="950" dirty="0">
                          <a:solidFill>
                            <a:srgbClr val="2B2B3A"/>
                          </a:solidFill>
                          <a:latin typeface="Arial" pitchFamily="34" charset="0"/>
                          <a:ea typeface="Arial" pitchFamily="34" charset="-122"/>
                          <a:cs typeface="Arial" pitchFamily="34" charset="-120"/>
                        </a:rPr>
                        <a:t>Speed and tools for active traders</a:t>
                      </a:r>
                      <a:endParaRPr lang="en-US" sz="950" dirty="0">
                        <a:latin typeface="Arial" charset="0"/>
                        <a:ea typeface="Arial" charset="0"/>
                        <a:cs typeface="Arial" charset="0"/>
                      </a:endParaRPr>
                    </a:p>
                  </a:txBody>
                  <a:tcPr marL="63500" marR="63500" marT="25400" marB="25400" anchor="ctr">
                    <a:lnL w="6350" cap="flat" cmpd="sng" algn="ctr">
                      <a:solidFill>
                        <a:srgbClr val="DCD3E8"/>
                      </a:solidFill>
                      <a:prstDash val="solid"/>
                      <a:round/>
                      <a:headEnd type="none" w="med" len="med"/>
                      <a:tailEnd type="none" w="med" len="med"/>
                    </a:lnL>
                    <a:lnR w="6350" cap="flat" cmpd="sng" algn="ctr">
                      <a:solidFill>
                        <a:srgbClr val="DCD3E8"/>
                      </a:solidFill>
                      <a:prstDash val="solid"/>
                      <a:round/>
                      <a:headEnd type="none" w="med" len="med"/>
                      <a:tailEnd type="none" w="med" len="med"/>
                    </a:lnR>
                    <a:lnT w="6350" cap="flat" cmpd="sng" algn="ctr">
                      <a:solidFill>
                        <a:srgbClr val="DCD3E8"/>
                      </a:solidFill>
                      <a:prstDash val="solid"/>
                      <a:round/>
                      <a:headEnd type="none" w="med" len="med"/>
                      <a:tailEnd type="none" w="med" len="med"/>
                    </a:lnT>
                    <a:lnB w="6350" cap="flat" cmpd="sng" algn="ctr">
                      <a:solidFill>
                        <a:srgbClr val="DCD3E8"/>
                      </a:solidFill>
                      <a:prstDash val="solid"/>
                      <a:round/>
                      <a:headEnd type="none" w="med" len="med"/>
                      <a:tailEnd type="none" w="med" len="med"/>
                    </a:lnB>
                    <a:solidFill>
                      <a:srgbClr val="FFFFFF"/>
                    </a:solidFill>
                  </a:tcPr>
                </a:tc>
                <a:tc>
                  <a:txBody>
                    <a:bodyPr/>
                    <a:lstStyle/>
                    <a:p>
                      <a:pPr indent="0" marL="0">
                        <a:buNone/>
                      </a:pPr>
                      <a:r>
                        <a:rPr lang="en-US" sz="950" dirty="0">
                          <a:solidFill>
                            <a:srgbClr val="2B2B3A"/>
                          </a:solidFill>
                          <a:latin typeface="Arial" pitchFamily="34" charset="0"/>
                          <a:ea typeface="Arial" pitchFamily="34" charset="-122"/>
                          <a:cs typeface="Arial" pitchFamily="34" charset="-120"/>
                        </a:rPr>
                        <a:t>App stores, website</a:t>
                      </a:r>
                      <a:endParaRPr lang="en-US" sz="950" dirty="0">
                        <a:latin typeface="Arial" charset="0"/>
                        <a:ea typeface="Arial" charset="0"/>
                        <a:cs typeface="Arial" charset="0"/>
                      </a:endParaRPr>
                    </a:p>
                  </a:txBody>
                  <a:tcPr marL="63500" marR="63500" marT="25400" marB="25400" anchor="ctr">
                    <a:lnL w="6350" cap="flat" cmpd="sng" algn="ctr">
                      <a:solidFill>
                        <a:srgbClr val="DCD3E8"/>
                      </a:solidFill>
                      <a:prstDash val="solid"/>
                      <a:round/>
                      <a:headEnd type="none" w="med" len="med"/>
                      <a:tailEnd type="none" w="med" len="med"/>
                    </a:lnL>
                    <a:lnR w="6350" cap="flat" cmpd="sng" algn="ctr">
                      <a:solidFill>
                        <a:srgbClr val="DCD3E8"/>
                      </a:solidFill>
                      <a:prstDash val="solid"/>
                      <a:round/>
                      <a:headEnd type="none" w="med" len="med"/>
                      <a:tailEnd type="none" w="med" len="med"/>
                    </a:lnR>
                    <a:lnT w="6350" cap="flat" cmpd="sng" algn="ctr">
                      <a:solidFill>
                        <a:srgbClr val="DCD3E8"/>
                      </a:solidFill>
                      <a:prstDash val="solid"/>
                      <a:round/>
                      <a:headEnd type="none" w="med" len="med"/>
                      <a:tailEnd type="none" w="med" len="med"/>
                    </a:lnT>
                    <a:lnB w="6350" cap="flat" cmpd="sng" algn="ctr">
                      <a:solidFill>
                        <a:srgbClr val="DCD3E8"/>
                      </a:solidFill>
                      <a:prstDash val="solid"/>
                      <a:round/>
                      <a:headEnd type="none" w="med" len="med"/>
                      <a:tailEnd type="none" w="med" len="med"/>
                    </a:lnB>
                    <a:solidFill>
                      <a:srgbClr val="FFFFFF"/>
                    </a:solidFill>
                  </a:tcPr>
                </a:tc>
                <a:tc>
                  <a:txBody>
                    <a:bodyPr/>
                    <a:lstStyle/>
                    <a:p>
                      <a:pPr indent="0" marL="0">
                        <a:buNone/>
                      </a:pPr>
                      <a:r>
                        <a:rPr lang="en-US" sz="950" dirty="0">
                          <a:solidFill>
                            <a:srgbClr val="2B2B3A"/>
                          </a:solidFill>
                          <a:latin typeface="Arial" pitchFamily="34" charset="0"/>
                          <a:ea typeface="Arial" pitchFamily="34" charset="-122"/>
                          <a:cs typeface="Arial" pitchFamily="34" charset="-120"/>
                        </a:rPr>
                        <a:t>100K+, 4.4 stars</a:t>
                      </a:r>
                      <a:endParaRPr lang="en-US" sz="950" dirty="0">
                        <a:latin typeface="Arial" charset="0"/>
                        <a:ea typeface="Arial" charset="0"/>
                        <a:cs typeface="Arial" charset="0"/>
                      </a:endParaRPr>
                    </a:p>
                  </a:txBody>
                  <a:tcPr marL="63500" marR="63500" marT="25400" marB="25400" anchor="ctr">
                    <a:lnL w="6350" cap="flat" cmpd="sng" algn="ctr">
                      <a:solidFill>
                        <a:srgbClr val="DCD3E8"/>
                      </a:solidFill>
                      <a:prstDash val="solid"/>
                      <a:round/>
                      <a:headEnd type="none" w="med" len="med"/>
                      <a:tailEnd type="none" w="med" len="med"/>
                    </a:lnL>
                    <a:lnR w="6350" cap="flat" cmpd="sng" algn="ctr">
                      <a:solidFill>
                        <a:srgbClr val="DCD3E8"/>
                      </a:solidFill>
                      <a:prstDash val="solid"/>
                      <a:round/>
                      <a:headEnd type="none" w="med" len="med"/>
                      <a:tailEnd type="none" w="med" len="med"/>
                    </a:lnR>
                    <a:lnT w="6350" cap="flat" cmpd="sng" algn="ctr">
                      <a:solidFill>
                        <a:srgbClr val="DCD3E8"/>
                      </a:solidFill>
                      <a:prstDash val="solid"/>
                      <a:round/>
                      <a:headEnd type="none" w="med" len="med"/>
                      <a:tailEnd type="none" w="med" len="med"/>
                    </a:lnT>
                    <a:lnB w="6350" cap="flat" cmpd="sng" algn="ctr">
                      <a:solidFill>
                        <a:srgbClr val="DCD3E8"/>
                      </a:solidFill>
                      <a:prstDash val="solid"/>
                      <a:round/>
                      <a:headEnd type="none" w="med" len="med"/>
                      <a:tailEnd type="none" w="med" len="med"/>
                    </a:lnB>
                    <a:solidFill>
                      <a:srgbClr val="FFFFFF"/>
                    </a:solidFill>
                  </a:tcPr>
                </a:tc>
              </a:tr>
              <a:tr h="384048">
                <a:tc>
                  <a:txBody>
                    <a:bodyPr/>
                    <a:lstStyle/>
                    <a:p>
                      <a:pPr indent="0" marL="0">
                        <a:buNone/>
                      </a:pPr>
                      <a:r>
                        <a:rPr lang="en-US" sz="950" b="1" dirty="0">
                          <a:solidFill>
                            <a:srgbClr val="2B2B3A"/>
                          </a:solidFill>
                          <a:latin typeface="Arial" pitchFamily="34" charset="0"/>
                          <a:ea typeface="Arial" pitchFamily="34" charset="-122"/>
                          <a:cs typeface="Arial" pitchFamily="34" charset="-120"/>
                        </a:rPr>
                        <a:t>Arif Habib (AHL)</a:t>
                      </a:r>
                      <a:endParaRPr lang="en-US" sz="950" dirty="0">
                        <a:latin typeface="Arial" charset="0"/>
                        <a:ea typeface="Arial" charset="0"/>
                        <a:cs typeface="Arial" charset="0"/>
                      </a:endParaRPr>
                    </a:p>
                  </a:txBody>
                  <a:tcPr marL="63500" marR="63500" marT="25400" marB="25400" anchor="ctr">
                    <a:lnL w="6350" cap="flat" cmpd="sng" algn="ctr">
                      <a:solidFill>
                        <a:srgbClr val="DCD3E8"/>
                      </a:solidFill>
                      <a:prstDash val="solid"/>
                      <a:round/>
                      <a:headEnd type="none" w="med" len="med"/>
                      <a:tailEnd type="none" w="med" len="med"/>
                    </a:lnL>
                    <a:lnR w="6350" cap="flat" cmpd="sng" algn="ctr">
                      <a:solidFill>
                        <a:srgbClr val="DCD3E8"/>
                      </a:solidFill>
                      <a:prstDash val="solid"/>
                      <a:round/>
                      <a:headEnd type="none" w="med" len="med"/>
                      <a:tailEnd type="none" w="med" len="med"/>
                    </a:lnR>
                    <a:lnT w="6350" cap="flat" cmpd="sng" algn="ctr">
                      <a:solidFill>
                        <a:srgbClr val="DCD3E8"/>
                      </a:solidFill>
                      <a:prstDash val="solid"/>
                      <a:round/>
                      <a:headEnd type="none" w="med" len="med"/>
                      <a:tailEnd type="none" w="med" len="med"/>
                    </a:lnT>
                    <a:lnB w="6350" cap="flat" cmpd="sng" algn="ctr">
                      <a:solidFill>
                        <a:srgbClr val="DCD3E8"/>
                      </a:solidFill>
                      <a:prstDash val="solid"/>
                      <a:round/>
                      <a:headEnd type="none" w="med" len="med"/>
                      <a:tailEnd type="none" w="med" len="med"/>
                    </a:lnB>
                    <a:solidFill>
                      <a:srgbClr val="FFFFFF"/>
                    </a:solidFill>
                  </a:tcPr>
                </a:tc>
                <a:tc>
                  <a:txBody>
                    <a:bodyPr/>
                    <a:lstStyle/>
                    <a:p>
                      <a:pPr indent="0" marL="0">
                        <a:buNone/>
                      </a:pPr>
                      <a:r>
                        <a:rPr lang="en-US" sz="950" dirty="0">
                          <a:solidFill>
                            <a:srgbClr val="2B2B3A"/>
                          </a:solidFill>
                          <a:latin typeface="Arial" pitchFamily="34" charset="0"/>
                          <a:ea typeface="Arial" pitchFamily="34" charset="-122"/>
                          <a:cs typeface="Arial" pitchFamily="34" charset="-120"/>
                        </a:rPr>
                        <a:t>Open a Sahulat account through the app</a:t>
                      </a:r>
                      <a:endParaRPr lang="en-US" sz="950" dirty="0">
                        <a:latin typeface="Arial" charset="0"/>
                        <a:ea typeface="Arial" charset="0"/>
                        <a:cs typeface="Arial" charset="0"/>
                      </a:endParaRPr>
                    </a:p>
                  </a:txBody>
                  <a:tcPr marL="63500" marR="63500" marT="25400" marB="25400" anchor="ctr">
                    <a:lnL w="6350" cap="flat" cmpd="sng" algn="ctr">
                      <a:solidFill>
                        <a:srgbClr val="DCD3E8"/>
                      </a:solidFill>
                      <a:prstDash val="solid"/>
                      <a:round/>
                      <a:headEnd type="none" w="med" len="med"/>
                      <a:tailEnd type="none" w="med" len="med"/>
                    </a:lnL>
                    <a:lnR w="6350" cap="flat" cmpd="sng" algn="ctr">
                      <a:solidFill>
                        <a:srgbClr val="DCD3E8"/>
                      </a:solidFill>
                      <a:prstDash val="solid"/>
                      <a:round/>
                      <a:headEnd type="none" w="med" len="med"/>
                      <a:tailEnd type="none" w="med" len="med"/>
                    </a:lnR>
                    <a:lnT w="6350" cap="flat" cmpd="sng" algn="ctr">
                      <a:solidFill>
                        <a:srgbClr val="DCD3E8"/>
                      </a:solidFill>
                      <a:prstDash val="solid"/>
                      <a:round/>
                      <a:headEnd type="none" w="med" len="med"/>
                      <a:tailEnd type="none" w="med" len="med"/>
                    </a:lnT>
                    <a:lnB w="6350" cap="flat" cmpd="sng" algn="ctr">
                      <a:solidFill>
                        <a:srgbClr val="DCD3E8"/>
                      </a:solidFill>
                      <a:prstDash val="solid"/>
                      <a:round/>
                      <a:headEnd type="none" w="med" len="med"/>
                      <a:tailEnd type="none" w="med" len="med"/>
                    </a:lnB>
                    <a:solidFill>
                      <a:srgbClr val="FFFFFF"/>
                    </a:solidFill>
                  </a:tcPr>
                </a:tc>
                <a:tc>
                  <a:txBody>
                    <a:bodyPr/>
                    <a:lstStyle/>
                    <a:p>
                      <a:pPr indent="0" marL="0">
                        <a:buNone/>
                      </a:pPr>
                      <a:r>
                        <a:rPr lang="en-US" sz="950" dirty="0">
                          <a:solidFill>
                            <a:srgbClr val="2B2B3A"/>
                          </a:solidFill>
                          <a:latin typeface="Arial" pitchFamily="34" charset="0"/>
                          <a:ea typeface="Arial" pitchFamily="34" charset="-122"/>
                          <a:cs typeface="Arial" pitchFamily="34" charset="-120"/>
                        </a:rPr>
                        <a:t>Facebook video tutorials, X</a:t>
                      </a:r>
                      <a:endParaRPr lang="en-US" sz="950" dirty="0">
                        <a:latin typeface="Arial" charset="0"/>
                        <a:ea typeface="Arial" charset="0"/>
                        <a:cs typeface="Arial" charset="0"/>
                      </a:endParaRPr>
                    </a:p>
                  </a:txBody>
                  <a:tcPr marL="63500" marR="63500" marT="25400" marB="25400" anchor="ctr">
                    <a:lnL w="6350" cap="flat" cmpd="sng" algn="ctr">
                      <a:solidFill>
                        <a:srgbClr val="DCD3E8"/>
                      </a:solidFill>
                      <a:prstDash val="solid"/>
                      <a:round/>
                      <a:headEnd type="none" w="med" len="med"/>
                      <a:tailEnd type="none" w="med" len="med"/>
                    </a:lnL>
                    <a:lnR w="6350" cap="flat" cmpd="sng" algn="ctr">
                      <a:solidFill>
                        <a:srgbClr val="DCD3E8"/>
                      </a:solidFill>
                      <a:prstDash val="solid"/>
                      <a:round/>
                      <a:headEnd type="none" w="med" len="med"/>
                      <a:tailEnd type="none" w="med" len="med"/>
                    </a:lnR>
                    <a:lnT w="6350" cap="flat" cmpd="sng" algn="ctr">
                      <a:solidFill>
                        <a:srgbClr val="DCD3E8"/>
                      </a:solidFill>
                      <a:prstDash val="solid"/>
                      <a:round/>
                      <a:headEnd type="none" w="med" len="med"/>
                      <a:tailEnd type="none" w="med" len="med"/>
                    </a:lnT>
                    <a:lnB w="6350" cap="flat" cmpd="sng" algn="ctr">
                      <a:solidFill>
                        <a:srgbClr val="DCD3E8"/>
                      </a:solidFill>
                      <a:prstDash val="solid"/>
                      <a:round/>
                      <a:headEnd type="none" w="med" len="med"/>
                      <a:tailEnd type="none" w="med" len="med"/>
                    </a:lnB>
                    <a:solidFill>
                      <a:srgbClr val="FFFFFF"/>
                    </a:solidFill>
                  </a:tcPr>
                </a:tc>
                <a:tc>
                  <a:txBody>
                    <a:bodyPr/>
                    <a:lstStyle/>
                    <a:p>
                      <a:pPr indent="0" marL="0">
                        <a:buNone/>
                      </a:pPr>
                      <a:r>
                        <a:rPr lang="en-US" sz="950" dirty="0">
                          <a:solidFill>
                            <a:srgbClr val="2B2B3A"/>
                          </a:solidFill>
                          <a:latin typeface="Arial" pitchFamily="34" charset="0"/>
                          <a:ea typeface="Arial" pitchFamily="34" charset="-122"/>
                          <a:cs typeface="Arial" pitchFamily="34" charset="-120"/>
                        </a:rPr>
                        <a:t>Two apps</a:t>
                      </a:r>
                      <a:endParaRPr lang="en-US" sz="950" dirty="0">
                        <a:latin typeface="Arial" charset="0"/>
                        <a:ea typeface="Arial" charset="0"/>
                        <a:cs typeface="Arial" charset="0"/>
                      </a:endParaRPr>
                    </a:p>
                  </a:txBody>
                  <a:tcPr marL="63500" marR="63500" marT="25400" marB="25400" anchor="ctr">
                    <a:lnL w="6350" cap="flat" cmpd="sng" algn="ctr">
                      <a:solidFill>
                        <a:srgbClr val="DCD3E8"/>
                      </a:solidFill>
                      <a:prstDash val="solid"/>
                      <a:round/>
                      <a:headEnd type="none" w="med" len="med"/>
                      <a:tailEnd type="none" w="med" len="med"/>
                    </a:lnL>
                    <a:lnR w="6350" cap="flat" cmpd="sng" algn="ctr">
                      <a:solidFill>
                        <a:srgbClr val="DCD3E8"/>
                      </a:solidFill>
                      <a:prstDash val="solid"/>
                      <a:round/>
                      <a:headEnd type="none" w="med" len="med"/>
                      <a:tailEnd type="none" w="med" len="med"/>
                    </a:lnR>
                    <a:lnT w="6350" cap="flat" cmpd="sng" algn="ctr">
                      <a:solidFill>
                        <a:srgbClr val="DCD3E8"/>
                      </a:solidFill>
                      <a:prstDash val="solid"/>
                      <a:round/>
                      <a:headEnd type="none" w="med" len="med"/>
                      <a:tailEnd type="none" w="med" len="med"/>
                    </a:lnT>
                    <a:lnB w="6350" cap="flat" cmpd="sng" algn="ctr">
                      <a:solidFill>
                        <a:srgbClr val="DCD3E8"/>
                      </a:solidFill>
                      <a:prstDash val="solid"/>
                      <a:round/>
                      <a:headEnd type="none" w="med" len="med"/>
                      <a:tailEnd type="none" w="med" len="med"/>
                    </a:lnB>
                    <a:solidFill>
                      <a:srgbClr val="FFFFFF"/>
                    </a:solidFill>
                  </a:tcPr>
                </a:tc>
              </a:tr>
              <a:tr h="384048">
                <a:tc>
                  <a:txBody>
                    <a:bodyPr/>
                    <a:lstStyle/>
                    <a:p>
                      <a:pPr indent="0" marL="0">
                        <a:buNone/>
                      </a:pPr>
                      <a:r>
                        <a:rPr lang="en-US" sz="950" b="1" dirty="0">
                          <a:solidFill>
                            <a:srgbClr val="2B2B3A"/>
                          </a:solidFill>
                          <a:latin typeface="Arial" pitchFamily="34" charset="0"/>
                          <a:ea typeface="Arial" pitchFamily="34" charset="-122"/>
                          <a:cs typeface="Arial" pitchFamily="34" charset="-120"/>
                        </a:rPr>
                        <a:t>Mahaana (funds)</a:t>
                      </a:r>
                      <a:endParaRPr lang="en-US" sz="950" dirty="0">
                        <a:latin typeface="Arial" charset="0"/>
                        <a:ea typeface="Arial" charset="0"/>
                        <a:cs typeface="Arial" charset="0"/>
                      </a:endParaRPr>
                    </a:p>
                  </a:txBody>
                  <a:tcPr marL="63500" marR="63500" marT="25400" marB="25400" anchor="ctr">
                    <a:lnL w="6350" cap="flat" cmpd="sng" algn="ctr">
                      <a:solidFill>
                        <a:srgbClr val="DCD3E8"/>
                      </a:solidFill>
                      <a:prstDash val="solid"/>
                      <a:round/>
                      <a:headEnd type="none" w="med" len="med"/>
                      <a:tailEnd type="none" w="med" len="med"/>
                    </a:lnL>
                    <a:lnR w="6350" cap="flat" cmpd="sng" algn="ctr">
                      <a:solidFill>
                        <a:srgbClr val="DCD3E8"/>
                      </a:solidFill>
                      <a:prstDash val="solid"/>
                      <a:round/>
                      <a:headEnd type="none" w="med" len="med"/>
                      <a:tailEnd type="none" w="med" len="med"/>
                    </a:lnR>
                    <a:lnT w="6350" cap="flat" cmpd="sng" algn="ctr">
                      <a:solidFill>
                        <a:srgbClr val="DCD3E8"/>
                      </a:solidFill>
                      <a:prstDash val="solid"/>
                      <a:round/>
                      <a:headEnd type="none" w="med" len="med"/>
                      <a:tailEnd type="none" w="med" len="med"/>
                    </a:lnT>
                    <a:lnB w="6350" cap="flat" cmpd="sng" algn="ctr">
                      <a:solidFill>
                        <a:srgbClr val="DCD3E8"/>
                      </a:solidFill>
                      <a:prstDash val="solid"/>
                      <a:round/>
                      <a:headEnd type="none" w="med" len="med"/>
                      <a:tailEnd type="none" w="med" len="med"/>
                    </a:lnB>
                    <a:solidFill>
                      <a:srgbClr val="FFFFFF"/>
                    </a:solidFill>
                  </a:tcPr>
                </a:tc>
                <a:tc>
                  <a:txBody>
                    <a:bodyPr/>
                    <a:lstStyle/>
                    <a:p>
                      <a:pPr indent="0" marL="0">
                        <a:buNone/>
                      </a:pPr>
                      <a:r>
                        <a:rPr lang="en-US" sz="950" dirty="0">
                          <a:solidFill>
                            <a:srgbClr val="2B2B3A"/>
                          </a:solidFill>
                          <a:latin typeface="Arial" pitchFamily="34" charset="0"/>
                          <a:ea typeface="Arial" pitchFamily="34" charset="-122"/>
                          <a:cs typeface="Arial" pitchFamily="34" charset="-120"/>
                        </a:rPr>
                        <a:t>Open in 10 minutes, from Rs 1,000, Shariah</a:t>
                      </a:r>
                      <a:endParaRPr lang="en-US" sz="950" dirty="0">
                        <a:latin typeface="Arial" charset="0"/>
                        <a:ea typeface="Arial" charset="0"/>
                        <a:cs typeface="Arial" charset="0"/>
                      </a:endParaRPr>
                    </a:p>
                  </a:txBody>
                  <a:tcPr marL="63500" marR="63500" marT="25400" marB="25400" anchor="ctr">
                    <a:lnL w="6350" cap="flat" cmpd="sng" algn="ctr">
                      <a:solidFill>
                        <a:srgbClr val="DCD3E8"/>
                      </a:solidFill>
                      <a:prstDash val="solid"/>
                      <a:round/>
                      <a:headEnd type="none" w="med" len="med"/>
                      <a:tailEnd type="none" w="med" len="med"/>
                    </a:lnL>
                    <a:lnR w="6350" cap="flat" cmpd="sng" algn="ctr">
                      <a:solidFill>
                        <a:srgbClr val="DCD3E8"/>
                      </a:solidFill>
                      <a:prstDash val="solid"/>
                      <a:round/>
                      <a:headEnd type="none" w="med" len="med"/>
                      <a:tailEnd type="none" w="med" len="med"/>
                    </a:lnR>
                    <a:lnT w="6350" cap="flat" cmpd="sng" algn="ctr">
                      <a:solidFill>
                        <a:srgbClr val="DCD3E8"/>
                      </a:solidFill>
                      <a:prstDash val="solid"/>
                      <a:round/>
                      <a:headEnd type="none" w="med" len="med"/>
                      <a:tailEnd type="none" w="med" len="med"/>
                    </a:lnT>
                    <a:lnB w="6350" cap="flat" cmpd="sng" algn="ctr">
                      <a:solidFill>
                        <a:srgbClr val="DCD3E8"/>
                      </a:solidFill>
                      <a:prstDash val="solid"/>
                      <a:round/>
                      <a:headEnd type="none" w="med" len="med"/>
                      <a:tailEnd type="none" w="med" len="med"/>
                    </a:lnB>
                    <a:solidFill>
                      <a:srgbClr val="FFFFFF"/>
                    </a:solidFill>
                  </a:tcPr>
                </a:tc>
                <a:tc>
                  <a:txBody>
                    <a:bodyPr/>
                    <a:lstStyle/>
                    <a:p>
                      <a:pPr indent="0" marL="0">
                        <a:buNone/>
                      </a:pPr>
                      <a:r>
                        <a:rPr lang="en-US" sz="950" dirty="0">
                          <a:solidFill>
                            <a:srgbClr val="2B2B3A"/>
                          </a:solidFill>
                          <a:latin typeface="Arial" pitchFamily="34" charset="0"/>
                          <a:ea typeface="Arial" pitchFamily="34" charset="-122"/>
                          <a:cs typeface="Arial" pitchFamily="34" charset="-120"/>
                        </a:rPr>
                        <a:t>Website, app stores</a:t>
                      </a:r>
                      <a:endParaRPr lang="en-US" sz="950" dirty="0">
                        <a:latin typeface="Arial" charset="0"/>
                        <a:ea typeface="Arial" charset="0"/>
                        <a:cs typeface="Arial" charset="0"/>
                      </a:endParaRPr>
                    </a:p>
                  </a:txBody>
                  <a:tcPr marL="63500" marR="63500" marT="25400" marB="25400" anchor="ctr">
                    <a:lnL w="6350" cap="flat" cmpd="sng" algn="ctr">
                      <a:solidFill>
                        <a:srgbClr val="DCD3E8"/>
                      </a:solidFill>
                      <a:prstDash val="solid"/>
                      <a:round/>
                      <a:headEnd type="none" w="med" len="med"/>
                      <a:tailEnd type="none" w="med" len="med"/>
                    </a:lnL>
                    <a:lnR w="6350" cap="flat" cmpd="sng" algn="ctr">
                      <a:solidFill>
                        <a:srgbClr val="DCD3E8"/>
                      </a:solidFill>
                      <a:prstDash val="solid"/>
                      <a:round/>
                      <a:headEnd type="none" w="med" len="med"/>
                      <a:tailEnd type="none" w="med" len="med"/>
                    </a:lnR>
                    <a:lnT w="6350" cap="flat" cmpd="sng" algn="ctr">
                      <a:solidFill>
                        <a:srgbClr val="DCD3E8"/>
                      </a:solidFill>
                      <a:prstDash val="solid"/>
                      <a:round/>
                      <a:headEnd type="none" w="med" len="med"/>
                      <a:tailEnd type="none" w="med" len="med"/>
                    </a:lnT>
                    <a:lnB w="6350" cap="flat" cmpd="sng" algn="ctr">
                      <a:solidFill>
                        <a:srgbClr val="DCD3E8"/>
                      </a:solidFill>
                      <a:prstDash val="solid"/>
                      <a:round/>
                      <a:headEnd type="none" w="med" len="med"/>
                      <a:tailEnd type="none" w="med" len="med"/>
                    </a:lnB>
                    <a:solidFill>
                      <a:srgbClr val="FFFFFF"/>
                    </a:solidFill>
                  </a:tcPr>
                </a:tc>
                <a:tc>
                  <a:txBody>
                    <a:bodyPr/>
                    <a:lstStyle/>
                    <a:p>
                      <a:pPr indent="0" marL="0">
                        <a:buNone/>
                      </a:pPr>
                      <a:r>
                        <a:rPr lang="en-US" sz="950" dirty="0">
                          <a:solidFill>
                            <a:srgbClr val="2B2B3A"/>
                          </a:solidFill>
                          <a:latin typeface="Arial" pitchFamily="34" charset="0"/>
                          <a:ea typeface="Arial" pitchFamily="34" charset="-122"/>
                          <a:cs typeface="Arial" pitchFamily="34" charset="-120"/>
                        </a:rPr>
                        <a:t>10,000+ users</a:t>
                      </a:r>
                      <a:endParaRPr lang="en-US" sz="950" dirty="0">
                        <a:latin typeface="Arial" charset="0"/>
                        <a:ea typeface="Arial" charset="0"/>
                        <a:cs typeface="Arial" charset="0"/>
                      </a:endParaRPr>
                    </a:p>
                  </a:txBody>
                  <a:tcPr marL="63500" marR="63500" marT="25400" marB="25400" anchor="ctr">
                    <a:lnL w="6350" cap="flat" cmpd="sng" algn="ctr">
                      <a:solidFill>
                        <a:srgbClr val="DCD3E8"/>
                      </a:solidFill>
                      <a:prstDash val="solid"/>
                      <a:round/>
                      <a:headEnd type="none" w="med" len="med"/>
                      <a:tailEnd type="none" w="med" len="med"/>
                    </a:lnL>
                    <a:lnR w="6350" cap="flat" cmpd="sng" algn="ctr">
                      <a:solidFill>
                        <a:srgbClr val="DCD3E8"/>
                      </a:solidFill>
                      <a:prstDash val="solid"/>
                      <a:round/>
                      <a:headEnd type="none" w="med" len="med"/>
                      <a:tailEnd type="none" w="med" len="med"/>
                    </a:lnR>
                    <a:lnT w="6350" cap="flat" cmpd="sng" algn="ctr">
                      <a:solidFill>
                        <a:srgbClr val="DCD3E8"/>
                      </a:solidFill>
                      <a:prstDash val="solid"/>
                      <a:round/>
                      <a:headEnd type="none" w="med" len="med"/>
                      <a:tailEnd type="none" w="med" len="med"/>
                    </a:lnT>
                    <a:lnB w="6350" cap="flat" cmpd="sng" algn="ctr">
                      <a:solidFill>
                        <a:srgbClr val="DCD3E8"/>
                      </a:solidFill>
                      <a:prstDash val="solid"/>
                      <a:round/>
                      <a:headEnd type="none" w="med" len="med"/>
                      <a:tailEnd type="none" w="med" len="med"/>
                    </a:lnB>
                    <a:solidFill>
                      <a:srgbClr val="FFFFFF"/>
                    </a:solidFill>
                  </a:tcPr>
                </a:tc>
              </a:tr>
              <a:tr h="384048">
                <a:tc>
                  <a:txBody>
                    <a:bodyPr/>
                    <a:lstStyle/>
                    <a:p>
                      <a:pPr indent="0" marL="0">
                        <a:buNone/>
                      </a:pPr>
                      <a:r>
                        <a:rPr lang="en-US" sz="950" b="1" dirty="0">
                          <a:solidFill>
                            <a:srgbClr val="4F7A00"/>
                          </a:solidFill>
                          <a:latin typeface="Arial" pitchFamily="34" charset="0"/>
                          <a:ea typeface="Arial" pitchFamily="34" charset="-122"/>
                          <a:cs typeface="Arial" pitchFamily="34" charset="-120"/>
                        </a:rPr>
                        <a:t>AHCML GROW</a:t>
                      </a:r>
                      <a:endParaRPr lang="en-US" sz="950" dirty="0">
                        <a:latin typeface="Arial" charset="0"/>
                        <a:ea typeface="Arial" charset="0"/>
                        <a:cs typeface="Arial" charset="0"/>
                      </a:endParaRPr>
                    </a:p>
                  </a:txBody>
                  <a:tcPr marL="63500" marR="63500" marT="25400" marB="25400" anchor="ctr">
                    <a:lnL w="6350" cap="flat" cmpd="sng" algn="ctr">
                      <a:solidFill>
                        <a:srgbClr val="DCD3E8"/>
                      </a:solidFill>
                      <a:prstDash val="solid"/>
                      <a:round/>
                      <a:headEnd type="none" w="med" len="med"/>
                      <a:tailEnd type="none" w="med" len="med"/>
                    </a:lnL>
                    <a:lnR w="6350" cap="flat" cmpd="sng" algn="ctr">
                      <a:solidFill>
                        <a:srgbClr val="DCD3E8"/>
                      </a:solidFill>
                      <a:prstDash val="solid"/>
                      <a:round/>
                      <a:headEnd type="none" w="med" len="med"/>
                      <a:tailEnd type="none" w="med" len="med"/>
                    </a:lnR>
                    <a:lnT w="6350" cap="flat" cmpd="sng" algn="ctr">
                      <a:solidFill>
                        <a:srgbClr val="DCD3E8"/>
                      </a:solidFill>
                      <a:prstDash val="solid"/>
                      <a:round/>
                      <a:headEnd type="none" w="med" len="med"/>
                      <a:tailEnd type="none" w="med" len="med"/>
                    </a:lnT>
                    <a:lnB w="6350" cap="flat" cmpd="sng" algn="ctr">
                      <a:solidFill>
                        <a:srgbClr val="DCD3E8"/>
                      </a:solidFill>
                      <a:prstDash val="solid"/>
                      <a:round/>
                      <a:headEnd type="none" w="med" len="med"/>
                      <a:tailEnd type="none" w="med" len="med"/>
                    </a:lnB>
                    <a:solidFill>
                      <a:srgbClr val="EEF6DC"/>
                    </a:solidFill>
                  </a:tcPr>
                </a:tc>
                <a:tc>
                  <a:txBody>
                    <a:bodyPr/>
                    <a:lstStyle/>
                    <a:p>
                      <a:pPr indent="0" marL="0">
                        <a:buNone/>
                      </a:pPr>
                      <a:r>
                        <a:rPr lang="en-US" sz="950" dirty="0">
                          <a:solidFill>
                            <a:srgbClr val="4F7A00"/>
                          </a:solidFill>
                          <a:latin typeface="Arial" pitchFamily="34" charset="0"/>
                          <a:ea typeface="Arial" pitchFamily="34" charset="-122"/>
                          <a:cs typeface="Arial" pitchFamily="34" charset="-120"/>
                        </a:rPr>
                        <a:t>Not yet promoted as an app</a:t>
                      </a:r>
                      <a:endParaRPr lang="en-US" sz="950" dirty="0">
                        <a:latin typeface="Arial" charset="0"/>
                        <a:ea typeface="Arial" charset="0"/>
                        <a:cs typeface="Arial" charset="0"/>
                      </a:endParaRPr>
                    </a:p>
                  </a:txBody>
                  <a:tcPr marL="63500" marR="63500" marT="25400" marB="25400" anchor="ctr">
                    <a:lnL w="6350" cap="flat" cmpd="sng" algn="ctr">
                      <a:solidFill>
                        <a:srgbClr val="DCD3E8"/>
                      </a:solidFill>
                      <a:prstDash val="solid"/>
                      <a:round/>
                      <a:headEnd type="none" w="med" len="med"/>
                      <a:tailEnd type="none" w="med" len="med"/>
                    </a:lnL>
                    <a:lnR w="6350" cap="flat" cmpd="sng" algn="ctr">
                      <a:solidFill>
                        <a:srgbClr val="DCD3E8"/>
                      </a:solidFill>
                      <a:prstDash val="solid"/>
                      <a:round/>
                      <a:headEnd type="none" w="med" len="med"/>
                      <a:tailEnd type="none" w="med" len="med"/>
                    </a:lnR>
                    <a:lnT w="6350" cap="flat" cmpd="sng" algn="ctr">
                      <a:solidFill>
                        <a:srgbClr val="DCD3E8"/>
                      </a:solidFill>
                      <a:prstDash val="solid"/>
                      <a:round/>
                      <a:headEnd type="none" w="med" len="med"/>
                      <a:tailEnd type="none" w="med" len="med"/>
                    </a:lnT>
                    <a:lnB w="6350" cap="flat" cmpd="sng" algn="ctr">
                      <a:solidFill>
                        <a:srgbClr val="DCD3E8"/>
                      </a:solidFill>
                      <a:prstDash val="solid"/>
                      <a:round/>
                      <a:headEnd type="none" w="med" len="med"/>
                      <a:tailEnd type="none" w="med" len="med"/>
                    </a:lnB>
                    <a:solidFill>
                      <a:srgbClr val="EEF6DC"/>
                    </a:solidFill>
                  </a:tcPr>
                </a:tc>
                <a:tc>
                  <a:txBody>
                    <a:bodyPr/>
                    <a:lstStyle/>
                    <a:p>
                      <a:pPr indent="0" marL="0">
                        <a:buNone/>
                      </a:pPr>
                      <a:r>
                        <a:rPr lang="en-US" sz="950" dirty="0">
                          <a:solidFill>
                            <a:srgbClr val="4F7A00"/>
                          </a:solidFill>
                          <a:latin typeface="Arial" pitchFamily="34" charset="0"/>
                          <a:ea typeface="Arial" pitchFamily="34" charset="-122"/>
                          <a:cs typeface="Arial" pitchFamily="34" charset="-120"/>
                        </a:rPr>
                        <a:t>Instagram (75 followers)</a:t>
                      </a:r>
                      <a:endParaRPr lang="en-US" sz="950" dirty="0">
                        <a:latin typeface="Arial" charset="0"/>
                        <a:ea typeface="Arial" charset="0"/>
                        <a:cs typeface="Arial" charset="0"/>
                      </a:endParaRPr>
                    </a:p>
                  </a:txBody>
                  <a:tcPr marL="63500" marR="63500" marT="25400" marB="25400" anchor="ctr">
                    <a:lnL w="6350" cap="flat" cmpd="sng" algn="ctr">
                      <a:solidFill>
                        <a:srgbClr val="DCD3E8"/>
                      </a:solidFill>
                      <a:prstDash val="solid"/>
                      <a:round/>
                      <a:headEnd type="none" w="med" len="med"/>
                      <a:tailEnd type="none" w="med" len="med"/>
                    </a:lnL>
                    <a:lnR w="6350" cap="flat" cmpd="sng" algn="ctr">
                      <a:solidFill>
                        <a:srgbClr val="DCD3E8"/>
                      </a:solidFill>
                      <a:prstDash val="solid"/>
                      <a:round/>
                      <a:headEnd type="none" w="med" len="med"/>
                      <a:tailEnd type="none" w="med" len="med"/>
                    </a:lnR>
                    <a:lnT w="6350" cap="flat" cmpd="sng" algn="ctr">
                      <a:solidFill>
                        <a:srgbClr val="DCD3E8"/>
                      </a:solidFill>
                      <a:prstDash val="solid"/>
                      <a:round/>
                      <a:headEnd type="none" w="med" len="med"/>
                      <a:tailEnd type="none" w="med" len="med"/>
                    </a:lnT>
                    <a:lnB w="6350" cap="flat" cmpd="sng" algn="ctr">
                      <a:solidFill>
                        <a:srgbClr val="DCD3E8"/>
                      </a:solidFill>
                      <a:prstDash val="solid"/>
                      <a:round/>
                      <a:headEnd type="none" w="med" len="med"/>
                      <a:tailEnd type="none" w="med" len="med"/>
                    </a:lnB>
                    <a:solidFill>
                      <a:srgbClr val="EEF6DC"/>
                    </a:solidFill>
                  </a:tcPr>
                </a:tc>
                <a:tc>
                  <a:txBody>
                    <a:bodyPr/>
                    <a:lstStyle/>
                    <a:p>
                      <a:pPr indent="0" marL="0">
                        <a:buNone/>
                      </a:pPr>
                      <a:r>
                        <a:rPr lang="en-US" sz="950" dirty="0">
                          <a:solidFill>
                            <a:srgbClr val="4F7A00"/>
                          </a:solidFill>
                          <a:latin typeface="Arial" pitchFamily="34" charset="0"/>
                          <a:ea typeface="Arial" pitchFamily="34" charset="-122"/>
                          <a:cs typeface="Arial" pitchFamily="34" charset="-120"/>
                        </a:rPr>
                        <a:t>500+</a:t>
                      </a:r>
                      <a:endParaRPr lang="en-US" sz="950" dirty="0">
                        <a:latin typeface="Arial" charset="0"/>
                        <a:ea typeface="Arial" charset="0"/>
                        <a:cs typeface="Arial" charset="0"/>
                      </a:endParaRPr>
                    </a:p>
                  </a:txBody>
                  <a:tcPr marL="63500" marR="63500" marT="25400" marB="25400" anchor="ctr">
                    <a:lnL w="6350" cap="flat" cmpd="sng" algn="ctr">
                      <a:solidFill>
                        <a:srgbClr val="DCD3E8"/>
                      </a:solidFill>
                      <a:prstDash val="solid"/>
                      <a:round/>
                      <a:headEnd type="none" w="med" len="med"/>
                      <a:tailEnd type="none" w="med" len="med"/>
                    </a:lnL>
                    <a:lnR w="6350" cap="flat" cmpd="sng" algn="ctr">
                      <a:solidFill>
                        <a:srgbClr val="DCD3E8"/>
                      </a:solidFill>
                      <a:prstDash val="solid"/>
                      <a:round/>
                      <a:headEnd type="none" w="med" len="med"/>
                      <a:tailEnd type="none" w="med" len="med"/>
                    </a:lnR>
                    <a:lnT w="6350" cap="flat" cmpd="sng" algn="ctr">
                      <a:solidFill>
                        <a:srgbClr val="DCD3E8"/>
                      </a:solidFill>
                      <a:prstDash val="solid"/>
                      <a:round/>
                      <a:headEnd type="none" w="med" len="med"/>
                      <a:tailEnd type="none" w="med" len="med"/>
                    </a:lnT>
                    <a:lnB w="6350" cap="flat" cmpd="sng" algn="ctr">
                      <a:solidFill>
                        <a:srgbClr val="DCD3E8"/>
                      </a:solidFill>
                      <a:prstDash val="solid"/>
                      <a:round/>
                      <a:headEnd type="none" w="med" len="med"/>
                      <a:tailEnd type="none" w="med" len="med"/>
                    </a:lnB>
                    <a:solidFill>
                      <a:srgbClr val="EEF6DC"/>
                    </a:solidFill>
                  </a:tcPr>
                </a:tc>
              </a:tr>
            </a:tbl>
          </a:graphicData>
        </a:graphic>
      </p:graphicFrame>
      <p:sp>
        <p:nvSpPr>
          <p:cNvPr id="7" name="Shape 2"/>
          <p:cNvSpPr/>
          <p:nvPr/>
        </p:nvSpPr>
        <p:spPr>
          <a:xfrm>
            <a:off x="457200" y="3749040"/>
            <a:ext cx="7498080" cy="914400"/>
          </a:xfrm>
          <a:prstGeom prst="roundRect">
            <a:avLst>
              <a:gd name="adj" fmla="val 8000"/>
            </a:avLst>
          </a:prstGeom>
          <a:solidFill>
            <a:srgbClr val="F3EEF8"/>
          </a:solidFill>
          <a:ln w="12700">
            <a:solidFill>
              <a:srgbClr val="F3EEF8"/>
            </a:solidFill>
            <a:prstDash val="solid"/>
          </a:ln>
        </p:spPr>
      </p:sp>
      <p:sp>
        <p:nvSpPr>
          <p:cNvPr id="8" name="Text 3"/>
          <p:cNvSpPr txBox="1"/>
          <p:nvPr/>
        </p:nvSpPr>
        <p:spPr>
          <a:xfrm>
            <a:off x="640080" y="3813048"/>
            <a:ext cx="7132320" cy="786384"/>
          </a:xfrm>
          <a:prstGeom prst="rect">
            <a:avLst/>
          </a:prstGeom>
          <a:noFill/>
          <a:ln/>
        </p:spPr>
        <p:txBody>
          <a:bodyPr wrap="square" lIns="0" tIns="0" rIns="0" bIns="0" rtlCol="0" anchor="ctr"/>
          <a:lstStyle/>
          <a:p>
            <a:pPr indent="0" marL="0">
              <a:buNone/>
            </a:pPr>
            <a:r>
              <a:rPr lang="en-US" sz="1050" b="1" dirty="0">
                <a:solidFill>
                  <a:srgbClr val="440973"/>
                </a:solidFill>
                <a:latin typeface="Arial" pitchFamily="34" charset="0"/>
                <a:ea typeface="Arial" pitchFamily="34" charset="-122"/>
                <a:cs typeface="Arial" pitchFamily="34" charset="-120"/>
              </a:rPr>
              <a:t>The gap no one owns: </a:t>
            </a:r>
            <a:pPr indent="0" marL="0">
              <a:buNone/>
            </a:pPr>
            <a:r>
              <a:rPr lang="en-US" sz="1050" dirty="0">
                <a:solidFill>
                  <a:srgbClr val="2B2B3A"/>
                </a:solidFill>
                <a:latin typeface="Arial" pitchFamily="34" charset="0"/>
                <a:ea typeface="Arial" pitchFamily="34" charset="-122"/>
                <a:cs typeface="Arial" pitchFamily="34" charset="-120"/>
              </a:rPr>
              <a:t>trust plus real human help. Competitor reviews repeatedly complain about slow support, crashes and account opening delays of weeks. At the same time, SECP keeps warning the public about fake trading apps and WhatsApp groups. A Bank AL Habib-backed broker with responsive WhatsApp support can own this space.</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logo_light.png">    </p:cNvPr>
          <p:cNvPicPr>
            <a:picLocks noChangeAspect="1"/>
          </p:cNvPicPr>
          <p:nvPr/>
        </p:nvPicPr>
        <p:blipFill>
          <a:blip r:embed="rId1"/>
          <a:stretch>
            <a:fillRect/>
          </a:stretch>
        </p:blipFill>
        <p:spPr>
          <a:xfrm>
            <a:off x="7882128" y="164592"/>
            <a:ext cx="896112" cy="475488"/>
          </a:xfrm>
          <a:prstGeom prst="rect">
            <a:avLst/>
          </a:prstGeom>
        </p:spPr>
      </p:pic>
      <p:pic>
        <p:nvPicPr>
          <p:cNvPr id="3" name="Image 1" descr="corner_t.png">    </p:cNvPr>
          <p:cNvPicPr>
            <a:picLocks noChangeAspect="1"/>
          </p:cNvPicPr>
          <p:nvPr/>
        </p:nvPicPr>
        <p:blipFill>
          <a:blip r:embed="rId2"/>
          <a:stretch>
            <a:fillRect/>
          </a:stretch>
        </p:blipFill>
        <p:spPr>
          <a:xfrm>
            <a:off x="8138160" y="4553712"/>
            <a:ext cx="1005840" cy="726948"/>
          </a:xfrm>
          <a:prstGeom prst="rect">
            <a:avLst/>
          </a:prstGeom>
        </p:spPr>
      </p:pic>
      <p:sp>
        <p:nvSpPr>
          <p:cNvPr id="4" name="Text 0"/>
          <p:cNvSpPr txBox="1"/>
          <p:nvPr/>
        </p:nvSpPr>
        <p:spPr>
          <a:xfrm>
            <a:off x="457200" y="228600"/>
            <a:ext cx="7223760" cy="548640"/>
          </a:xfrm>
          <a:prstGeom prst="rect">
            <a:avLst/>
          </a:prstGeom>
          <a:noFill/>
          <a:ln/>
        </p:spPr>
        <p:txBody>
          <a:bodyPr wrap="square" lIns="0" tIns="0" rIns="0" bIns="0" rtlCol="0" anchor="ctr"/>
          <a:lstStyle/>
          <a:p>
            <a:pPr indent="0" marL="0">
              <a:buNone/>
            </a:pPr>
            <a:r>
              <a:rPr lang="en-US" sz="2400" b="1" dirty="0">
                <a:solidFill>
                  <a:srgbClr val="440973"/>
                </a:solidFill>
                <a:latin typeface="Arial" pitchFamily="34" charset="0"/>
                <a:ea typeface="Arial" pitchFamily="34" charset="-122"/>
                <a:cs typeface="Arial" pitchFamily="34" charset="-120"/>
              </a:rPr>
              <a:t>How GROW wins: one clear promise</a:t>
            </a:r>
            <a:endParaRPr lang="en-US" sz="2400" dirty="0"/>
          </a:p>
        </p:txBody>
      </p:sp>
      <p:sp>
        <p:nvSpPr>
          <p:cNvPr id="5" name="Shape 1"/>
          <p:cNvSpPr/>
          <p:nvPr/>
        </p:nvSpPr>
        <p:spPr>
          <a:xfrm>
            <a:off x="457200" y="868680"/>
            <a:ext cx="7498080" cy="1005840"/>
          </a:xfrm>
          <a:prstGeom prst="roundRect">
            <a:avLst>
              <a:gd name="adj" fmla="val 9091"/>
            </a:avLst>
          </a:prstGeom>
          <a:solidFill>
            <a:srgbClr val="440973"/>
          </a:solidFill>
          <a:ln w="12700">
            <a:solidFill>
              <a:srgbClr val="440973"/>
            </a:solidFill>
            <a:prstDash val="solid"/>
          </a:ln>
        </p:spPr>
      </p:sp>
      <p:sp>
        <p:nvSpPr>
          <p:cNvPr id="6" name="Text 2"/>
          <p:cNvSpPr txBox="1"/>
          <p:nvPr/>
        </p:nvSpPr>
        <p:spPr>
          <a:xfrm>
            <a:off x="731520" y="914400"/>
            <a:ext cx="6949440" cy="594360"/>
          </a:xfrm>
          <a:prstGeom prst="rect">
            <a:avLst/>
          </a:prstGeom>
          <a:noFill/>
          <a:ln/>
        </p:spPr>
        <p:txBody>
          <a:bodyPr wrap="square" lIns="0" tIns="0" rIns="0" bIns="0" rtlCol="0" anchor="ctr"/>
          <a:lstStyle/>
          <a:p>
            <a:pPr indent="0" marL="0">
              <a:buNone/>
            </a:pPr>
            <a:r>
              <a:rPr lang="en-US" sz="1600" b="1" i="1" dirty="0">
                <a:solidFill>
                  <a:srgbClr val="FFFFFF"/>
                </a:solidFill>
                <a:latin typeface="Arial" pitchFamily="34" charset="0"/>
                <a:ea typeface="Arial" pitchFamily="34" charset="-122"/>
                <a:cs typeface="Arial" pitchFamily="34" charset="-120"/>
              </a:rPr>
              <a:t>"Start investing with the bank you trust. Start small, with a real person to guide you."</a:t>
            </a:r>
            <a:endParaRPr lang="en-US" sz="1600" dirty="0"/>
          </a:p>
        </p:txBody>
      </p:sp>
      <p:sp>
        <p:nvSpPr>
          <p:cNvPr id="7" name="Text 3"/>
          <p:cNvSpPr txBox="1"/>
          <p:nvPr/>
        </p:nvSpPr>
        <p:spPr>
          <a:xfrm>
            <a:off x="731520" y="1481328"/>
            <a:ext cx="6949440" cy="274320"/>
          </a:xfrm>
          <a:prstGeom prst="rect">
            <a:avLst/>
          </a:prstGeom>
          <a:noFill/>
          <a:ln/>
        </p:spPr>
        <p:txBody>
          <a:bodyPr wrap="square" lIns="0" tIns="0" rIns="0" bIns="0" rtlCol="0" anchor="t"/>
          <a:lstStyle/>
          <a:p>
            <a:pPr indent="0" marL="0">
              <a:buNone/>
            </a:pPr>
            <a:r>
              <a:rPr lang="en-US" sz="950" dirty="0">
                <a:solidFill>
                  <a:srgbClr val="D9F29A"/>
                </a:solidFill>
                <a:latin typeface="Arial" pitchFamily="34" charset="0"/>
                <a:ea typeface="Arial" pitchFamily="34" charset="-122"/>
                <a:cs typeface="Arial" pitchFamily="34" charset="-120"/>
              </a:rPr>
              <a:t>Proposed campaign idea, in Urdu and English, to be tested in the pilot</a:t>
            </a:r>
            <a:endParaRPr lang="en-US" sz="950" dirty="0"/>
          </a:p>
        </p:txBody>
      </p:sp>
      <p:sp>
        <p:nvSpPr>
          <p:cNvPr id="8" name="Shape 4"/>
          <p:cNvSpPr/>
          <p:nvPr/>
        </p:nvSpPr>
        <p:spPr>
          <a:xfrm>
            <a:off x="457200" y="2103120"/>
            <a:ext cx="2377440" cy="2103120"/>
          </a:xfrm>
          <a:prstGeom prst="roundRect">
            <a:avLst>
              <a:gd name="adj" fmla="val 3478"/>
            </a:avLst>
          </a:prstGeom>
          <a:solidFill>
            <a:srgbClr val="F3EEF8"/>
          </a:solidFill>
          <a:ln w="12700">
            <a:solidFill>
              <a:srgbClr val="F3EEF8"/>
            </a:solidFill>
            <a:prstDash val="solid"/>
          </a:ln>
        </p:spPr>
      </p:sp>
      <p:sp>
        <p:nvSpPr>
          <p:cNvPr id="9" name="Shape 5"/>
          <p:cNvSpPr/>
          <p:nvPr/>
        </p:nvSpPr>
        <p:spPr>
          <a:xfrm>
            <a:off x="640080" y="2286000"/>
            <a:ext cx="548640" cy="548640"/>
          </a:xfrm>
          <a:prstGeom prst="ellipse">
            <a:avLst/>
          </a:prstGeom>
          <a:solidFill>
            <a:srgbClr val="440973"/>
          </a:solidFill>
          <a:ln w="12700">
            <a:solidFill>
              <a:srgbClr val="440973"/>
            </a:solidFill>
            <a:prstDash val="solid"/>
          </a:ln>
        </p:spPr>
      </p:sp>
      <p:pic>
        <p:nvPicPr>
          <p:cNvPr id="10" name="Image 2" descr="preencoded.png">    </p:cNvPr>
          <p:cNvPicPr>
            <a:picLocks noChangeAspect="1"/>
          </p:cNvPicPr>
          <p:nvPr/>
        </p:nvPicPr>
        <p:blipFill>
          <a:blip r:embed="rId3"/>
          <a:stretch>
            <a:fillRect/>
          </a:stretch>
        </p:blipFill>
        <p:spPr>
          <a:xfrm>
            <a:off x="782726" y="2428646"/>
            <a:ext cx="263347" cy="263347"/>
          </a:xfrm>
          <a:prstGeom prst="rect">
            <a:avLst/>
          </a:prstGeom>
        </p:spPr>
      </p:pic>
      <p:sp>
        <p:nvSpPr>
          <p:cNvPr id="11" name="Text 6"/>
          <p:cNvSpPr txBox="1"/>
          <p:nvPr/>
        </p:nvSpPr>
        <p:spPr>
          <a:xfrm>
            <a:off x="640080" y="2926080"/>
            <a:ext cx="2011680" cy="320040"/>
          </a:xfrm>
          <a:prstGeom prst="rect">
            <a:avLst/>
          </a:prstGeom>
          <a:noFill/>
          <a:ln/>
        </p:spPr>
        <p:txBody>
          <a:bodyPr wrap="square" lIns="0" tIns="0" rIns="0" bIns="0" rtlCol="0" anchor="t"/>
          <a:lstStyle/>
          <a:p>
            <a:pPr indent="0" marL="0">
              <a:buNone/>
            </a:pPr>
            <a:r>
              <a:rPr lang="en-US" sz="1400" b="1" dirty="0">
                <a:solidFill>
                  <a:srgbClr val="440973"/>
                </a:solidFill>
                <a:latin typeface="Arial" pitchFamily="34" charset="0"/>
                <a:ea typeface="Arial" pitchFamily="34" charset="-122"/>
                <a:cs typeface="Arial" pitchFamily="34" charset="-120"/>
              </a:rPr>
              <a:t>Trusted</a:t>
            </a:r>
            <a:endParaRPr lang="en-US" sz="1400" dirty="0"/>
          </a:p>
        </p:txBody>
      </p:sp>
      <p:sp>
        <p:nvSpPr>
          <p:cNvPr id="12" name="Text 7"/>
          <p:cNvSpPr txBox="1"/>
          <p:nvPr/>
        </p:nvSpPr>
        <p:spPr>
          <a:xfrm>
            <a:off x="640080" y="3273552"/>
            <a:ext cx="2057400" cy="1188720"/>
          </a:xfrm>
          <a:prstGeom prst="rect">
            <a:avLst/>
          </a:prstGeom>
          <a:noFill/>
          <a:ln/>
        </p:spPr>
        <p:txBody>
          <a:bodyPr wrap="square" lIns="0" tIns="0" rIns="0" bIns="0" rtlCol="0" anchor="t"/>
          <a:lstStyle/>
          <a:p>
            <a:pPr indent="0" marL="0">
              <a:buNone/>
            </a:pPr>
            <a:r>
              <a:rPr lang="en-US" sz="1000" dirty="0">
                <a:solidFill>
                  <a:srgbClr val="2B2B3A"/>
                </a:solidFill>
                <a:latin typeface="Arial" pitchFamily="34" charset="0"/>
                <a:ea typeface="Arial" pitchFamily="34" charset="-122"/>
                <a:cs typeface="Arial" pitchFamily="34" charset="-120"/>
              </a:rPr>
              <a:t>Bank AL Habib subsidiary. Regulated PSX broker since 2006. Verified accounts only, so customers know it's not a scam.</a:t>
            </a:r>
            <a:endParaRPr lang="en-US" sz="1000" dirty="0"/>
          </a:p>
        </p:txBody>
      </p:sp>
      <p:sp>
        <p:nvSpPr>
          <p:cNvPr id="13" name="Shape 8"/>
          <p:cNvSpPr/>
          <p:nvPr/>
        </p:nvSpPr>
        <p:spPr>
          <a:xfrm>
            <a:off x="3017520" y="2103120"/>
            <a:ext cx="2377440" cy="2103120"/>
          </a:xfrm>
          <a:prstGeom prst="roundRect">
            <a:avLst>
              <a:gd name="adj" fmla="val 3478"/>
            </a:avLst>
          </a:prstGeom>
          <a:solidFill>
            <a:srgbClr val="F3EEF8"/>
          </a:solidFill>
          <a:ln w="12700">
            <a:solidFill>
              <a:srgbClr val="F3EEF8"/>
            </a:solidFill>
            <a:prstDash val="solid"/>
          </a:ln>
        </p:spPr>
      </p:sp>
      <p:sp>
        <p:nvSpPr>
          <p:cNvPr id="14" name="Shape 9"/>
          <p:cNvSpPr/>
          <p:nvPr/>
        </p:nvSpPr>
        <p:spPr>
          <a:xfrm>
            <a:off x="3200400" y="2286000"/>
            <a:ext cx="548640" cy="548640"/>
          </a:xfrm>
          <a:prstGeom prst="ellipse">
            <a:avLst/>
          </a:prstGeom>
          <a:solidFill>
            <a:srgbClr val="4F7A00"/>
          </a:solidFill>
          <a:ln w="12700">
            <a:solidFill>
              <a:srgbClr val="4F7A00"/>
            </a:solidFill>
            <a:prstDash val="solid"/>
          </a:ln>
        </p:spPr>
      </p:sp>
      <p:pic>
        <p:nvPicPr>
          <p:cNvPr id="15" name="Image 3" descr="preencoded.png">    </p:cNvPr>
          <p:cNvPicPr>
            <a:picLocks noChangeAspect="1"/>
          </p:cNvPicPr>
          <p:nvPr/>
        </p:nvPicPr>
        <p:blipFill>
          <a:blip r:embed="rId4"/>
          <a:stretch>
            <a:fillRect/>
          </a:stretch>
        </p:blipFill>
        <p:spPr>
          <a:xfrm>
            <a:off x="3343046" y="2428646"/>
            <a:ext cx="263347" cy="263347"/>
          </a:xfrm>
          <a:prstGeom prst="rect">
            <a:avLst/>
          </a:prstGeom>
        </p:spPr>
      </p:pic>
      <p:sp>
        <p:nvSpPr>
          <p:cNvPr id="16" name="Text 10"/>
          <p:cNvSpPr txBox="1"/>
          <p:nvPr/>
        </p:nvSpPr>
        <p:spPr>
          <a:xfrm>
            <a:off x="3200400" y="2926080"/>
            <a:ext cx="2011680" cy="320040"/>
          </a:xfrm>
          <a:prstGeom prst="rect">
            <a:avLst/>
          </a:prstGeom>
          <a:noFill/>
          <a:ln/>
        </p:spPr>
        <p:txBody>
          <a:bodyPr wrap="square" lIns="0" tIns="0" rIns="0" bIns="0" rtlCol="0" anchor="t"/>
          <a:lstStyle/>
          <a:p>
            <a:pPr indent="0" marL="0">
              <a:buNone/>
            </a:pPr>
            <a:r>
              <a:rPr lang="en-US" sz="1400" b="1" dirty="0">
                <a:solidFill>
                  <a:srgbClr val="440973"/>
                </a:solidFill>
                <a:latin typeface="Arial" pitchFamily="34" charset="0"/>
                <a:ea typeface="Arial" pitchFamily="34" charset="-122"/>
                <a:cs typeface="Arial" pitchFamily="34" charset="-120"/>
              </a:rPr>
              <a:t>Guided</a:t>
            </a:r>
            <a:endParaRPr lang="en-US" sz="1400" dirty="0"/>
          </a:p>
        </p:txBody>
      </p:sp>
      <p:sp>
        <p:nvSpPr>
          <p:cNvPr id="17" name="Text 11"/>
          <p:cNvSpPr txBox="1"/>
          <p:nvPr/>
        </p:nvSpPr>
        <p:spPr>
          <a:xfrm>
            <a:off x="3200400" y="3273552"/>
            <a:ext cx="2057400" cy="1188720"/>
          </a:xfrm>
          <a:prstGeom prst="rect">
            <a:avLst/>
          </a:prstGeom>
          <a:noFill/>
          <a:ln/>
        </p:spPr>
        <p:txBody>
          <a:bodyPr wrap="square" lIns="0" tIns="0" rIns="0" bIns="0" rtlCol="0" anchor="t"/>
          <a:lstStyle/>
          <a:p>
            <a:pPr indent="0" marL="0">
              <a:buNone/>
            </a:pPr>
            <a:r>
              <a:rPr lang="en-US" sz="1000" dirty="0">
                <a:solidFill>
                  <a:srgbClr val="2B2B3A"/>
                </a:solidFill>
                <a:latin typeface="Arial" pitchFamily="34" charset="0"/>
                <a:ea typeface="Arial" pitchFamily="34" charset="-122"/>
                <a:cs typeface="Arial" pitchFamily="34" charset="-120"/>
              </a:rPr>
              <a:t>WhatsApp support from day one, a free demo account and short Urdu lessons. Built for first-timers.</a:t>
            </a:r>
            <a:endParaRPr lang="en-US" sz="1000" dirty="0"/>
          </a:p>
        </p:txBody>
      </p:sp>
      <p:sp>
        <p:nvSpPr>
          <p:cNvPr id="18" name="Shape 12"/>
          <p:cNvSpPr/>
          <p:nvPr/>
        </p:nvSpPr>
        <p:spPr>
          <a:xfrm>
            <a:off x="5577840" y="2103120"/>
            <a:ext cx="2377440" cy="2103120"/>
          </a:xfrm>
          <a:prstGeom prst="roundRect">
            <a:avLst>
              <a:gd name="adj" fmla="val 3478"/>
            </a:avLst>
          </a:prstGeom>
          <a:solidFill>
            <a:srgbClr val="F3EEF8"/>
          </a:solidFill>
          <a:ln w="12700">
            <a:solidFill>
              <a:srgbClr val="F3EEF8"/>
            </a:solidFill>
            <a:prstDash val="solid"/>
          </a:ln>
        </p:spPr>
      </p:sp>
      <p:sp>
        <p:nvSpPr>
          <p:cNvPr id="19" name="Shape 13"/>
          <p:cNvSpPr/>
          <p:nvPr/>
        </p:nvSpPr>
        <p:spPr>
          <a:xfrm>
            <a:off x="5760720" y="2286000"/>
            <a:ext cx="548640" cy="548640"/>
          </a:xfrm>
          <a:prstGeom prst="ellipse">
            <a:avLst/>
          </a:prstGeom>
          <a:solidFill>
            <a:srgbClr val="440973"/>
          </a:solidFill>
          <a:ln w="12700">
            <a:solidFill>
              <a:srgbClr val="440973"/>
            </a:solidFill>
            <a:prstDash val="solid"/>
          </a:ln>
        </p:spPr>
      </p:sp>
      <p:pic>
        <p:nvPicPr>
          <p:cNvPr id="20" name="Image 4" descr="preencoded.png">    </p:cNvPr>
          <p:cNvPicPr>
            <a:picLocks noChangeAspect="1"/>
          </p:cNvPicPr>
          <p:nvPr/>
        </p:nvPicPr>
        <p:blipFill>
          <a:blip r:embed="rId5"/>
          <a:stretch>
            <a:fillRect/>
          </a:stretch>
        </p:blipFill>
        <p:spPr>
          <a:xfrm>
            <a:off x="5903366" y="2428646"/>
            <a:ext cx="263347" cy="263347"/>
          </a:xfrm>
          <a:prstGeom prst="rect">
            <a:avLst/>
          </a:prstGeom>
        </p:spPr>
      </p:pic>
      <p:sp>
        <p:nvSpPr>
          <p:cNvPr id="21" name="Text 14"/>
          <p:cNvSpPr txBox="1"/>
          <p:nvPr/>
        </p:nvSpPr>
        <p:spPr>
          <a:xfrm>
            <a:off x="5760720" y="2926080"/>
            <a:ext cx="2011680" cy="320040"/>
          </a:xfrm>
          <a:prstGeom prst="rect">
            <a:avLst/>
          </a:prstGeom>
          <a:noFill/>
          <a:ln/>
        </p:spPr>
        <p:txBody>
          <a:bodyPr wrap="square" lIns="0" tIns="0" rIns="0" bIns="0" rtlCol="0" anchor="t"/>
          <a:lstStyle/>
          <a:p>
            <a:pPr indent="0" marL="0">
              <a:buNone/>
            </a:pPr>
            <a:r>
              <a:rPr lang="en-US" sz="1400" b="1" dirty="0">
                <a:solidFill>
                  <a:srgbClr val="440973"/>
                </a:solidFill>
                <a:latin typeface="Arial" pitchFamily="34" charset="0"/>
                <a:ea typeface="Arial" pitchFamily="34" charset="-122"/>
                <a:cs typeface="Arial" pitchFamily="34" charset="-120"/>
              </a:rPr>
              <a:t>Accessible</a:t>
            </a:r>
            <a:endParaRPr lang="en-US" sz="1400" dirty="0"/>
          </a:p>
        </p:txBody>
      </p:sp>
      <p:sp>
        <p:nvSpPr>
          <p:cNvPr id="22" name="Text 15"/>
          <p:cNvSpPr txBox="1"/>
          <p:nvPr/>
        </p:nvSpPr>
        <p:spPr>
          <a:xfrm>
            <a:off x="5760720" y="3273552"/>
            <a:ext cx="2057400" cy="1188720"/>
          </a:xfrm>
          <a:prstGeom prst="rect">
            <a:avLst/>
          </a:prstGeom>
          <a:noFill/>
          <a:ln/>
        </p:spPr>
        <p:txBody>
          <a:bodyPr wrap="square" lIns="0" tIns="0" rIns="0" bIns="0" rtlCol="0" anchor="t"/>
          <a:lstStyle/>
          <a:p>
            <a:pPr indent="0" marL="0">
              <a:buNone/>
            </a:pPr>
            <a:r>
              <a:rPr lang="en-US" sz="1000" dirty="0">
                <a:solidFill>
                  <a:srgbClr val="2B2B3A"/>
                </a:solidFill>
                <a:latin typeface="Arial" pitchFamily="34" charset="0"/>
                <a:ea typeface="Arial" pitchFamily="34" charset="-122"/>
                <a:cs typeface="Arial" pitchFamily="34" charset="-120"/>
              </a:rPr>
              <a:t>Start small with one clear minimum amount. Digital onboarding. Shariah-compliant options clearly shown.</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logo_light.png">    </p:cNvPr>
          <p:cNvPicPr>
            <a:picLocks noChangeAspect="1"/>
          </p:cNvPicPr>
          <p:nvPr/>
        </p:nvPicPr>
        <p:blipFill>
          <a:blip r:embed="rId1"/>
          <a:stretch>
            <a:fillRect/>
          </a:stretch>
        </p:blipFill>
        <p:spPr>
          <a:xfrm>
            <a:off x="7882128" y="164592"/>
            <a:ext cx="896112" cy="475488"/>
          </a:xfrm>
          <a:prstGeom prst="rect">
            <a:avLst/>
          </a:prstGeom>
        </p:spPr>
      </p:pic>
      <p:pic>
        <p:nvPicPr>
          <p:cNvPr id="3" name="Image 1" descr="corner_t.png">    </p:cNvPr>
          <p:cNvPicPr>
            <a:picLocks noChangeAspect="1"/>
          </p:cNvPicPr>
          <p:nvPr/>
        </p:nvPicPr>
        <p:blipFill>
          <a:blip r:embed="rId2"/>
          <a:stretch>
            <a:fillRect/>
          </a:stretch>
        </p:blipFill>
        <p:spPr>
          <a:xfrm>
            <a:off x="8138160" y="4553712"/>
            <a:ext cx="1005840" cy="726948"/>
          </a:xfrm>
          <a:prstGeom prst="rect">
            <a:avLst/>
          </a:prstGeom>
        </p:spPr>
      </p:pic>
      <p:sp>
        <p:nvSpPr>
          <p:cNvPr id="4" name="Text 0"/>
          <p:cNvSpPr txBox="1"/>
          <p:nvPr/>
        </p:nvSpPr>
        <p:spPr>
          <a:xfrm>
            <a:off x="457200" y="228600"/>
            <a:ext cx="7223760" cy="548640"/>
          </a:xfrm>
          <a:prstGeom prst="rect">
            <a:avLst/>
          </a:prstGeom>
          <a:noFill/>
          <a:ln/>
        </p:spPr>
        <p:txBody>
          <a:bodyPr wrap="square" lIns="0" tIns="0" rIns="0" bIns="0" rtlCol="0" anchor="ctr"/>
          <a:lstStyle/>
          <a:p>
            <a:pPr indent="0" marL="0">
              <a:buNone/>
            </a:pPr>
            <a:r>
              <a:rPr lang="en-US" sz="2400" b="1" dirty="0">
                <a:solidFill>
                  <a:srgbClr val="440973"/>
                </a:solidFill>
                <a:latin typeface="Arial" pitchFamily="34" charset="0"/>
                <a:ea typeface="Arial" pitchFamily="34" charset="-122"/>
                <a:cs typeface="Arial" pitchFamily="34" charset="-120"/>
              </a:rPr>
              <a:t>Current Instagram: what to fix, and what it will do</a:t>
            </a:r>
            <a:endParaRPr lang="en-US" sz="2400" dirty="0"/>
          </a:p>
        </p:txBody>
      </p:sp>
      <p:sp>
        <p:nvSpPr>
          <p:cNvPr id="5" name="Text 1"/>
          <p:cNvSpPr txBox="1"/>
          <p:nvPr/>
        </p:nvSpPr>
        <p:spPr>
          <a:xfrm>
            <a:off x="457200" y="4828032"/>
            <a:ext cx="7498080" cy="228600"/>
          </a:xfrm>
          <a:prstGeom prst="rect">
            <a:avLst/>
          </a:prstGeom>
          <a:noFill/>
          <a:ln/>
        </p:spPr>
        <p:txBody>
          <a:bodyPr wrap="square" lIns="0" tIns="0" rIns="0" bIns="0" rtlCol="0" anchor="ctr"/>
          <a:lstStyle/>
          <a:p>
            <a:pPr indent="0" marL="0">
              <a:buNone/>
            </a:pPr>
            <a:r>
              <a:rPr lang="en-US" sz="750" dirty="0">
                <a:solidFill>
                  <a:srgbClr val="6B6B80"/>
                </a:solidFill>
                <a:latin typeface="Arial" pitchFamily="34" charset="0"/>
                <a:ea typeface="Arial" pitchFamily="34" charset="-122"/>
                <a:cs typeface="Arial" pitchFamily="34" charset="-120"/>
              </a:rPr>
              <a:t>Screenshots of @alhabibcapitalmarkets taken 25 Sept 2026. Expected results are Hummingbird targets for months 1 to 6, not guarantees.</a:t>
            </a:r>
            <a:endParaRPr lang="en-US" sz="750" dirty="0"/>
          </a:p>
        </p:txBody>
      </p:sp>
      <p:pic>
        <p:nvPicPr>
          <p:cNvPr id="6" name="Image 2" descr="ig_profile.jpg">    </p:cNvPr>
          <p:cNvPicPr>
            <a:picLocks noChangeAspect="1"/>
          </p:cNvPicPr>
          <p:nvPr/>
        </p:nvPicPr>
        <p:blipFill>
          <a:blip r:embed="rId3"/>
          <a:stretch>
            <a:fillRect/>
          </a:stretch>
        </p:blipFill>
        <p:spPr>
          <a:xfrm>
            <a:off x="457200" y="868680"/>
            <a:ext cx="2286000" cy="1499616"/>
          </a:xfrm>
          <a:prstGeom prst="rect">
            <a:avLst/>
          </a:prstGeom>
        </p:spPr>
      </p:pic>
      <p:pic>
        <p:nvPicPr>
          <p:cNvPr id="7" name="Image 3" descr="ig_grid.jpg">    </p:cNvPr>
          <p:cNvPicPr>
            <a:picLocks noChangeAspect="1"/>
          </p:cNvPicPr>
          <p:nvPr/>
        </p:nvPicPr>
        <p:blipFill>
          <a:blip r:embed="rId4"/>
          <a:stretch>
            <a:fillRect/>
          </a:stretch>
        </p:blipFill>
        <p:spPr>
          <a:xfrm>
            <a:off x="457200" y="2468880"/>
            <a:ext cx="2286000" cy="1984248"/>
          </a:xfrm>
          <a:prstGeom prst="rect">
            <a:avLst/>
          </a:prstGeom>
        </p:spPr>
      </p:pic>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2926080" y="868680"/>
          <a:ext cx="5074920" cy="914400"/>
        </p:xfrm>
        <a:graphic>
          <a:graphicData uri="http://schemas.openxmlformats.org/drawingml/2006/table">
            <a:tbl>
              <a:tblPr/>
              <a:tblGrid>
                <a:gridCol w="1737360"/>
                <a:gridCol w="1874520"/>
                <a:gridCol w="1463040"/>
              </a:tblGrid>
              <a:tr h="310896">
                <a:tc>
                  <a:txBody>
                    <a:bodyPr/>
                    <a:lstStyle/>
                    <a:p>
                      <a:pPr indent="0" marL="0">
                        <a:buNone/>
                      </a:pPr>
                      <a:r>
                        <a:rPr lang="en-US" sz="880" b="1" dirty="0">
                          <a:solidFill>
                            <a:srgbClr val="FFFFFF"/>
                          </a:solidFill>
                          <a:latin typeface="Arial" pitchFamily="34" charset="0"/>
                          <a:ea typeface="Arial" pitchFamily="34" charset="-122"/>
                          <a:cs typeface="Arial" pitchFamily="34" charset="-120"/>
                        </a:rPr>
                        <a:t>What we see</a:t>
                      </a:r>
                      <a:endParaRPr lang="en-US" sz="880" dirty="0">
                        <a:latin typeface="Arial" charset="0"/>
                        <a:ea typeface="Arial" charset="0"/>
                        <a:cs typeface="Arial" charset="0"/>
                      </a:endParaRPr>
                    </a:p>
                  </a:txBody>
                  <a:tcPr marL="50800" marR="50800" marT="25400" marB="25400" anchor="ctr">
                    <a:lnL w="6350" cap="flat" cmpd="sng" algn="ctr">
                      <a:solidFill>
                        <a:srgbClr val="DCD3E8"/>
                      </a:solidFill>
                      <a:prstDash val="solid"/>
                      <a:round/>
                      <a:headEnd type="none" w="med" len="med"/>
                      <a:tailEnd type="none" w="med" len="med"/>
                    </a:lnL>
                    <a:lnR w="6350" cap="flat" cmpd="sng" algn="ctr">
                      <a:solidFill>
                        <a:srgbClr val="DCD3E8"/>
                      </a:solidFill>
                      <a:prstDash val="solid"/>
                      <a:round/>
                      <a:headEnd type="none" w="med" len="med"/>
                      <a:tailEnd type="none" w="med" len="med"/>
                    </a:lnR>
                    <a:lnT w="6350" cap="flat" cmpd="sng" algn="ctr">
                      <a:solidFill>
                        <a:srgbClr val="DCD3E8"/>
                      </a:solidFill>
                      <a:prstDash val="solid"/>
                      <a:round/>
                      <a:headEnd type="none" w="med" len="med"/>
                      <a:tailEnd type="none" w="med" len="med"/>
                    </a:lnT>
                    <a:lnB w="6350" cap="flat" cmpd="sng" algn="ctr">
                      <a:solidFill>
                        <a:srgbClr val="DCD3E8"/>
                      </a:solidFill>
                      <a:prstDash val="solid"/>
                      <a:round/>
                      <a:headEnd type="none" w="med" len="med"/>
                      <a:tailEnd type="none" w="med" len="med"/>
                    </a:lnB>
                    <a:solidFill>
                      <a:srgbClr val="440973"/>
                    </a:solidFill>
                  </a:tcPr>
                </a:tc>
                <a:tc>
                  <a:txBody>
                    <a:bodyPr/>
                    <a:lstStyle/>
                    <a:p>
                      <a:pPr indent="0" marL="0">
                        <a:buNone/>
                      </a:pPr>
                      <a:r>
                        <a:rPr lang="en-US" sz="880" b="1" dirty="0">
                          <a:solidFill>
                            <a:srgbClr val="FFFFFF"/>
                          </a:solidFill>
                          <a:latin typeface="Arial" pitchFamily="34" charset="0"/>
                          <a:ea typeface="Arial" pitchFamily="34" charset="-122"/>
                          <a:cs typeface="Arial" pitchFamily="34" charset="-120"/>
                        </a:rPr>
                        <a:t>What we change</a:t>
                      </a:r>
                      <a:endParaRPr lang="en-US" sz="880" dirty="0">
                        <a:latin typeface="Arial" charset="0"/>
                        <a:ea typeface="Arial" charset="0"/>
                        <a:cs typeface="Arial" charset="0"/>
                      </a:endParaRPr>
                    </a:p>
                  </a:txBody>
                  <a:tcPr marL="50800" marR="50800" marT="25400" marB="25400" anchor="ctr">
                    <a:lnL w="6350" cap="flat" cmpd="sng" algn="ctr">
                      <a:solidFill>
                        <a:srgbClr val="DCD3E8"/>
                      </a:solidFill>
                      <a:prstDash val="solid"/>
                      <a:round/>
                      <a:headEnd type="none" w="med" len="med"/>
                      <a:tailEnd type="none" w="med" len="med"/>
                    </a:lnL>
                    <a:lnR w="6350" cap="flat" cmpd="sng" algn="ctr">
                      <a:solidFill>
                        <a:srgbClr val="DCD3E8"/>
                      </a:solidFill>
                      <a:prstDash val="solid"/>
                      <a:round/>
                      <a:headEnd type="none" w="med" len="med"/>
                      <a:tailEnd type="none" w="med" len="med"/>
                    </a:lnR>
                    <a:lnT w="6350" cap="flat" cmpd="sng" algn="ctr">
                      <a:solidFill>
                        <a:srgbClr val="DCD3E8"/>
                      </a:solidFill>
                      <a:prstDash val="solid"/>
                      <a:round/>
                      <a:headEnd type="none" w="med" len="med"/>
                      <a:tailEnd type="none" w="med" len="med"/>
                    </a:lnT>
                    <a:lnB w="6350" cap="flat" cmpd="sng" algn="ctr">
                      <a:solidFill>
                        <a:srgbClr val="DCD3E8"/>
                      </a:solidFill>
                      <a:prstDash val="solid"/>
                      <a:round/>
                      <a:headEnd type="none" w="med" len="med"/>
                      <a:tailEnd type="none" w="med" len="med"/>
                    </a:lnB>
                    <a:solidFill>
                      <a:srgbClr val="440973"/>
                    </a:solidFill>
                  </a:tcPr>
                </a:tc>
                <a:tc>
                  <a:txBody>
                    <a:bodyPr/>
                    <a:lstStyle/>
                    <a:p>
                      <a:pPr indent="0" marL="0">
                        <a:buNone/>
                      </a:pPr>
                      <a:r>
                        <a:rPr lang="en-US" sz="880" b="1" dirty="0">
                          <a:solidFill>
                            <a:srgbClr val="FFFFFF"/>
                          </a:solidFill>
                          <a:latin typeface="Arial" pitchFamily="34" charset="0"/>
                          <a:ea typeface="Arial" pitchFamily="34" charset="-122"/>
                          <a:cs typeface="Arial" pitchFamily="34" charset="-120"/>
                        </a:rPr>
                        <a:t>Likely result</a:t>
                      </a:r>
                      <a:endParaRPr lang="en-US" sz="880" dirty="0">
                        <a:latin typeface="Arial" charset="0"/>
                        <a:ea typeface="Arial" charset="0"/>
                        <a:cs typeface="Arial" charset="0"/>
                      </a:endParaRPr>
                    </a:p>
                  </a:txBody>
                  <a:tcPr marL="50800" marR="50800" marT="25400" marB="25400" anchor="ctr">
                    <a:lnL w="6350" cap="flat" cmpd="sng" algn="ctr">
                      <a:solidFill>
                        <a:srgbClr val="DCD3E8"/>
                      </a:solidFill>
                      <a:prstDash val="solid"/>
                      <a:round/>
                      <a:headEnd type="none" w="med" len="med"/>
                      <a:tailEnd type="none" w="med" len="med"/>
                    </a:lnL>
                    <a:lnR w="6350" cap="flat" cmpd="sng" algn="ctr">
                      <a:solidFill>
                        <a:srgbClr val="DCD3E8"/>
                      </a:solidFill>
                      <a:prstDash val="solid"/>
                      <a:round/>
                      <a:headEnd type="none" w="med" len="med"/>
                      <a:tailEnd type="none" w="med" len="med"/>
                    </a:lnR>
                    <a:lnT w="6350" cap="flat" cmpd="sng" algn="ctr">
                      <a:solidFill>
                        <a:srgbClr val="DCD3E8"/>
                      </a:solidFill>
                      <a:prstDash val="solid"/>
                      <a:round/>
                      <a:headEnd type="none" w="med" len="med"/>
                      <a:tailEnd type="none" w="med" len="med"/>
                    </a:lnT>
                    <a:lnB w="6350" cap="flat" cmpd="sng" algn="ctr">
                      <a:solidFill>
                        <a:srgbClr val="DCD3E8"/>
                      </a:solidFill>
                      <a:prstDash val="solid"/>
                      <a:round/>
                      <a:headEnd type="none" w="med" len="med"/>
                      <a:tailEnd type="none" w="med" len="med"/>
                    </a:lnB>
                    <a:solidFill>
                      <a:srgbClr val="440973"/>
                    </a:solidFill>
                  </a:tcPr>
                </a:tc>
              </a:tr>
              <a:tr h="676656">
                <a:tc>
                  <a:txBody>
                    <a:bodyPr/>
                    <a:lstStyle/>
                    <a:p>
                      <a:pPr indent="0" marL="0">
                        <a:buNone/>
                      </a:pPr>
                      <a:r>
                        <a:rPr lang="en-US" sz="880" dirty="0">
                          <a:solidFill>
                            <a:srgbClr val="2B2B3A"/>
                          </a:solidFill>
                          <a:latin typeface="Arial" pitchFamily="34" charset="0"/>
                          <a:ea typeface="Arial" pitchFamily="34" charset="-122"/>
                          <a:cs typeface="Arial" pitchFamily="34" charset="-120"/>
                        </a:rPr>
                        <a:t>75 followers, 2 likes per post</a:t>
                      </a:r>
                      <a:endParaRPr lang="en-US" sz="880" dirty="0">
                        <a:latin typeface="Arial" charset="0"/>
                        <a:ea typeface="Arial" charset="0"/>
                        <a:cs typeface="Arial" charset="0"/>
                      </a:endParaRPr>
                    </a:p>
                  </a:txBody>
                  <a:tcPr marL="50800" marR="50800" marT="25400" marB="25400" anchor="ctr">
                    <a:lnL w="6350" cap="flat" cmpd="sng" algn="ctr">
                      <a:solidFill>
                        <a:srgbClr val="DCD3E8"/>
                      </a:solidFill>
                      <a:prstDash val="solid"/>
                      <a:round/>
                      <a:headEnd type="none" w="med" len="med"/>
                      <a:tailEnd type="none" w="med" len="med"/>
                    </a:lnL>
                    <a:lnR w="6350" cap="flat" cmpd="sng" algn="ctr">
                      <a:solidFill>
                        <a:srgbClr val="DCD3E8"/>
                      </a:solidFill>
                      <a:prstDash val="solid"/>
                      <a:round/>
                      <a:headEnd type="none" w="med" len="med"/>
                      <a:tailEnd type="none" w="med" len="med"/>
                    </a:lnR>
                    <a:lnT w="6350" cap="flat" cmpd="sng" algn="ctr">
                      <a:solidFill>
                        <a:srgbClr val="DCD3E8"/>
                      </a:solidFill>
                      <a:prstDash val="solid"/>
                      <a:round/>
                      <a:headEnd type="none" w="med" len="med"/>
                      <a:tailEnd type="none" w="med" len="med"/>
                    </a:lnT>
                    <a:lnB w="6350" cap="flat" cmpd="sng" algn="ctr">
                      <a:solidFill>
                        <a:srgbClr val="DCD3E8"/>
                      </a:solidFill>
                      <a:prstDash val="solid"/>
                      <a:round/>
                      <a:headEnd type="none" w="med" len="med"/>
                      <a:tailEnd type="none" w="med" len="med"/>
                    </a:lnB>
                    <a:solidFill>
                      <a:srgbClr val="F3EEF8"/>
                    </a:solidFill>
                  </a:tcPr>
                </a:tc>
                <a:tc>
                  <a:txBody>
                    <a:bodyPr/>
                    <a:lstStyle/>
                    <a:p>
                      <a:pPr indent="0" marL="0">
                        <a:buNone/>
                      </a:pPr>
                      <a:r>
                        <a:rPr lang="en-US" sz="880" dirty="0">
                          <a:solidFill>
                            <a:srgbClr val="2B2B3A"/>
                          </a:solidFill>
                          <a:latin typeface="Arial" pitchFamily="34" charset="0"/>
                          <a:ea typeface="Arial" pitchFamily="34" charset="-122"/>
                          <a:cs typeface="Arial" pitchFamily="34" charset="-120"/>
                        </a:rPr>
                        <a:t>Run a follower and reach campaign; post Reels</a:t>
                      </a:r>
                      <a:endParaRPr lang="en-US" sz="880" dirty="0">
                        <a:latin typeface="Arial" charset="0"/>
                        <a:ea typeface="Arial" charset="0"/>
                        <a:cs typeface="Arial" charset="0"/>
                      </a:endParaRPr>
                    </a:p>
                  </a:txBody>
                  <a:tcPr marL="50800" marR="50800" marT="25400" marB="25400" anchor="ctr">
                    <a:lnL w="6350" cap="flat" cmpd="sng" algn="ctr">
                      <a:solidFill>
                        <a:srgbClr val="DCD3E8"/>
                      </a:solidFill>
                      <a:prstDash val="solid"/>
                      <a:round/>
                      <a:headEnd type="none" w="med" len="med"/>
                      <a:tailEnd type="none" w="med" len="med"/>
                    </a:lnL>
                    <a:lnR w="6350" cap="flat" cmpd="sng" algn="ctr">
                      <a:solidFill>
                        <a:srgbClr val="DCD3E8"/>
                      </a:solidFill>
                      <a:prstDash val="solid"/>
                      <a:round/>
                      <a:headEnd type="none" w="med" len="med"/>
                      <a:tailEnd type="none" w="med" len="med"/>
                    </a:lnR>
                    <a:lnT w="6350" cap="flat" cmpd="sng" algn="ctr">
                      <a:solidFill>
                        <a:srgbClr val="DCD3E8"/>
                      </a:solidFill>
                      <a:prstDash val="solid"/>
                      <a:round/>
                      <a:headEnd type="none" w="med" len="med"/>
                      <a:tailEnd type="none" w="med" len="med"/>
                    </a:lnT>
                    <a:lnB w="6350" cap="flat" cmpd="sng" algn="ctr">
                      <a:solidFill>
                        <a:srgbClr val="DCD3E8"/>
                      </a:solidFill>
                      <a:prstDash val="solid"/>
                      <a:round/>
                      <a:headEnd type="none" w="med" len="med"/>
                      <a:tailEnd type="none" w="med" len="med"/>
                    </a:lnB>
                    <a:solidFill>
                      <a:srgbClr val="FFFFFF"/>
                    </a:solidFill>
                  </a:tcPr>
                </a:tc>
                <a:tc>
                  <a:txBody>
                    <a:bodyPr/>
                    <a:lstStyle/>
                    <a:p>
                      <a:pPr indent="0" marL="0">
                        <a:buNone/>
                      </a:pPr>
                      <a:r>
                        <a:rPr lang="en-US" sz="880" dirty="0">
                          <a:solidFill>
                            <a:srgbClr val="4F7A00"/>
                          </a:solidFill>
                          <a:latin typeface="Arial" pitchFamily="34" charset="0"/>
                          <a:ea typeface="Arial" pitchFamily="34" charset="-122"/>
                          <a:cs typeface="Arial" pitchFamily="34" charset="-120"/>
                        </a:rPr>
                        <a:t>Audience of 10,000+ to retarget</a:t>
                      </a:r>
                      <a:endParaRPr lang="en-US" sz="880" dirty="0">
                        <a:latin typeface="Arial" charset="0"/>
                        <a:ea typeface="Arial" charset="0"/>
                        <a:cs typeface="Arial" charset="0"/>
                      </a:endParaRPr>
                    </a:p>
                  </a:txBody>
                  <a:tcPr marL="50800" marR="50800" marT="25400" marB="25400" anchor="ctr">
                    <a:lnL w="6350" cap="flat" cmpd="sng" algn="ctr">
                      <a:solidFill>
                        <a:srgbClr val="DCD3E8"/>
                      </a:solidFill>
                      <a:prstDash val="solid"/>
                      <a:round/>
                      <a:headEnd type="none" w="med" len="med"/>
                      <a:tailEnd type="none" w="med" len="med"/>
                    </a:lnL>
                    <a:lnR w="6350" cap="flat" cmpd="sng" algn="ctr">
                      <a:solidFill>
                        <a:srgbClr val="DCD3E8"/>
                      </a:solidFill>
                      <a:prstDash val="solid"/>
                      <a:round/>
                      <a:headEnd type="none" w="med" len="med"/>
                      <a:tailEnd type="none" w="med" len="med"/>
                    </a:lnR>
                    <a:lnT w="6350" cap="flat" cmpd="sng" algn="ctr">
                      <a:solidFill>
                        <a:srgbClr val="DCD3E8"/>
                      </a:solidFill>
                      <a:prstDash val="solid"/>
                      <a:round/>
                      <a:headEnd type="none" w="med" len="med"/>
                      <a:tailEnd type="none" w="med" len="med"/>
                    </a:lnT>
                    <a:lnB w="6350" cap="flat" cmpd="sng" algn="ctr">
                      <a:solidFill>
                        <a:srgbClr val="DCD3E8"/>
                      </a:solidFill>
                      <a:prstDash val="solid"/>
                      <a:round/>
                      <a:headEnd type="none" w="med" len="med"/>
                      <a:tailEnd type="none" w="med" len="med"/>
                    </a:lnB>
                    <a:solidFill>
                      <a:srgbClr val="FFFFFF"/>
                    </a:solidFill>
                  </a:tcPr>
                </a:tc>
              </a:tr>
              <a:tr h="676656">
                <a:tc>
                  <a:txBody>
                    <a:bodyPr/>
                    <a:lstStyle/>
                    <a:p>
                      <a:pPr indent="0" marL="0">
                        <a:buNone/>
                      </a:pPr>
                      <a:r>
                        <a:rPr lang="en-US" sz="880" dirty="0">
                          <a:solidFill>
                            <a:srgbClr val="2B2B3A"/>
                          </a:solidFill>
                          <a:latin typeface="Arial" pitchFamily="34" charset="0"/>
                          <a:ea typeface="Arial" pitchFamily="34" charset="-122"/>
                          <a:cs typeface="Arial" pitchFamily="34" charset="-120"/>
                        </a:rPr>
                        <a:t>Daily news cards, too much text</a:t>
                      </a:r>
                      <a:endParaRPr lang="en-US" sz="880" dirty="0">
                        <a:latin typeface="Arial" charset="0"/>
                        <a:ea typeface="Arial" charset="0"/>
                        <a:cs typeface="Arial" charset="0"/>
                      </a:endParaRPr>
                    </a:p>
                  </a:txBody>
                  <a:tcPr marL="50800" marR="50800" marT="25400" marB="25400" anchor="ctr">
                    <a:lnL w="6350" cap="flat" cmpd="sng" algn="ctr">
                      <a:solidFill>
                        <a:srgbClr val="DCD3E8"/>
                      </a:solidFill>
                      <a:prstDash val="solid"/>
                      <a:round/>
                      <a:headEnd type="none" w="med" len="med"/>
                      <a:tailEnd type="none" w="med" len="med"/>
                    </a:lnL>
                    <a:lnR w="6350" cap="flat" cmpd="sng" algn="ctr">
                      <a:solidFill>
                        <a:srgbClr val="DCD3E8"/>
                      </a:solidFill>
                      <a:prstDash val="solid"/>
                      <a:round/>
                      <a:headEnd type="none" w="med" len="med"/>
                      <a:tailEnd type="none" w="med" len="med"/>
                    </a:lnR>
                    <a:lnT w="6350" cap="flat" cmpd="sng" algn="ctr">
                      <a:solidFill>
                        <a:srgbClr val="DCD3E8"/>
                      </a:solidFill>
                      <a:prstDash val="solid"/>
                      <a:round/>
                      <a:headEnd type="none" w="med" len="med"/>
                      <a:tailEnd type="none" w="med" len="med"/>
                    </a:lnT>
                    <a:lnB w="6350" cap="flat" cmpd="sng" algn="ctr">
                      <a:solidFill>
                        <a:srgbClr val="DCD3E8"/>
                      </a:solidFill>
                      <a:prstDash val="solid"/>
                      <a:round/>
                      <a:headEnd type="none" w="med" len="med"/>
                      <a:tailEnd type="none" w="med" len="med"/>
                    </a:lnB>
                    <a:solidFill>
                      <a:srgbClr val="F3EEF8"/>
                    </a:solidFill>
                  </a:tcPr>
                </a:tc>
                <a:tc>
                  <a:txBody>
                    <a:bodyPr/>
                    <a:lstStyle/>
                    <a:p>
                      <a:pPr indent="0" marL="0">
                        <a:buNone/>
                      </a:pPr>
                      <a:r>
                        <a:rPr lang="en-US" sz="880" dirty="0">
                          <a:solidFill>
                            <a:srgbClr val="2B2B3A"/>
                          </a:solidFill>
                          <a:latin typeface="Arial" pitchFamily="34" charset="0"/>
                          <a:ea typeface="Arial" pitchFamily="34" charset="-122"/>
                          <a:cs typeface="Arial" pitchFamily="34" charset="-120"/>
                        </a:rPr>
                        <a:t>Swap for short Urdu Reels, FAQs, how-to carousels</a:t>
                      </a:r>
                      <a:endParaRPr lang="en-US" sz="880" dirty="0">
                        <a:latin typeface="Arial" charset="0"/>
                        <a:ea typeface="Arial" charset="0"/>
                        <a:cs typeface="Arial" charset="0"/>
                      </a:endParaRPr>
                    </a:p>
                  </a:txBody>
                  <a:tcPr marL="50800" marR="50800" marT="25400" marB="25400" anchor="ctr">
                    <a:lnL w="6350" cap="flat" cmpd="sng" algn="ctr">
                      <a:solidFill>
                        <a:srgbClr val="DCD3E8"/>
                      </a:solidFill>
                      <a:prstDash val="solid"/>
                      <a:round/>
                      <a:headEnd type="none" w="med" len="med"/>
                      <a:tailEnd type="none" w="med" len="med"/>
                    </a:lnL>
                    <a:lnR w="6350" cap="flat" cmpd="sng" algn="ctr">
                      <a:solidFill>
                        <a:srgbClr val="DCD3E8"/>
                      </a:solidFill>
                      <a:prstDash val="solid"/>
                      <a:round/>
                      <a:headEnd type="none" w="med" len="med"/>
                      <a:tailEnd type="none" w="med" len="med"/>
                    </a:lnR>
                    <a:lnT w="6350" cap="flat" cmpd="sng" algn="ctr">
                      <a:solidFill>
                        <a:srgbClr val="DCD3E8"/>
                      </a:solidFill>
                      <a:prstDash val="solid"/>
                      <a:round/>
                      <a:headEnd type="none" w="med" len="med"/>
                      <a:tailEnd type="none" w="med" len="med"/>
                    </a:lnT>
                    <a:lnB w="6350" cap="flat" cmpd="sng" algn="ctr">
                      <a:solidFill>
                        <a:srgbClr val="DCD3E8"/>
                      </a:solidFill>
                      <a:prstDash val="solid"/>
                      <a:round/>
                      <a:headEnd type="none" w="med" len="med"/>
                      <a:tailEnd type="none" w="med" len="med"/>
                    </a:lnB>
                    <a:solidFill>
                      <a:srgbClr val="FFFFFF"/>
                    </a:solidFill>
                  </a:tcPr>
                </a:tc>
                <a:tc>
                  <a:txBody>
                    <a:bodyPr/>
                    <a:lstStyle/>
                    <a:p>
                      <a:pPr indent="0" marL="0">
                        <a:buNone/>
                      </a:pPr>
                      <a:r>
                        <a:rPr lang="en-US" sz="880" dirty="0">
                          <a:solidFill>
                            <a:srgbClr val="4F7A00"/>
                          </a:solidFill>
                          <a:latin typeface="Arial" pitchFamily="34" charset="0"/>
                          <a:ea typeface="Arial" pitchFamily="34" charset="-122"/>
                          <a:cs typeface="Arial" pitchFamily="34" charset="-120"/>
                        </a:rPr>
                        <a:t>Far higher reach and saves</a:t>
                      </a:r>
                      <a:endParaRPr lang="en-US" sz="880" dirty="0">
                        <a:latin typeface="Arial" charset="0"/>
                        <a:ea typeface="Arial" charset="0"/>
                        <a:cs typeface="Arial" charset="0"/>
                      </a:endParaRPr>
                    </a:p>
                  </a:txBody>
                  <a:tcPr marL="50800" marR="50800" marT="25400" marB="25400" anchor="ctr">
                    <a:lnL w="6350" cap="flat" cmpd="sng" algn="ctr">
                      <a:solidFill>
                        <a:srgbClr val="DCD3E8"/>
                      </a:solidFill>
                      <a:prstDash val="solid"/>
                      <a:round/>
                      <a:headEnd type="none" w="med" len="med"/>
                      <a:tailEnd type="none" w="med" len="med"/>
                    </a:lnL>
                    <a:lnR w="6350" cap="flat" cmpd="sng" algn="ctr">
                      <a:solidFill>
                        <a:srgbClr val="DCD3E8"/>
                      </a:solidFill>
                      <a:prstDash val="solid"/>
                      <a:round/>
                      <a:headEnd type="none" w="med" len="med"/>
                      <a:tailEnd type="none" w="med" len="med"/>
                    </a:lnR>
                    <a:lnT w="6350" cap="flat" cmpd="sng" algn="ctr">
                      <a:solidFill>
                        <a:srgbClr val="DCD3E8"/>
                      </a:solidFill>
                      <a:prstDash val="solid"/>
                      <a:round/>
                      <a:headEnd type="none" w="med" len="med"/>
                      <a:tailEnd type="none" w="med" len="med"/>
                    </a:lnT>
                    <a:lnB w="6350" cap="flat" cmpd="sng" algn="ctr">
                      <a:solidFill>
                        <a:srgbClr val="DCD3E8"/>
                      </a:solidFill>
                      <a:prstDash val="solid"/>
                      <a:round/>
                      <a:headEnd type="none" w="med" len="med"/>
                      <a:tailEnd type="none" w="med" len="med"/>
                    </a:lnB>
                    <a:solidFill>
                      <a:srgbClr val="FFFFFF"/>
                    </a:solidFill>
                  </a:tcPr>
                </a:tc>
              </a:tr>
              <a:tr h="676656">
                <a:tc>
                  <a:txBody>
                    <a:bodyPr/>
                    <a:lstStyle/>
                    <a:p>
                      <a:pPr indent="0" marL="0">
                        <a:buNone/>
                      </a:pPr>
                      <a:r>
                        <a:rPr lang="en-US" sz="880" dirty="0">
                          <a:solidFill>
                            <a:srgbClr val="2B2B3A"/>
                          </a:solidFill>
                          <a:latin typeface="Arial" pitchFamily="34" charset="0"/>
                          <a:ea typeface="Arial" pitchFamily="34" charset="-122"/>
                          <a:cs typeface="Arial" pitchFamily="34" charset="-120"/>
                        </a:rPr>
                        <a:t>GROW app not mentioned anywhere</a:t>
                      </a:r>
                      <a:endParaRPr lang="en-US" sz="880" dirty="0">
                        <a:latin typeface="Arial" charset="0"/>
                        <a:ea typeface="Arial" charset="0"/>
                        <a:cs typeface="Arial" charset="0"/>
                      </a:endParaRPr>
                    </a:p>
                  </a:txBody>
                  <a:tcPr marL="50800" marR="50800" marT="25400" marB="25400" anchor="ctr">
                    <a:lnL w="6350" cap="flat" cmpd="sng" algn="ctr">
                      <a:solidFill>
                        <a:srgbClr val="DCD3E8"/>
                      </a:solidFill>
                      <a:prstDash val="solid"/>
                      <a:round/>
                      <a:headEnd type="none" w="med" len="med"/>
                      <a:tailEnd type="none" w="med" len="med"/>
                    </a:lnL>
                    <a:lnR w="6350" cap="flat" cmpd="sng" algn="ctr">
                      <a:solidFill>
                        <a:srgbClr val="DCD3E8"/>
                      </a:solidFill>
                      <a:prstDash val="solid"/>
                      <a:round/>
                      <a:headEnd type="none" w="med" len="med"/>
                      <a:tailEnd type="none" w="med" len="med"/>
                    </a:lnR>
                    <a:lnT w="6350" cap="flat" cmpd="sng" algn="ctr">
                      <a:solidFill>
                        <a:srgbClr val="DCD3E8"/>
                      </a:solidFill>
                      <a:prstDash val="solid"/>
                      <a:round/>
                      <a:headEnd type="none" w="med" len="med"/>
                      <a:tailEnd type="none" w="med" len="med"/>
                    </a:lnT>
                    <a:lnB w="6350" cap="flat" cmpd="sng" algn="ctr">
                      <a:solidFill>
                        <a:srgbClr val="DCD3E8"/>
                      </a:solidFill>
                      <a:prstDash val="solid"/>
                      <a:round/>
                      <a:headEnd type="none" w="med" len="med"/>
                      <a:tailEnd type="none" w="med" len="med"/>
                    </a:lnB>
                    <a:solidFill>
                      <a:srgbClr val="F3EEF8"/>
                    </a:solidFill>
                  </a:tcPr>
                </a:tc>
                <a:tc>
                  <a:txBody>
                    <a:bodyPr/>
                    <a:lstStyle/>
                    <a:p>
                      <a:pPr indent="0" marL="0">
                        <a:buNone/>
                      </a:pPr>
                      <a:r>
                        <a:rPr lang="en-US" sz="880" dirty="0">
                          <a:solidFill>
                            <a:srgbClr val="2B2B3A"/>
                          </a:solidFill>
                          <a:latin typeface="Arial" pitchFamily="34" charset="0"/>
                          <a:ea typeface="Arial" pitchFamily="34" charset="-122"/>
                          <a:cs typeface="Arial" pitchFamily="34" charset="-120"/>
                        </a:rPr>
                        <a:t>Put app download link and GROW in bio and every post</a:t>
                      </a:r>
                      <a:endParaRPr lang="en-US" sz="880" dirty="0">
                        <a:latin typeface="Arial" charset="0"/>
                        <a:ea typeface="Arial" charset="0"/>
                        <a:cs typeface="Arial" charset="0"/>
                      </a:endParaRPr>
                    </a:p>
                  </a:txBody>
                  <a:tcPr marL="50800" marR="50800" marT="25400" marB="25400" anchor="ctr">
                    <a:lnL w="6350" cap="flat" cmpd="sng" algn="ctr">
                      <a:solidFill>
                        <a:srgbClr val="DCD3E8"/>
                      </a:solidFill>
                      <a:prstDash val="solid"/>
                      <a:round/>
                      <a:headEnd type="none" w="med" len="med"/>
                      <a:tailEnd type="none" w="med" len="med"/>
                    </a:lnL>
                    <a:lnR w="6350" cap="flat" cmpd="sng" algn="ctr">
                      <a:solidFill>
                        <a:srgbClr val="DCD3E8"/>
                      </a:solidFill>
                      <a:prstDash val="solid"/>
                      <a:round/>
                      <a:headEnd type="none" w="med" len="med"/>
                      <a:tailEnd type="none" w="med" len="med"/>
                    </a:lnR>
                    <a:lnT w="6350" cap="flat" cmpd="sng" algn="ctr">
                      <a:solidFill>
                        <a:srgbClr val="DCD3E8"/>
                      </a:solidFill>
                      <a:prstDash val="solid"/>
                      <a:round/>
                      <a:headEnd type="none" w="med" len="med"/>
                      <a:tailEnd type="none" w="med" len="med"/>
                    </a:lnT>
                    <a:lnB w="6350" cap="flat" cmpd="sng" algn="ctr">
                      <a:solidFill>
                        <a:srgbClr val="DCD3E8"/>
                      </a:solidFill>
                      <a:prstDash val="solid"/>
                      <a:round/>
                      <a:headEnd type="none" w="med" len="med"/>
                      <a:tailEnd type="none" w="med" len="med"/>
                    </a:lnB>
                    <a:solidFill>
                      <a:srgbClr val="FFFFFF"/>
                    </a:solidFill>
                  </a:tcPr>
                </a:tc>
                <a:tc>
                  <a:txBody>
                    <a:bodyPr/>
                    <a:lstStyle/>
                    <a:p>
                      <a:pPr indent="0" marL="0">
                        <a:buNone/>
                      </a:pPr>
                      <a:r>
                        <a:rPr lang="en-US" sz="880" dirty="0">
                          <a:solidFill>
                            <a:srgbClr val="4F7A00"/>
                          </a:solidFill>
                          <a:latin typeface="Arial" pitchFamily="34" charset="0"/>
                          <a:ea typeface="Arial" pitchFamily="34" charset="-122"/>
                          <a:cs typeface="Arial" pitchFamily="34" charset="-120"/>
                        </a:rPr>
                        <a:t>Direct path from post to install</a:t>
                      </a:r>
                      <a:endParaRPr lang="en-US" sz="880" dirty="0">
                        <a:latin typeface="Arial" charset="0"/>
                        <a:ea typeface="Arial" charset="0"/>
                        <a:cs typeface="Arial" charset="0"/>
                      </a:endParaRPr>
                    </a:p>
                  </a:txBody>
                  <a:tcPr marL="50800" marR="50800" marT="25400" marB="25400" anchor="ctr">
                    <a:lnL w="6350" cap="flat" cmpd="sng" algn="ctr">
                      <a:solidFill>
                        <a:srgbClr val="DCD3E8"/>
                      </a:solidFill>
                      <a:prstDash val="solid"/>
                      <a:round/>
                      <a:headEnd type="none" w="med" len="med"/>
                      <a:tailEnd type="none" w="med" len="med"/>
                    </a:lnL>
                    <a:lnR w="6350" cap="flat" cmpd="sng" algn="ctr">
                      <a:solidFill>
                        <a:srgbClr val="DCD3E8"/>
                      </a:solidFill>
                      <a:prstDash val="solid"/>
                      <a:round/>
                      <a:headEnd type="none" w="med" len="med"/>
                      <a:tailEnd type="none" w="med" len="med"/>
                    </a:lnR>
                    <a:lnT w="6350" cap="flat" cmpd="sng" algn="ctr">
                      <a:solidFill>
                        <a:srgbClr val="DCD3E8"/>
                      </a:solidFill>
                      <a:prstDash val="solid"/>
                      <a:round/>
                      <a:headEnd type="none" w="med" len="med"/>
                      <a:tailEnd type="none" w="med" len="med"/>
                    </a:lnT>
                    <a:lnB w="6350" cap="flat" cmpd="sng" algn="ctr">
                      <a:solidFill>
                        <a:srgbClr val="DCD3E8"/>
                      </a:solidFill>
                      <a:prstDash val="solid"/>
                      <a:round/>
                      <a:headEnd type="none" w="med" len="med"/>
                      <a:tailEnd type="none" w="med" len="med"/>
                    </a:lnB>
                    <a:solidFill>
                      <a:srgbClr val="FFFFFF"/>
                    </a:solidFill>
                  </a:tcPr>
                </a:tc>
              </a:tr>
              <a:tr h="676656">
                <a:tc>
                  <a:txBody>
                    <a:bodyPr/>
                    <a:lstStyle/>
                    <a:p>
                      <a:pPr indent="0" marL="0">
                        <a:buNone/>
                      </a:pPr>
                      <a:r>
                        <a:rPr lang="en-US" sz="880" dirty="0">
                          <a:solidFill>
                            <a:srgbClr val="2B2B3A"/>
                          </a:solidFill>
                          <a:latin typeface="Arial" pitchFamily="34" charset="0"/>
                          <a:ea typeface="Arial" pitchFamily="34" charset="-122"/>
                          <a:cs typeface="Arial" pitchFamily="34" charset="-120"/>
                        </a:rPr>
                        <a:t>Same stock-photo ad repeated</a:t>
                      </a:r>
                      <a:endParaRPr lang="en-US" sz="880" dirty="0">
                        <a:latin typeface="Arial" charset="0"/>
                        <a:ea typeface="Arial" charset="0"/>
                        <a:cs typeface="Arial" charset="0"/>
                      </a:endParaRPr>
                    </a:p>
                  </a:txBody>
                  <a:tcPr marL="50800" marR="50800" marT="25400" marB="25400" anchor="ctr">
                    <a:lnL w="6350" cap="flat" cmpd="sng" algn="ctr">
                      <a:solidFill>
                        <a:srgbClr val="DCD3E8"/>
                      </a:solidFill>
                      <a:prstDash val="solid"/>
                      <a:round/>
                      <a:headEnd type="none" w="med" len="med"/>
                      <a:tailEnd type="none" w="med" len="med"/>
                    </a:lnL>
                    <a:lnR w="6350" cap="flat" cmpd="sng" algn="ctr">
                      <a:solidFill>
                        <a:srgbClr val="DCD3E8"/>
                      </a:solidFill>
                      <a:prstDash val="solid"/>
                      <a:round/>
                      <a:headEnd type="none" w="med" len="med"/>
                      <a:tailEnd type="none" w="med" len="med"/>
                    </a:lnR>
                    <a:lnT w="6350" cap="flat" cmpd="sng" algn="ctr">
                      <a:solidFill>
                        <a:srgbClr val="DCD3E8"/>
                      </a:solidFill>
                      <a:prstDash val="solid"/>
                      <a:round/>
                      <a:headEnd type="none" w="med" len="med"/>
                      <a:tailEnd type="none" w="med" len="med"/>
                    </a:lnT>
                    <a:lnB w="6350" cap="flat" cmpd="sng" algn="ctr">
                      <a:solidFill>
                        <a:srgbClr val="DCD3E8"/>
                      </a:solidFill>
                      <a:prstDash val="solid"/>
                      <a:round/>
                      <a:headEnd type="none" w="med" len="med"/>
                      <a:tailEnd type="none" w="med" len="med"/>
                    </a:lnB>
                    <a:solidFill>
                      <a:srgbClr val="F3EEF8"/>
                    </a:solidFill>
                  </a:tcPr>
                </a:tc>
                <a:tc>
                  <a:txBody>
                    <a:bodyPr/>
                    <a:lstStyle/>
                    <a:p>
                      <a:pPr indent="0" marL="0">
                        <a:buNone/>
                      </a:pPr>
                      <a:r>
                        <a:rPr lang="en-US" sz="880" dirty="0">
                          <a:solidFill>
                            <a:srgbClr val="2B2B3A"/>
                          </a:solidFill>
                          <a:latin typeface="Arial" pitchFamily="34" charset="0"/>
                          <a:ea typeface="Arial" pitchFamily="34" charset="-122"/>
                          <a:cs typeface="Arial" pitchFamily="34" charset="-120"/>
                        </a:rPr>
                        <a:t>Real people and customer stories</a:t>
                      </a:r>
                      <a:endParaRPr lang="en-US" sz="880" dirty="0">
                        <a:latin typeface="Arial" charset="0"/>
                        <a:ea typeface="Arial" charset="0"/>
                        <a:cs typeface="Arial" charset="0"/>
                      </a:endParaRPr>
                    </a:p>
                  </a:txBody>
                  <a:tcPr marL="50800" marR="50800" marT="25400" marB="25400" anchor="ctr">
                    <a:lnL w="6350" cap="flat" cmpd="sng" algn="ctr">
                      <a:solidFill>
                        <a:srgbClr val="DCD3E8"/>
                      </a:solidFill>
                      <a:prstDash val="solid"/>
                      <a:round/>
                      <a:headEnd type="none" w="med" len="med"/>
                      <a:tailEnd type="none" w="med" len="med"/>
                    </a:lnL>
                    <a:lnR w="6350" cap="flat" cmpd="sng" algn="ctr">
                      <a:solidFill>
                        <a:srgbClr val="DCD3E8"/>
                      </a:solidFill>
                      <a:prstDash val="solid"/>
                      <a:round/>
                      <a:headEnd type="none" w="med" len="med"/>
                      <a:tailEnd type="none" w="med" len="med"/>
                    </a:lnR>
                    <a:lnT w="6350" cap="flat" cmpd="sng" algn="ctr">
                      <a:solidFill>
                        <a:srgbClr val="DCD3E8"/>
                      </a:solidFill>
                      <a:prstDash val="solid"/>
                      <a:round/>
                      <a:headEnd type="none" w="med" len="med"/>
                      <a:tailEnd type="none" w="med" len="med"/>
                    </a:lnT>
                    <a:lnB w="6350" cap="flat" cmpd="sng" algn="ctr">
                      <a:solidFill>
                        <a:srgbClr val="DCD3E8"/>
                      </a:solidFill>
                      <a:prstDash val="solid"/>
                      <a:round/>
                      <a:headEnd type="none" w="med" len="med"/>
                      <a:tailEnd type="none" w="med" len="med"/>
                    </a:lnB>
                    <a:solidFill>
                      <a:srgbClr val="FFFFFF"/>
                    </a:solidFill>
                  </a:tcPr>
                </a:tc>
                <a:tc>
                  <a:txBody>
                    <a:bodyPr/>
                    <a:lstStyle/>
                    <a:p>
                      <a:pPr indent="0" marL="0">
                        <a:buNone/>
                      </a:pPr>
                      <a:r>
                        <a:rPr lang="en-US" sz="880" dirty="0">
                          <a:solidFill>
                            <a:srgbClr val="4F7A00"/>
                          </a:solidFill>
                          <a:latin typeface="Arial" pitchFamily="34" charset="0"/>
                          <a:ea typeface="Arial" pitchFamily="34" charset="-122"/>
                          <a:cs typeface="Arial" pitchFamily="34" charset="-120"/>
                        </a:rPr>
                        <a:t>More trust, better ad results</a:t>
                      </a:r>
                      <a:endParaRPr lang="en-US" sz="880" dirty="0">
                        <a:latin typeface="Arial" charset="0"/>
                        <a:ea typeface="Arial" charset="0"/>
                        <a:cs typeface="Arial" charset="0"/>
                      </a:endParaRPr>
                    </a:p>
                  </a:txBody>
                  <a:tcPr marL="50800" marR="50800" marT="25400" marB="25400" anchor="ctr">
                    <a:lnL w="6350" cap="flat" cmpd="sng" algn="ctr">
                      <a:solidFill>
                        <a:srgbClr val="DCD3E8"/>
                      </a:solidFill>
                      <a:prstDash val="solid"/>
                      <a:round/>
                      <a:headEnd type="none" w="med" len="med"/>
                      <a:tailEnd type="none" w="med" len="med"/>
                    </a:lnL>
                    <a:lnR w="6350" cap="flat" cmpd="sng" algn="ctr">
                      <a:solidFill>
                        <a:srgbClr val="DCD3E8"/>
                      </a:solidFill>
                      <a:prstDash val="solid"/>
                      <a:round/>
                      <a:headEnd type="none" w="med" len="med"/>
                      <a:tailEnd type="none" w="med" len="med"/>
                    </a:lnR>
                    <a:lnT w="6350" cap="flat" cmpd="sng" algn="ctr">
                      <a:solidFill>
                        <a:srgbClr val="DCD3E8"/>
                      </a:solidFill>
                      <a:prstDash val="solid"/>
                      <a:round/>
                      <a:headEnd type="none" w="med" len="med"/>
                      <a:tailEnd type="none" w="med" len="med"/>
                    </a:lnT>
                    <a:lnB w="6350" cap="flat" cmpd="sng" algn="ctr">
                      <a:solidFill>
                        <a:srgbClr val="DCD3E8"/>
                      </a:solidFill>
                      <a:prstDash val="solid"/>
                      <a:round/>
                      <a:headEnd type="none" w="med" len="med"/>
                      <a:tailEnd type="none" w="med" len="med"/>
                    </a:lnB>
                    <a:solidFill>
                      <a:srgbClr val="FFFFFF"/>
                    </a:solidFill>
                  </a:tcPr>
                </a:tc>
              </a:tr>
              <a:tr h="676656">
                <a:tc>
                  <a:txBody>
                    <a:bodyPr/>
                    <a:lstStyle/>
                    <a:p>
                      <a:pPr indent="0" marL="0">
                        <a:buNone/>
                      </a:pPr>
                      <a:r>
                        <a:rPr lang="en-US" sz="880" dirty="0">
                          <a:solidFill>
                            <a:srgbClr val="2B2B3A"/>
                          </a:solidFill>
                          <a:latin typeface="Arial" pitchFamily="34" charset="0"/>
                          <a:ea typeface="Arial" pitchFamily="34" charset="-122"/>
                          <a:cs typeface="Arial" pitchFamily="34" charset="-120"/>
                        </a:rPr>
                        <a:t>No highlights; category says "Product/service"</a:t>
                      </a:r>
                      <a:endParaRPr lang="en-US" sz="880" dirty="0">
                        <a:latin typeface="Arial" charset="0"/>
                        <a:ea typeface="Arial" charset="0"/>
                        <a:cs typeface="Arial" charset="0"/>
                      </a:endParaRPr>
                    </a:p>
                  </a:txBody>
                  <a:tcPr marL="50800" marR="50800" marT="25400" marB="25400" anchor="ctr">
                    <a:lnL w="6350" cap="flat" cmpd="sng" algn="ctr">
                      <a:solidFill>
                        <a:srgbClr val="DCD3E8"/>
                      </a:solidFill>
                      <a:prstDash val="solid"/>
                      <a:round/>
                      <a:headEnd type="none" w="med" len="med"/>
                      <a:tailEnd type="none" w="med" len="med"/>
                    </a:lnL>
                    <a:lnR w="6350" cap="flat" cmpd="sng" algn="ctr">
                      <a:solidFill>
                        <a:srgbClr val="DCD3E8"/>
                      </a:solidFill>
                      <a:prstDash val="solid"/>
                      <a:round/>
                      <a:headEnd type="none" w="med" len="med"/>
                      <a:tailEnd type="none" w="med" len="med"/>
                    </a:lnR>
                    <a:lnT w="6350" cap="flat" cmpd="sng" algn="ctr">
                      <a:solidFill>
                        <a:srgbClr val="DCD3E8"/>
                      </a:solidFill>
                      <a:prstDash val="solid"/>
                      <a:round/>
                      <a:headEnd type="none" w="med" len="med"/>
                      <a:tailEnd type="none" w="med" len="med"/>
                    </a:lnT>
                    <a:lnB w="6350" cap="flat" cmpd="sng" algn="ctr">
                      <a:solidFill>
                        <a:srgbClr val="DCD3E8"/>
                      </a:solidFill>
                      <a:prstDash val="solid"/>
                      <a:round/>
                      <a:headEnd type="none" w="med" len="med"/>
                      <a:tailEnd type="none" w="med" len="med"/>
                    </a:lnB>
                    <a:solidFill>
                      <a:srgbClr val="F3EEF8"/>
                    </a:solidFill>
                  </a:tcPr>
                </a:tc>
                <a:tc>
                  <a:txBody>
                    <a:bodyPr/>
                    <a:lstStyle/>
                    <a:p>
                      <a:pPr indent="0" marL="0">
                        <a:buNone/>
                      </a:pPr>
                      <a:r>
                        <a:rPr lang="en-US" sz="880" dirty="0">
                          <a:solidFill>
                            <a:srgbClr val="2B2B3A"/>
                          </a:solidFill>
                          <a:latin typeface="Arial" pitchFamily="34" charset="0"/>
                          <a:ea typeface="Arial" pitchFamily="34" charset="-122"/>
                          <a:cs typeface="Arial" pitchFamily="34" charset="-120"/>
                        </a:rPr>
                        <a:t>Add highlights: Start, Halal, Safety, FAQs; get verified</a:t>
                      </a:r>
                      <a:endParaRPr lang="en-US" sz="880" dirty="0">
                        <a:latin typeface="Arial" charset="0"/>
                        <a:ea typeface="Arial" charset="0"/>
                        <a:cs typeface="Arial" charset="0"/>
                      </a:endParaRPr>
                    </a:p>
                  </a:txBody>
                  <a:tcPr marL="50800" marR="50800" marT="25400" marB="25400" anchor="ctr">
                    <a:lnL w="6350" cap="flat" cmpd="sng" algn="ctr">
                      <a:solidFill>
                        <a:srgbClr val="DCD3E8"/>
                      </a:solidFill>
                      <a:prstDash val="solid"/>
                      <a:round/>
                      <a:headEnd type="none" w="med" len="med"/>
                      <a:tailEnd type="none" w="med" len="med"/>
                    </a:lnL>
                    <a:lnR w="6350" cap="flat" cmpd="sng" algn="ctr">
                      <a:solidFill>
                        <a:srgbClr val="DCD3E8"/>
                      </a:solidFill>
                      <a:prstDash val="solid"/>
                      <a:round/>
                      <a:headEnd type="none" w="med" len="med"/>
                      <a:tailEnd type="none" w="med" len="med"/>
                    </a:lnR>
                    <a:lnT w="6350" cap="flat" cmpd="sng" algn="ctr">
                      <a:solidFill>
                        <a:srgbClr val="DCD3E8"/>
                      </a:solidFill>
                      <a:prstDash val="solid"/>
                      <a:round/>
                      <a:headEnd type="none" w="med" len="med"/>
                      <a:tailEnd type="none" w="med" len="med"/>
                    </a:lnT>
                    <a:lnB w="6350" cap="flat" cmpd="sng" algn="ctr">
                      <a:solidFill>
                        <a:srgbClr val="DCD3E8"/>
                      </a:solidFill>
                      <a:prstDash val="solid"/>
                      <a:round/>
                      <a:headEnd type="none" w="med" len="med"/>
                      <a:tailEnd type="none" w="med" len="med"/>
                    </a:lnB>
                    <a:solidFill>
                      <a:srgbClr val="FFFFFF"/>
                    </a:solidFill>
                  </a:tcPr>
                </a:tc>
                <a:tc>
                  <a:txBody>
                    <a:bodyPr/>
                    <a:lstStyle/>
                    <a:p>
                      <a:pPr indent="0" marL="0">
                        <a:buNone/>
                      </a:pPr>
                      <a:r>
                        <a:rPr lang="en-US" sz="880" dirty="0">
                          <a:solidFill>
                            <a:srgbClr val="4F7A00"/>
                          </a:solidFill>
                          <a:latin typeface="Arial" pitchFamily="34" charset="0"/>
                          <a:ea typeface="Arial" pitchFamily="34" charset="-122"/>
                          <a:cs typeface="Arial" pitchFamily="34" charset="-120"/>
                        </a:rPr>
                        <a:t>Answers questions, protects against fake pages</a:t>
                      </a:r>
                      <a:endParaRPr lang="en-US" sz="880" dirty="0">
                        <a:latin typeface="Arial" charset="0"/>
                        <a:ea typeface="Arial" charset="0"/>
                        <a:cs typeface="Arial" charset="0"/>
                      </a:endParaRPr>
                    </a:p>
                  </a:txBody>
                  <a:tcPr marL="50800" marR="50800" marT="25400" marB="25400" anchor="ctr">
                    <a:lnL w="6350" cap="flat" cmpd="sng" algn="ctr">
                      <a:solidFill>
                        <a:srgbClr val="DCD3E8"/>
                      </a:solidFill>
                      <a:prstDash val="solid"/>
                      <a:round/>
                      <a:headEnd type="none" w="med" len="med"/>
                      <a:tailEnd type="none" w="med" len="med"/>
                    </a:lnL>
                    <a:lnR w="6350" cap="flat" cmpd="sng" algn="ctr">
                      <a:solidFill>
                        <a:srgbClr val="DCD3E8"/>
                      </a:solidFill>
                      <a:prstDash val="solid"/>
                      <a:round/>
                      <a:headEnd type="none" w="med" len="med"/>
                      <a:tailEnd type="none" w="med" len="med"/>
                    </a:lnR>
                    <a:lnT w="6350" cap="flat" cmpd="sng" algn="ctr">
                      <a:solidFill>
                        <a:srgbClr val="DCD3E8"/>
                      </a:solidFill>
                      <a:prstDash val="solid"/>
                      <a:round/>
                      <a:headEnd type="none" w="med" len="med"/>
                      <a:tailEnd type="none" w="med" len="med"/>
                    </a:lnT>
                    <a:lnB w="6350" cap="flat" cmpd="sng" algn="ctr">
                      <a:solidFill>
                        <a:srgbClr val="DCD3E8"/>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logo_light.png">    </p:cNvPr>
          <p:cNvPicPr>
            <a:picLocks noChangeAspect="1"/>
          </p:cNvPicPr>
          <p:nvPr/>
        </p:nvPicPr>
        <p:blipFill>
          <a:blip r:embed="rId1"/>
          <a:stretch>
            <a:fillRect/>
          </a:stretch>
        </p:blipFill>
        <p:spPr>
          <a:xfrm>
            <a:off x="7882128" y="164592"/>
            <a:ext cx="896112" cy="475488"/>
          </a:xfrm>
          <a:prstGeom prst="rect">
            <a:avLst/>
          </a:prstGeom>
        </p:spPr>
      </p:pic>
      <p:pic>
        <p:nvPicPr>
          <p:cNvPr id="3" name="Image 1" descr="corner_t.png">    </p:cNvPr>
          <p:cNvPicPr>
            <a:picLocks noChangeAspect="1"/>
          </p:cNvPicPr>
          <p:nvPr/>
        </p:nvPicPr>
        <p:blipFill>
          <a:blip r:embed="rId2"/>
          <a:stretch>
            <a:fillRect/>
          </a:stretch>
        </p:blipFill>
        <p:spPr>
          <a:xfrm>
            <a:off x="8138160" y="4553712"/>
            <a:ext cx="1005840" cy="726948"/>
          </a:xfrm>
          <a:prstGeom prst="rect">
            <a:avLst/>
          </a:prstGeom>
        </p:spPr>
      </p:pic>
      <p:sp>
        <p:nvSpPr>
          <p:cNvPr id="4" name="Text 0"/>
          <p:cNvSpPr txBox="1"/>
          <p:nvPr/>
        </p:nvSpPr>
        <p:spPr>
          <a:xfrm>
            <a:off x="457200" y="228600"/>
            <a:ext cx="7223760" cy="548640"/>
          </a:xfrm>
          <a:prstGeom prst="rect">
            <a:avLst/>
          </a:prstGeom>
          <a:noFill/>
          <a:ln/>
        </p:spPr>
        <p:txBody>
          <a:bodyPr wrap="square" lIns="0" tIns="0" rIns="0" bIns="0" rtlCol="0" anchor="ctr"/>
          <a:lstStyle/>
          <a:p>
            <a:pPr indent="0" marL="0">
              <a:buNone/>
            </a:pPr>
            <a:r>
              <a:rPr lang="en-US" sz="2400" b="1" dirty="0">
                <a:solidFill>
                  <a:srgbClr val="440973"/>
                </a:solidFill>
                <a:latin typeface="Arial" pitchFamily="34" charset="0"/>
                <a:ea typeface="Arial" pitchFamily="34" charset="-122"/>
                <a:cs typeface="Arial" pitchFamily="34" charset="-120"/>
              </a:rPr>
              <a:t>Why posting alone brings customers very slowly</a:t>
            </a:r>
            <a:endParaRPr lang="en-US" sz="2400" dirty="0"/>
          </a:p>
        </p:txBody>
      </p:sp>
      <p:sp>
        <p:nvSpPr>
          <p:cNvPr id="5" name="Text 1"/>
          <p:cNvSpPr txBox="1"/>
          <p:nvPr/>
        </p:nvSpPr>
        <p:spPr>
          <a:xfrm>
            <a:off x="457200" y="4828032"/>
            <a:ext cx="7498080" cy="228600"/>
          </a:xfrm>
          <a:prstGeom prst="rect">
            <a:avLst/>
          </a:prstGeom>
          <a:noFill/>
          <a:ln/>
        </p:spPr>
        <p:txBody>
          <a:bodyPr wrap="square" lIns="0" tIns="0" rIns="0" bIns="0" rtlCol="0" anchor="ctr"/>
          <a:lstStyle/>
          <a:p>
            <a:pPr indent="0" marL="0">
              <a:buNone/>
            </a:pPr>
            <a:r>
              <a:rPr lang="en-US" sz="750" dirty="0">
                <a:solidFill>
                  <a:srgbClr val="6B6B80"/>
                </a:solidFill>
                <a:latin typeface="Arial" pitchFamily="34" charset="0"/>
                <a:ea typeface="Arial" pitchFamily="34" charset="-122"/>
                <a:cs typeface="Arial" pitchFamily="34" charset="-120"/>
              </a:rPr>
              <a:t>Illustration only. Follower and like counts from @alhabibcapitalmarkets, 25 Sept 2026.</a:t>
            </a:r>
            <a:endParaRPr lang="en-US" sz="750" dirty="0"/>
          </a:p>
        </p:txBody>
      </p:sp>
      <p:sp>
        <p:nvSpPr>
          <p:cNvPr id="6" name="Text 2"/>
          <p:cNvSpPr txBox="1"/>
          <p:nvPr/>
        </p:nvSpPr>
        <p:spPr>
          <a:xfrm>
            <a:off x="457200" y="868680"/>
            <a:ext cx="7498080" cy="548640"/>
          </a:xfrm>
          <a:prstGeom prst="rect">
            <a:avLst/>
          </a:prstGeom>
          <a:noFill/>
          <a:ln/>
        </p:spPr>
        <p:txBody>
          <a:bodyPr wrap="square" lIns="0" tIns="0" rIns="0" bIns="0" rtlCol="0" anchor="t"/>
          <a:lstStyle/>
          <a:p>
            <a:pPr indent="0" marL="0">
              <a:buNone/>
            </a:pPr>
            <a:r>
              <a:rPr lang="en-US" sz="1200" dirty="0">
                <a:solidFill>
                  <a:srgbClr val="2B2B3A"/>
                </a:solidFill>
                <a:latin typeface="Arial" pitchFamily="34" charset="0"/>
                <a:ea typeface="Arial" pitchFamily="34" charset="-122"/>
                <a:cs typeface="Arial" pitchFamily="34" charset="-120"/>
              </a:rPr>
              <a:t>Instagram and Facebook mainly show a page's posts to people who already follow it. They only push posts to new people when the post is paid for, or when it is already very popular.</a:t>
            </a:r>
            <a:endParaRPr lang="en-US" sz="1200" dirty="0"/>
          </a:p>
        </p:txBody>
      </p:sp>
      <p:sp>
        <p:nvSpPr>
          <p:cNvPr id="7" name="Text 3"/>
          <p:cNvSpPr txBox="1"/>
          <p:nvPr/>
        </p:nvSpPr>
        <p:spPr>
          <a:xfrm>
            <a:off x="457200" y="1600200"/>
            <a:ext cx="1371600" cy="1143000"/>
          </a:xfrm>
          <a:prstGeom prst="rect">
            <a:avLst/>
          </a:prstGeom>
          <a:noFill/>
          <a:ln/>
        </p:spPr>
        <p:txBody>
          <a:bodyPr wrap="square" lIns="0" tIns="0" rIns="0" bIns="0" rtlCol="0" anchor="ctr"/>
          <a:lstStyle/>
          <a:p>
            <a:pPr indent="0" marL="0">
              <a:buNone/>
            </a:pPr>
            <a:r>
              <a:rPr lang="en-US" sz="1300" b="1" dirty="0">
                <a:solidFill>
                  <a:srgbClr val="440973"/>
                </a:solidFill>
                <a:latin typeface="Arial" pitchFamily="34" charset="0"/>
                <a:ea typeface="Arial" pitchFamily="34" charset="-122"/>
                <a:cs typeface="Arial" pitchFamily="34" charset="-120"/>
              </a:rPr>
              <a:t>Post without ads</a:t>
            </a:r>
            <a:endParaRPr lang="en-US" sz="1300" dirty="0"/>
          </a:p>
        </p:txBody>
      </p:sp>
      <p:sp>
        <p:nvSpPr>
          <p:cNvPr id="8" name="Shape 4"/>
          <p:cNvSpPr/>
          <p:nvPr/>
        </p:nvSpPr>
        <p:spPr>
          <a:xfrm>
            <a:off x="1874520" y="1600200"/>
            <a:ext cx="1481328" cy="1143000"/>
          </a:xfrm>
          <a:prstGeom prst="chevron">
            <a:avLst/>
          </a:prstGeom>
          <a:solidFill>
            <a:srgbClr val="F3EEF8"/>
          </a:solidFill>
          <a:ln w="12700">
            <a:solidFill>
              <a:srgbClr val="F3EEF8"/>
            </a:solidFill>
            <a:prstDash val="solid"/>
          </a:ln>
        </p:spPr>
      </p:sp>
      <p:sp>
        <p:nvSpPr>
          <p:cNvPr id="9" name="Text 5"/>
          <p:cNvSpPr txBox="1"/>
          <p:nvPr/>
        </p:nvSpPr>
        <p:spPr>
          <a:xfrm>
            <a:off x="2404872" y="1691640"/>
            <a:ext cx="731520" cy="960120"/>
          </a:xfrm>
          <a:prstGeom prst="rect">
            <a:avLst/>
          </a:prstGeom>
          <a:noFill/>
          <a:ln/>
        </p:spPr>
        <p:txBody>
          <a:bodyPr wrap="square" lIns="0" tIns="0" rIns="0" bIns="0" rtlCol="0" anchor="ctr"/>
          <a:lstStyle/>
          <a:p>
            <a:pPr algn="ctr" indent="0" marL="0">
              <a:buNone/>
            </a:pPr>
            <a:r>
              <a:rPr lang="en-US" sz="850" dirty="0">
                <a:solidFill>
                  <a:srgbClr val="2B2B3A"/>
                </a:solidFill>
                <a:latin typeface="Arial" pitchFamily="34" charset="0"/>
                <a:ea typeface="Arial" pitchFamily="34" charset="-122"/>
                <a:cs typeface="Arial" pitchFamily="34" charset="-120"/>
              </a:rPr>
              <a:t>A good post goes up</a:t>
            </a:r>
            <a:endParaRPr lang="en-US" sz="850" dirty="0"/>
          </a:p>
        </p:txBody>
      </p:sp>
      <p:sp>
        <p:nvSpPr>
          <p:cNvPr id="10" name="Shape 6"/>
          <p:cNvSpPr/>
          <p:nvPr/>
        </p:nvSpPr>
        <p:spPr>
          <a:xfrm>
            <a:off x="3392424" y="1600200"/>
            <a:ext cx="1481328" cy="1143000"/>
          </a:xfrm>
          <a:prstGeom prst="chevron">
            <a:avLst/>
          </a:prstGeom>
          <a:solidFill>
            <a:srgbClr val="F3EEF8"/>
          </a:solidFill>
          <a:ln w="12700">
            <a:solidFill>
              <a:srgbClr val="F3EEF8"/>
            </a:solidFill>
            <a:prstDash val="solid"/>
          </a:ln>
        </p:spPr>
      </p:sp>
      <p:sp>
        <p:nvSpPr>
          <p:cNvPr id="11" name="Text 7"/>
          <p:cNvSpPr txBox="1"/>
          <p:nvPr/>
        </p:nvSpPr>
        <p:spPr>
          <a:xfrm>
            <a:off x="3922776" y="1691640"/>
            <a:ext cx="731520" cy="960120"/>
          </a:xfrm>
          <a:prstGeom prst="rect">
            <a:avLst/>
          </a:prstGeom>
          <a:noFill/>
          <a:ln/>
        </p:spPr>
        <p:txBody>
          <a:bodyPr wrap="square" lIns="0" tIns="0" rIns="0" bIns="0" rtlCol="0" anchor="ctr"/>
          <a:lstStyle/>
          <a:p>
            <a:pPr algn="ctr" indent="0" marL="0">
              <a:buNone/>
            </a:pPr>
            <a:r>
              <a:rPr lang="en-US" sz="850" dirty="0">
                <a:solidFill>
                  <a:srgbClr val="2B2B3A"/>
                </a:solidFill>
                <a:latin typeface="Arial" pitchFamily="34" charset="0"/>
                <a:ea typeface="Arial" pitchFamily="34" charset="-122"/>
                <a:cs typeface="Arial" pitchFamily="34" charset="-120"/>
              </a:rPr>
              <a:t>Shown mostly to the page's 75 followers</a:t>
            </a:r>
            <a:endParaRPr lang="en-US" sz="850" dirty="0"/>
          </a:p>
        </p:txBody>
      </p:sp>
      <p:sp>
        <p:nvSpPr>
          <p:cNvPr id="12" name="Shape 8"/>
          <p:cNvSpPr/>
          <p:nvPr/>
        </p:nvSpPr>
        <p:spPr>
          <a:xfrm>
            <a:off x="4910328" y="1600200"/>
            <a:ext cx="1481328" cy="1143000"/>
          </a:xfrm>
          <a:prstGeom prst="chevron">
            <a:avLst/>
          </a:prstGeom>
          <a:solidFill>
            <a:srgbClr val="F3EEF8"/>
          </a:solidFill>
          <a:ln w="12700">
            <a:solidFill>
              <a:srgbClr val="F3EEF8"/>
            </a:solidFill>
            <a:prstDash val="solid"/>
          </a:ln>
        </p:spPr>
      </p:sp>
      <p:sp>
        <p:nvSpPr>
          <p:cNvPr id="13" name="Text 9"/>
          <p:cNvSpPr txBox="1"/>
          <p:nvPr/>
        </p:nvSpPr>
        <p:spPr>
          <a:xfrm>
            <a:off x="5440680" y="1691640"/>
            <a:ext cx="731520" cy="960120"/>
          </a:xfrm>
          <a:prstGeom prst="rect">
            <a:avLst/>
          </a:prstGeom>
          <a:noFill/>
          <a:ln/>
        </p:spPr>
        <p:txBody>
          <a:bodyPr wrap="square" lIns="0" tIns="0" rIns="0" bIns="0" rtlCol="0" anchor="ctr"/>
          <a:lstStyle/>
          <a:p>
            <a:pPr algn="ctr" indent="0" marL="0">
              <a:buNone/>
            </a:pPr>
            <a:r>
              <a:rPr lang="en-US" sz="850" dirty="0">
                <a:solidFill>
                  <a:srgbClr val="2B2B3A"/>
                </a:solidFill>
                <a:latin typeface="Arial" pitchFamily="34" charset="0"/>
                <a:ea typeface="Arial" pitchFamily="34" charset="-122"/>
                <a:cs typeface="Arial" pitchFamily="34" charset="-120"/>
              </a:rPr>
              <a:t>Seen by a few dozen people, mostly existing contacts</a:t>
            </a:r>
            <a:endParaRPr lang="en-US" sz="850" dirty="0"/>
          </a:p>
        </p:txBody>
      </p:sp>
      <p:sp>
        <p:nvSpPr>
          <p:cNvPr id="14" name="Shape 10"/>
          <p:cNvSpPr/>
          <p:nvPr/>
        </p:nvSpPr>
        <p:spPr>
          <a:xfrm>
            <a:off x="6428232" y="1600200"/>
            <a:ext cx="1481328" cy="1143000"/>
          </a:xfrm>
          <a:prstGeom prst="chevron">
            <a:avLst/>
          </a:prstGeom>
          <a:solidFill>
            <a:srgbClr val="9A8AB0"/>
          </a:solidFill>
          <a:ln w="12700">
            <a:solidFill>
              <a:srgbClr val="9A8AB0"/>
            </a:solidFill>
            <a:prstDash val="solid"/>
          </a:ln>
        </p:spPr>
      </p:sp>
      <p:sp>
        <p:nvSpPr>
          <p:cNvPr id="15" name="Text 11"/>
          <p:cNvSpPr txBox="1"/>
          <p:nvPr/>
        </p:nvSpPr>
        <p:spPr>
          <a:xfrm>
            <a:off x="6958584" y="1691640"/>
            <a:ext cx="731520" cy="960120"/>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Almost no new customers</a:t>
            </a:r>
            <a:endParaRPr lang="en-US" sz="850" dirty="0"/>
          </a:p>
        </p:txBody>
      </p:sp>
      <p:sp>
        <p:nvSpPr>
          <p:cNvPr id="16" name="Text 12"/>
          <p:cNvSpPr txBox="1"/>
          <p:nvPr/>
        </p:nvSpPr>
        <p:spPr>
          <a:xfrm>
            <a:off x="457200" y="3017520"/>
            <a:ext cx="1371600" cy="1143000"/>
          </a:xfrm>
          <a:prstGeom prst="rect">
            <a:avLst/>
          </a:prstGeom>
          <a:noFill/>
          <a:ln/>
        </p:spPr>
        <p:txBody>
          <a:bodyPr wrap="square" lIns="0" tIns="0" rIns="0" bIns="0" rtlCol="0" anchor="ctr"/>
          <a:lstStyle/>
          <a:p>
            <a:pPr indent="0" marL="0">
              <a:buNone/>
            </a:pPr>
            <a:r>
              <a:rPr lang="en-US" sz="1300" b="1" dirty="0">
                <a:solidFill>
                  <a:srgbClr val="4F7A00"/>
                </a:solidFill>
                <a:latin typeface="Arial" pitchFamily="34" charset="0"/>
                <a:ea typeface="Arial" pitchFamily="34" charset="-122"/>
                <a:cs typeface="Arial" pitchFamily="34" charset="-120"/>
              </a:rPr>
              <a:t>Same post with ads</a:t>
            </a:r>
            <a:endParaRPr lang="en-US" sz="1300" dirty="0"/>
          </a:p>
        </p:txBody>
      </p:sp>
      <p:sp>
        <p:nvSpPr>
          <p:cNvPr id="17" name="Shape 13"/>
          <p:cNvSpPr/>
          <p:nvPr/>
        </p:nvSpPr>
        <p:spPr>
          <a:xfrm>
            <a:off x="1874520" y="3017520"/>
            <a:ext cx="1481328" cy="1143000"/>
          </a:xfrm>
          <a:prstGeom prst="chevron">
            <a:avLst/>
          </a:prstGeom>
          <a:solidFill>
            <a:srgbClr val="EEF6DC"/>
          </a:solidFill>
          <a:ln w="12700">
            <a:solidFill>
              <a:srgbClr val="EEF6DC"/>
            </a:solidFill>
            <a:prstDash val="solid"/>
          </a:ln>
        </p:spPr>
      </p:sp>
      <p:sp>
        <p:nvSpPr>
          <p:cNvPr id="18" name="Text 14"/>
          <p:cNvSpPr txBox="1"/>
          <p:nvPr/>
        </p:nvSpPr>
        <p:spPr>
          <a:xfrm>
            <a:off x="2404872" y="3108960"/>
            <a:ext cx="731520" cy="960120"/>
          </a:xfrm>
          <a:prstGeom prst="rect">
            <a:avLst/>
          </a:prstGeom>
          <a:noFill/>
          <a:ln/>
        </p:spPr>
        <p:txBody>
          <a:bodyPr wrap="square" lIns="0" tIns="0" rIns="0" bIns="0" rtlCol="0" anchor="ctr"/>
          <a:lstStyle/>
          <a:p>
            <a:pPr algn="ctr" indent="0" marL="0">
              <a:buNone/>
            </a:pPr>
            <a:r>
              <a:rPr lang="en-US" sz="850" dirty="0">
                <a:solidFill>
                  <a:srgbClr val="2B2B3A"/>
                </a:solidFill>
                <a:latin typeface="Arial" pitchFamily="34" charset="0"/>
                <a:ea typeface="Arial" pitchFamily="34" charset="-122"/>
                <a:cs typeface="Arial" pitchFamily="34" charset="-120"/>
              </a:rPr>
              <a:t>A good post goes up</a:t>
            </a:r>
            <a:endParaRPr lang="en-US" sz="850" dirty="0"/>
          </a:p>
        </p:txBody>
      </p:sp>
      <p:sp>
        <p:nvSpPr>
          <p:cNvPr id="19" name="Shape 15"/>
          <p:cNvSpPr/>
          <p:nvPr/>
        </p:nvSpPr>
        <p:spPr>
          <a:xfrm>
            <a:off x="3392424" y="3017520"/>
            <a:ext cx="1481328" cy="1143000"/>
          </a:xfrm>
          <a:prstGeom prst="chevron">
            <a:avLst/>
          </a:prstGeom>
          <a:solidFill>
            <a:srgbClr val="EEF6DC"/>
          </a:solidFill>
          <a:ln w="12700">
            <a:solidFill>
              <a:srgbClr val="EEF6DC"/>
            </a:solidFill>
            <a:prstDash val="solid"/>
          </a:ln>
        </p:spPr>
      </p:sp>
      <p:sp>
        <p:nvSpPr>
          <p:cNvPr id="20" name="Text 16"/>
          <p:cNvSpPr txBox="1"/>
          <p:nvPr/>
        </p:nvSpPr>
        <p:spPr>
          <a:xfrm>
            <a:off x="3922776" y="3108960"/>
            <a:ext cx="731520" cy="960120"/>
          </a:xfrm>
          <a:prstGeom prst="rect">
            <a:avLst/>
          </a:prstGeom>
          <a:noFill/>
          <a:ln/>
        </p:spPr>
        <p:txBody>
          <a:bodyPr wrap="square" lIns="0" tIns="0" rIns="0" bIns="0" rtlCol="0" anchor="ctr"/>
          <a:lstStyle/>
          <a:p>
            <a:pPr algn="ctr" indent="0" marL="0">
              <a:buNone/>
            </a:pPr>
            <a:r>
              <a:rPr lang="en-US" sz="850" dirty="0">
                <a:solidFill>
                  <a:srgbClr val="2B2B3A"/>
                </a:solidFill>
                <a:latin typeface="Arial" pitchFamily="34" charset="0"/>
                <a:ea typeface="Arial" pitchFamily="34" charset="-122"/>
                <a:cs typeface="Arial" pitchFamily="34" charset="-120"/>
              </a:rPr>
              <a:t>Ads show it to working people aged 25 to 40</a:t>
            </a:r>
            <a:endParaRPr lang="en-US" sz="850" dirty="0"/>
          </a:p>
        </p:txBody>
      </p:sp>
      <p:sp>
        <p:nvSpPr>
          <p:cNvPr id="21" name="Shape 17"/>
          <p:cNvSpPr/>
          <p:nvPr/>
        </p:nvSpPr>
        <p:spPr>
          <a:xfrm>
            <a:off x="4910328" y="3017520"/>
            <a:ext cx="1481328" cy="1143000"/>
          </a:xfrm>
          <a:prstGeom prst="chevron">
            <a:avLst/>
          </a:prstGeom>
          <a:solidFill>
            <a:srgbClr val="EEF6DC"/>
          </a:solidFill>
          <a:ln w="12700">
            <a:solidFill>
              <a:srgbClr val="EEF6DC"/>
            </a:solidFill>
            <a:prstDash val="solid"/>
          </a:ln>
        </p:spPr>
      </p:sp>
      <p:sp>
        <p:nvSpPr>
          <p:cNvPr id="22" name="Text 18"/>
          <p:cNvSpPr txBox="1"/>
          <p:nvPr/>
        </p:nvSpPr>
        <p:spPr>
          <a:xfrm>
            <a:off x="5440680" y="3108960"/>
            <a:ext cx="731520" cy="960120"/>
          </a:xfrm>
          <a:prstGeom prst="rect">
            <a:avLst/>
          </a:prstGeom>
          <a:noFill/>
          <a:ln/>
        </p:spPr>
        <p:txBody>
          <a:bodyPr wrap="square" lIns="0" tIns="0" rIns="0" bIns="0" rtlCol="0" anchor="ctr"/>
          <a:lstStyle/>
          <a:p>
            <a:pPr algn="ctr" indent="0" marL="0">
              <a:buNone/>
            </a:pPr>
            <a:r>
              <a:rPr lang="en-US" sz="850" dirty="0">
                <a:solidFill>
                  <a:srgbClr val="2B2B3A"/>
                </a:solidFill>
                <a:latin typeface="Arial" pitchFamily="34" charset="0"/>
                <a:ea typeface="Arial" pitchFamily="34" charset="-122"/>
                <a:cs typeface="Arial" pitchFamily="34" charset="-120"/>
              </a:rPr>
              <a:t>Seen by thousands of new, relevant people</a:t>
            </a:r>
            <a:endParaRPr lang="en-US" sz="850" dirty="0"/>
          </a:p>
        </p:txBody>
      </p:sp>
      <p:sp>
        <p:nvSpPr>
          <p:cNvPr id="23" name="Shape 19"/>
          <p:cNvSpPr/>
          <p:nvPr/>
        </p:nvSpPr>
        <p:spPr>
          <a:xfrm>
            <a:off x="6428232" y="3017520"/>
            <a:ext cx="1481328" cy="1143000"/>
          </a:xfrm>
          <a:prstGeom prst="chevron">
            <a:avLst/>
          </a:prstGeom>
          <a:solidFill>
            <a:srgbClr val="86BC00"/>
          </a:solidFill>
          <a:ln w="12700">
            <a:solidFill>
              <a:srgbClr val="86BC00"/>
            </a:solidFill>
            <a:prstDash val="solid"/>
          </a:ln>
        </p:spPr>
      </p:sp>
      <p:sp>
        <p:nvSpPr>
          <p:cNvPr id="24" name="Text 20"/>
          <p:cNvSpPr txBox="1"/>
          <p:nvPr/>
        </p:nvSpPr>
        <p:spPr>
          <a:xfrm>
            <a:off x="6958584" y="3108960"/>
            <a:ext cx="731520" cy="960120"/>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App installs and sign-ups we can measure</a:t>
            </a:r>
            <a:endParaRPr lang="en-US" sz="850" dirty="0"/>
          </a:p>
        </p:txBody>
      </p:sp>
      <p:sp>
        <p:nvSpPr>
          <p:cNvPr id="25" name="Text 21"/>
          <p:cNvSpPr txBox="1"/>
          <p:nvPr/>
        </p:nvSpPr>
        <p:spPr>
          <a:xfrm>
            <a:off x="457200" y="4434840"/>
            <a:ext cx="7498080" cy="320040"/>
          </a:xfrm>
          <a:prstGeom prst="rect">
            <a:avLst/>
          </a:prstGeom>
          <a:noFill/>
          <a:ln/>
        </p:spPr>
        <p:txBody>
          <a:bodyPr wrap="square" lIns="0" tIns="0" rIns="0" bIns="0" rtlCol="0" anchor="t"/>
          <a:lstStyle/>
          <a:p>
            <a:pPr indent="0" marL="0">
              <a:buNone/>
            </a:pPr>
            <a:r>
              <a:rPr lang="en-US" sz="1100" b="1" dirty="0">
                <a:solidFill>
                  <a:srgbClr val="440973"/>
                </a:solidFill>
                <a:latin typeface="Arial" pitchFamily="34" charset="0"/>
                <a:ea typeface="Arial" pitchFamily="34" charset="-122"/>
                <a:cs typeface="Arial" pitchFamily="34" charset="-120"/>
              </a:rPr>
              <a:t>The takeaway: </a:t>
            </a:r>
            <a:pPr indent="0" marL="0">
              <a:buNone/>
            </a:pPr>
            <a:r>
              <a:rPr lang="en-US" sz="1100" dirty="0">
                <a:solidFill>
                  <a:srgbClr val="2B2B3A"/>
                </a:solidFill>
                <a:latin typeface="Arial" pitchFamily="34" charset="0"/>
                <a:ea typeface="Arial" pitchFamily="34" charset="-122"/>
                <a:cs typeface="Arial" pitchFamily="34" charset="-120"/>
              </a:rPr>
              <a:t>better content is essential, but on its own it has little benefit. Content and a small ad budget work together.</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logo_light.png">    </p:cNvPr>
          <p:cNvPicPr>
            <a:picLocks noChangeAspect="1"/>
          </p:cNvPicPr>
          <p:nvPr/>
        </p:nvPicPr>
        <p:blipFill>
          <a:blip r:embed="rId1"/>
          <a:stretch>
            <a:fillRect/>
          </a:stretch>
        </p:blipFill>
        <p:spPr>
          <a:xfrm>
            <a:off x="7882128" y="164592"/>
            <a:ext cx="896112" cy="475488"/>
          </a:xfrm>
          <a:prstGeom prst="rect">
            <a:avLst/>
          </a:prstGeom>
        </p:spPr>
      </p:pic>
      <p:pic>
        <p:nvPicPr>
          <p:cNvPr id="3" name="Image 1" descr="corner_t.png">    </p:cNvPr>
          <p:cNvPicPr>
            <a:picLocks noChangeAspect="1"/>
          </p:cNvPicPr>
          <p:nvPr/>
        </p:nvPicPr>
        <p:blipFill>
          <a:blip r:embed="rId2"/>
          <a:stretch>
            <a:fillRect/>
          </a:stretch>
        </p:blipFill>
        <p:spPr>
          <a:xfrm>
            <a:off x="8138160" y="4553712"/>
            <a:ext cx="1005840" cy="726948"/>
          </a:xfrm>
          <a:prstGeom prst="rect">
            <a:avLst/>
          </a:prstGeom>
        </p:spPr>
      </p:pic>
      <p:sp>
        <p:nvSpPr>
          <p:cNvPr id="4" name="Text 0"/>
          <p:cNvSpPr txBox="1"/>
          <p:nvPr/>
        </p:nvSpPr>
        <p:spPr>
          <a:xfrm>
            <a:off x="457200" y="228600"/>
            <a:ext cx="7223760" cy="548640"/>
          </a:xfrm>
          <a:prstGeom prst="rect">
            <a:avLst/>
          </a:prstGeom>
          <a:noFill/>
          <a:ln/>
        </p:spPr>
        <p:txBody>
          <a:bodyPr wrap="square" lIns="0" tIns="0" rIns="0" bIns="0" rtlCol="0" anchor="ctr"/>
          <a:lstStyle/>
          <a:p>
            <a:pPr indent="0" marL="0">
              <a:buNone/>
            </a:pPr>
            <a:r>
              <a:rPr lang="en-US" sz="2400" b="1" dirty="0">
                <a:solidFill>
                  <a:srgbClr val="440973"/>
                </a:solidFill>
                <a:latin typeface="Arial" pitchFamily="34" charset="0"/>
                <a:ea typeface="Arial" pitchFamily="34" charset="-122"/>
                <a:cs typeface="Arial" pitchFamily="34" charset="-120"/>
              </a:rPr>
              <a:t>Quick fixes that cost almost nothing</a:t>
            </a:r>
            <a:endParaRPr lang="en-US" sz="2400" dirty="0"/>
          </a:p>
        </p:txBody>
      </p:sp>
      <p:sp>
        <p:nvSpPr>
          <p:cNvPr id="5" name="Text 1"/>
          <p:cNvSpPr txBox="1"/>
          <p:nvPr/>
        </p:nvSpPr>
        <p:spPr>
          <a:xfrm>
            <a:off x="457200" y="4828032"/>
            <a:ext cx="7498080" cy="228600"/>
          </a:xfrm>
          <a:prstGeom prst="rect">
            <a:avLst/>
          </a:prstGeom>
          <a:noFill/>
          <a:ln/>
        </p:spPr>
        <p:txBody>
          <a:bodyPr wrap="square" lIns="0" tIns="0" rIns="0" bIns="0" rtlCol="0" anchor="ctr"/>
          <a:lstStyle/>
          <a:p>
            <a:pPr indent="0" marL="0">
              <a:buNone/>
            </a:pPr>
            <a:r>
              <a:rPr lang="en-US" sz="750" dirty="0">
                <a:solidFill>
                  <a:srgbClr val="6B6B80"/>
                </a:solidFill>
                <a:latin typeface="Arial" pitchFamily="34" charset="0"/>
                <a:ea typeface="Arial" pitchFamily="34" charset="-122"/>
                <a:cs typeface="Arial" pitchFamily="34" charset="-120"/>
              </a:rPr>
              <a:t>Sources: Google Play and Apple App Store listings; www.ahcml.com; Instagram, all checked 25 Sept 2026.</a:t>
            </a:r>
            <a:endParaRPr lang="en-US" sz="750" dirty="0"/>
          </a:p>
        </p:txBody>
      </p:sp>
      <p:sp>
        <p:nvSpPr>
          <p:cNvPr id="6" name="Shape 2"/>
          <p:cNvSpPr/>
          <p:nvPr/>
        </p:nvSpPr>
        <p:spPr>
          <a:xfrm>
            <a:off x="457200" y="868680"/>
            <a:ext cx="7498080" cy="658368"/>
          </a:xfrm>
          <a:prstGeom prst="roundRect">
            <a:avLst>
              <a:gd name="adj" fmla="val 11111"/>
            </a:avLst>
          </a:prstGeom>
          <a:solidFill>
            <a:srgbClr val="F3EEF8"/>
          </a:solidFill>
          <a:ln w="12700">
            <a:solidFill>
              <a:srgbClr val="F3EEF8"/>
            </a:solidFill>
            <a:prstDash val="solid"/>
          </a:ln>
        </p:spPr>
      </p:sp>
      <p:sp>
        <p:nvSpPr>
          <p:cNvPr id="7" name="Shape 3"/>
          <p:cNvSpPr/>
          <p:nvPr/>
        </p:nvSpPr>
        <p:spPr>
          <a:xfrm>
            <a:off x="566928" y="996696"/>
            <a:ext cx="402336" cy="402336"/>
          </a:xfrm>
          <a:prstGeom prst="ellipse">
            <a:avLst/>
          </a:prstGeom>
          <a:solidFill>
            <a:srgbClr val="440973"/>
          </a:solidFill>
          <a:ln w="12700">
            <a:solidFill>
              <a:srgbClr val="440973"/>
            </a:solidFill>
            <a:prstDash val="solid"/>
          </a:ln>
        </p:spPr>
      </p:sp>
      <p:pic>
        <p:nvPicPr>
          <p:cNvPr id="8" name="Image 2" descr="preencoded.png">    </p:cNvPr>
          <p:cNvPicPr>
            <a:picLocks noChangeAspect="1"/>
          </p:cNvPicPr>
          <p:nvPr/>
        </p:nvPicPr>
        <p:blipFill>
          <a:blip r:embed="rId3"/>
          <a:stretch>
            <a:fillRect/>
          </a:stretch>
        </p:blipFill>
        <p:spPr>
          <a:xfrm>
            <a:off x="671535" y="1101303"/>
            <a:ext cx="193121" cy="193121"/>
          </a:xfrm>
          <a:prstGeom prst="rect">
            <a:avLst/>
          </a:prstGeom>
        </p:spPr>
      </p:pic>
      <p:sp>
        <p:nvSpPr>
          <p:cNvPr id="9" name="Text 4"/>
          <p:cNvSpPr txBox="1"/>
          <p:nvPr/>
        </p:nvSpPr>
        <p:spPr>
          <a:xfrm>
            <a:off x="1097280" y="868680"/>
            <a:ext cx="2103120" cy="658368"/>
          </a:xfrm>
          <a:prstGeom prst="rect">
            <a:avLst/>
          </a:prstGeom>
          <a:noFill/>
          <a:ln/>
        </p:spPr>
        <p:txBody>
          <a:bodyPr wrap="square" lIns="0" tIns="0" rIns="0" bIns="0" rtlCol="0" anchor="ctr"/>
          <a:lstStyle/>
          <a:p>
            <a:pPr indent="0" marL="0">
              <a:buNone/>
            </a:pPr>
            <a:r>
              <a:rPr lang="en-US" sz="1050" b="1" dirty="0">
                <a:solidFill>
                  <a:srgbClr val="440973"/>
                </a:solidFill>
                <a:latin typeface="Arial" pitchFamily="34" charset="0"/>
                <a:ea typeface="Arial" pitchFamily="34" charset="-122"/>
                <a:cs typeface="Arial" pitchFamily="34" charset="-120"/>
              </a:rPr>
              <a:t>The app has two names</a:t>
            </a:r>
            <a:endParaRPr lang="en-US" sz="1050" dirty="0"/>
          </a:p>
        </p:txBody>
      </p:sp>
      <p:sp>
        <p:nvSpPr>
          <p:cNvPr id="10" name="Text 5"/>
          <p:cNvSpPr txBox="1"/>
          <p:nvPr/>
        </p:nvSpPr>
        <p:spPr>
          <a:xfrm>
            <a:off x="3246120" y="868680"/>
            <a:ext cx="2331720" cy="658368"/>
          </a:xfrm>
          <a:prstGeom prst="rect">
            <a:avLst/>
          </a:prstGeom>
          <a:noFill/>
          <a:ln/>
        </p:spPr>
        <p:txBody>
          <a:bodyPr wrap="square" lIns="0" tIns="0" rIns="0" bIns="0" rtlCol="0" anchor="ctr"/>
          <a:lstStyle/>
          <a:p>
            <a:pPr indent="0" marL="0">
              <a:buNone/>
            </a:pPr>
            <a:r>
              <a:rPr lang="en-US" sz="900" dirty="0">
                <a:solidFill>
                  <a:srgbClr val="2B2B3A"/>
                </a:solidFill>
                <a:latin typeface="Arial" pitchFamily="34" charset="0"/>
                <a:ea typeface="Arial" pitchFamily="34" charset="-122"/>
                <a:cs typeface="Arial" pitchFamily="34" charset="-120"/>
              </a:rPr>
              <a:t>"AL Habib Capital GROW" on Android, "Growth Stock Trading" on iPhone.</a:t>
            </a:r>
            <a:endParaRPr lang="en-US" sz="900" dirty="0"/>
          </a:p>
        </p:txBody>
      </p:sp>
      <p:sp>
        <p:nvSpPr>
          <p:cNvPr id="11" name="Text 6"/>
          <p:cNvSpPr txBox="1"/>
          <p:nvPr/>
        </p:nvSpPr>
        <p:spPr>
          <a:xfrm>
            <a:off x="5669280" y="868680"/>
            <a:ext cx="2194560" cy="658368"/>
          </a:xfrm>
          <a:prstGeom prst="rect">
            <a:avLst/>
          </a:prstGeom>
          <a:noFill/>
          <a:ln/>
        </p:spPr>
        <p:txBody>
          <a:bodyPr wrap="square" lIns="0" tIns="0" rIns="0" bIns="0" rtlCol="0" anchor="ctr"/>
          <a:lstStyle/>
          <a:p>
            <a:pPr indent="0" marL="0">
              <a:buNone/>
            </a:pPr>
            <a:r>
              <a:rPr lang="en-US" sz="900" b="1" dirty="0">
                <a:solidFill>
                  <a:srgbClr val="4F7A00"/>
                </a:solidFill>
                <a:latin typeface="Arial" pitchFamily="34" charset="0"/>
                <a:ea typeface="Arial" pitchFamily="34" charset="-122"/>
                <a:cs typeface="Arial" pitchFamily="34" charset="-120"/>
              </a:rPr>
              <a:t>Use one name everywhere so people and search engines find it.</a:t>
            </a:r>
            <a:endParaRPr lang="en-US" sz="900" dirty="0"/>
          </a:p>
        </p:txBody>
      </p:sp>
      <p:sp>
        <p:nvSpPr>
          <p:cNvPr id="12" name="Shape 7"/>
          <p:cNvSpPr/>
          <p:nvPr/>
        </p:nvSpPr>
        <p:spPr>
          <a:xfrm>
            <a:off x="457200" y="1627632"/>
            <a:ext cx="7498080" cy="658368"/>
          </a:xfrm>
          <a:prstGeom prst="roundRect">
            <a:avLst>
              <a:gd name="adj" fmla="val 11111"/>
            </a:avLst>
          </a:prstGeom>
          <a:solidFill>
            <a:srgbClr val="FFFFFF"/>
          </a:solidFill>
          <a:ln w="12700">
            <a:solidFill>
              <a:srgbClr val="FFFFFF"/>
            </a:solidFill>
            <a:prstDash val="solid"/>
          </a:ln>
        </p:spPr>
      </p:sp>
      <p:sp>
        <p:nvSpPr>
          <p:cNvPr id="13" name="Shape 8"/>
          <p:cNvSpPr/>
          <p:nvPr/>
        </p:nvSpPr>
        <p:spPr>
          <a:xfrm>
            <a:off x="566928" y="1755648"/>
            <a:ext cx="402336" cy="402336"/>
          </a:xfrm>
          <a:prstGeom prst="ellipse">
            <a:avLst/>
          </a:prstGeom>
          <a:solidFill>
            <a:srgbClr val="440973"/>
          </a:solidFill>
          <a:ln w="12700">
            <a:solidFill>
              <a:srgbClr val="440973"/>
            </a:solidFill>
            <a:prstDash val="solid"/>
          </a:ln>
        </p:spPr>
      </p:sp>
      <p:pic>
        <p:nvPicPr>
          <p:cNvPr id="14" name="Image 3" descr="preencoded.png">    </p:cNvPr>
          <p:cNvPicPr>
            <a:picLocks noChangeAspect="1"/>
          </p:cNvPicPr>
          <p:nvPr/>
        </p:nvPicPr>
        <p:blipFill>
          <a:blip r:embed="rId4"/>
          <a:stretch>
            <a:fillRect/>
          </a:stretch>
        </p:blipFill>
        <p:spPr>
          <a:xfrm>
            <a:off x="671535" y="1860255"/>
            <a:ext cx="193121" cy="193121"/>
          </a:xfrm>
          <a:prstGeom prst="rect">
            <a:avLst/>
          </a:prstGeom>
        </p:spPr>
      </p:pic>
      <p:sp>
        <p:nvSpPr>
          <p:cNvPr id="15" name="Text 9"/>
          <p:cNvSpPr txBox="1"/>
          <p:nvPr/>
        </p:nvSpPr>
        <p:spPr>
          <a:xfrm>
            <a:off x="1097280" y="1627632"/>
            <a:ext cx="2103120" cy="658368"/>
          </a:xfrm>
          <a:prstGeom prst="rect">
            <a:avLst/>
          </a:prstGeom>
          <a:noFill/>
          <a:ln/>
        </p:spPr>
        <p:txBody>
          <a:bodyPr wrap="square" lIns="0" tIns="0" rIns="0" bIns="0" rtlCol="0" anchor="ctr"/>
          <a:lstStyle/>
          <a:p>
            <a:pPr indent="0" marL="0">
              <a:buNone/>
            </a:pPr>
            <a:r>
              <a:rPr lang="en-US" sz="1050" b="1" dirty="0">
                <a:solidFill>
                  <a:srgbClr val="440973"/>
                </a:solidFill>
                <a:latin typeface="Arial" pitchFamily="34" charset="0"/>
                <a:ea typeface="Arial" pitchFamily="34" charset="-122"/>
                <a:cs typeface="Arial" pitchFamily="34" charset="-120"/>
              </a:rPr>
              <a:t>Android listing shows a vendor as developer</a:t>
            </a:r>
            <a:endParaRPr lang="en-US" sz="1050" dirty="0"/>
          </a:p>
        </p:txBody>
      </p:sp>
      <p:sp>
        <p:nvSpPr>
          <p:cNvPr id="16" name="Text 10"/>
          <p:cNvSpPr txBox="1"/>
          <p:nvPr/>
        </p:nvSpPr>
        <p:spPr>
          <a:xfrm>
            <a:off x="3246120" y="1627632"/>
            <a:ext cx="2331720" cy="658368"/>
          </a:xfrm>
          <a:prstGeom prst="rect">
            <a:avLst/>
          </a:prstGeom>
          <a:noFill/>
          <a:ln/>
        </p:spPr>
        <p:txBody>
          <a:bodyPr wrap="square" lIns="0" tIns="0" rIns="0" bIns="0" rtlCol="0" anchor="ctr"/>
          <a:lstStyle/>
          <a:p>
            <a:pPr indent="0" marL="0">
              <a:buNone/>
            </a:pPr>
            <a:r>
              <a:rPr lang="en-US" sz="900" dirty="0">
                <a:solidFill>
                  <a:srgbClr val="2B2B3A"/>
                </a:solidFill>
                <a:latin typeface="Arial" pitchFamily="34" charset="0"/>
                <a:ea typeface="Arial" pitchFamily="34" charset="-122"/>
                <a:cs typeface="Arial" pitchFamily="34" charset="-120"/>
              </a:rPr>
              <a:t>Google Play lists Catalyst IT Solutions, not AHCML.</a:t>
            </a:r>
            <a:endParaRPr lang="en-US" sz="900" dirty="0"/>
          </a:p>
        </p:txBody>
      </p:sp>
      <p:sp>
        <p:nvSpPr>
          <p:cNvPr id="17" name="Text 11"/>
          <p:cNvSpPr txBox="1"/>
          <p:nvPr/>
        </p:nvSpPr>
        <p:spPr>
          <a:xfrm>
            <a:off x="5669280" y="1627632"/>
            <a:ext cx="2194560" cy="658368"/>
          </a:xfrm>
          <a:prstGeom prst="rect">
            <a:avLst/>
          </a:prstGeom>
          <a:noFill/>
          <a:ln/>
        </p:spPr>
        <p:txBody>
          <a:bodyPr wrap="square" lIns="0" tIns="0" rIns="0" bIns="0" rtlCol="0" anchor="ctr"/>
          <a:lstStyle/>
          <a:p>
            <a:pPr indent="0" marL="0">
              <a:buNone/>
            </a:pPr>
            <a:r>
              <a:rPr lang="en-US" sz="900" b="1" dirty="0">
                <a:solidFill>
                  <a:srgbClr val="4F7A00"/>
                </a:solidFill>
                <a:latin typeface="Arial" pitchFamily="34" charset="0"/>
                <a:ea typeface="Arial" pitchFamily="34" charset="-122"/>
                <a:cs typeface="Arial" pitchFamily="34" charset="-120"/>
              </a:rPr>
              <a:t>Publish under AHCML's own name to show it is genuine.</a:t>
            </a:r>
            <a:endParaRPr lang="en-US" sz="900" dirty="0"/>
          </a:p>
        </p:txBody>
      </p:sp>
      <p:sp>
        <p:nvSpPr>
          <p:cNvPr id="18" name="Shape 12"/>
          <p:cNvSpPr/>
          <p:nvPr/>
        </p:nvSpPr>
        <p:spPr>
          <a:xfrm>
            <a:off x="457200" y="2386584"/>
            <a:ext cx="7498080" cy="658368"/>
          </a:xfrm>
          <a:prstGeom prst="roundRect">
            <a:avLst>
              <a:gd name="adj" fmla="val 11111"/>
            </a:avLst>
          </a:prstGeom>
          <a:solidFill>
            <a:srgbClr val="F3EEF8"/>
          </a:solidFill>
          <a:ln w="12700">
            <a:solidFill>
              <a:srgbClr val="F3EEF8"/>
            </a:solidFill>
            <a:prstDash val="solid"/>
          </a:ln>
        </p:spPr>
      </p:sp>
      <p:sp>
        <p:nvSpPr>
          <p:cNvPr id="19" name="Shape 13"/>
          <p:cNvSpPr/>
          <p:nvPr/>
        </p:nvSpPr>
        <p:spPr>
          <a:xfrm>
            <a:off x="566928" y="2514600"/>
            <a:ext cx="402336" cy="402336"/>
          </a:xfrm>
          <a:prstGeom prst="ellipse">
            <a:avLst/>
          </a:prstGeom>
          <a:solidFill>
            <a:srgbClr val="440973"/>
          </a:solidFill>
          <a:ln w="12700">
            <a:solidFill>
              <a:srgbClr val="440973"/>
            </a:solidFill>
            <a:prstDash val="solid"/>
          </a:ln>
        </p:spPr>
      </p:sp>
      <p:pic>
        <p:nvPicPr>
          <p:cNvPr id="20" name="Image 4" descr="preencoded.png">    </p:cNvPr>
          <p:cNvPicPr>
            <a:picLocks noChangeAspect="1"/>
          </p:cNvPicPr>
          <p:nvPr/>
        </p:nvPicPr>
        <p:blipFill>
          <a:blip r:embed="rId5"/>
          <a:stretch>
            <a:fillRect/>
          </a:stretch>
        </p:blipFill>
        <p:spPr>
          <a:xfrm>
            <a:off x="671535" y="2619207"/>
            <a:ext cx="193121" cy="193121"/>
          </a:xfrm>
          <a:prstGeom prst="rect">
            <a:avLst/>
          </a:prstGeom>
        </p:spPr>
      </p:pic>
      <p:sp>
        <p:nvSpPr>
          <p:cNvPr id="21" name="Text 14"/>
          <p:cNvSpPr txBox="1"/>
          <p:nvPr/>
        </p:nvSpPr>
        <p:spPr>
          <a:xfrm>
            <a:off x="1097280" y="2386584"/>
            <a:ext cx="2103120" cy="658368"/>
          </a:xfrm>
          <a:prstGeom prst="rect">
            <a:avLst/>
          </a:prstGeom>
          <a:noFill/>
          <a:ln/>
        </p:spPr>
        <p:txBody>
          <a:bodyPr wrap="square" lIns="0" tIns="0" rIns="0" bIns="0" rtlCol="0" anchor="ctr"/>
          <a:lstStyle/>
          <a:p>
            <a:pPr indent="0" marL="0">
              <a:buNone/>
            </a:pPr>
            <a:r>
              <a:rPr lang="en-US" sz="1050" b="1" dirty="0">
                <a:solidFill>
                  <a:srgbClr val="440973"/>
                </a:solidFill>
                <a:latin typeface="Arial" pitchFamily="34" charset="0"/>
                <a:ea typeface="Arial" pitchFamily="34" charset="-122"/>
                <a:cs typeface="Arial" pitchFamily="34" charset="-120"/>
              </a:rPr>
              <a:t>"Data isn't encrypted" on Google Play</a:t>
            </a:r>
            <a:endParaRPr lang="en-US" sz="1050" dirty="0"/>
          </a:p>
        </p:txBody>
      </p:sp>
      <p:sp>
        <p:nvSpPr>
          <p:cNvPr id="22" name="Text 15"/>
          <p:cNvSpPr txBox="1"/>
          <p:nvPr/>
        </p:nvSpPr>
        <p:spPr>
          <a:xfrm>
            <a:off x="3246120" y="2386584"/>
            <a:ext cx="2331720" cy="658368"/>
          </a:xfrm>
          <a:prstGeom prst="rect">
            <a:avLst/>
          </a:prstGeom>
          <a:noFill/>
          <a:ln/>
        </p:spPr>
        <p:txBody>
          <a:bodyPr wrap="square" lIns="0" tIns="0" rIns="0" bIns="0" rtlCol="0" anchor="ctr"/>
          <a:lstStyle/>
          <a:p>
            <a:pPr indent="0" marL="0">
              <a:buNone/>
            </a:pPr>
            <a:r>
              <a:rPr lang="en-US" sz="900" dirty="0">
                <a:solidFill>
                  <a:srgbClr val="2B2B3A"/>
                </a:solidFill>
                <a:latin typeface="Arial" pitchFamily="34" charset="0"/>
                <a:ea typeface="Arial" pitchFamily="34" charset="-122"/>
                <a:cs typeface="Arial" pitchFamily="34" charset="-120"/>
              </a:rPr>
              <a:t>The data safety section says this. It worries careful investors.</a:t>
            </a:r>
            <a:endParaRPr lang="en-US" sz="900" dirty="0"/>
          </a:p>
        </p:txBody>
      </p:sp>
      <p:sp>
        <p:nvSpPr>
          <p:cNvPr id="23" name="Text 16"/>
          <p:cNvSpPr txBox="1"/>
          <p:nvPr/>
        </p:nvSpPr>
        <p:spPr>
          <a:xfrm>
            <a:off x="5669280" y="2386584"/>
            <a:ext cx="2194560" cy="658368"/>
          </a:xfrm>
          <a:prstGeom prst="rect">
            <a:avLst/>
          </a:prstGeom>
          <a:noFill/>
          <a:ln/>
        </p:spPr>
        <p:txBody>
          <a:bodyPr wrap="square" lIns="0" tIns="0" rIns="0" bIns="0" rtlCol="0" anchor="ctr"/>
          <a:lstStyle/>
          <a:p>
            <a:pPr indent="0" marL="0">
              <a:buNone/>
            </a:pPr>
            <a:r>
              <a:rPr lang="en-US" sz="900" b="1" dirty="0">
                <a:solidFill>
                  <a:srgbClr val="4F7A00"/>
                </a:solidFill>
                <a:latin typeface="Arial" pitchFamily="34" charset="0"/>
                <a:ea typeface="Arial" pitchFamily="34" charset="-122"/>
                <a:cs typeface="Arial" pitchFamily="34" charset="-120"/>
              </a:rPr>
              <a:t>Check with the vendor and correct the declaration.</a:t>
            </a:r>
            <a:endParaRPr lang="en-US" sz="900" dirty="0"/>
          </a:p>
        </p:txBody>
      </p:sp>
      <p:sp>
        <p:nvSpPr>
          <p:cNvPr id="24" name="Shape 17"/>
          <p:cNvSpPr/>
          <p:nvPr/>
        </p:nvSpPr>
        <p:spPr>
          <a:xfrm>
            <a:off x="457200" y="3145536"/>
            <a:ext cx="7498080" cy="658368"/>
          </a:xfrm>
          <a:prstGeom prst="roundRect">
            <a:avLst>
              <a:gd name="adj" fmla="val 11111"/>
            </a:avLst>
          </a:prstGeom>
          <a:solidFill>
            <a:srgbClr val="FFFFFF"/>
          </a:solidFill>
          <a:ln w="12700">
            <a:solidFill>
              <a:srgbClr val="FFFFFF"/>
            </a:solidFill>
            <a:prstDash val="solid"/>
          </a:ln>
        </p:spPr>
      </p:sp>
      <p:sp>
        <p:nvSpPr>
          <p:cNvPr id="25" name="Shape 18"/>
          <p:cNvSpPr/>
          <p:nvPr/>
        </p:nvSpPr>
        <p:spPr>
          <a:xfrm>
            <a:off x="566928" y="3273552"/>
            <a:ext cx="402336" cy="402336"/>
          </a:xfrm>
          <a:prstGeom prst="ellipse">
            <a:avLst/>
          </a:prstGeom>
          <a:solidFill>
            <a:srgbClr val="440973"/>
          </a:solidFill>
          <a:ln w="12700">
            <a:solidFill>
              <a:srgbClr val="440973"/>
            </a:solidFill>
            <a:prstDash val="solid"/>
          </a:ln>
        </p:spPr>
      </p:sp>
      <p:pic>
        <p:nvPicPr>
          <p:cNvPr id="26" name="Image 5" descr="preencoded.png">    </p:cNvPr>
          <p:cNvPicPr>
            <a:picLocks noChangeAspect="1"/>
          </p:cNvPicPr>
          <p:nvPr/>
        </p:nvPicPr>
        <p:blipFill>
          <a:blip r:embed="rId6"/>
          <a:stretch>
            <a:fillRect/>
          </a:stretch>
        </p:blipFill>
        <p:spPr>
          <a:xfrm>
            <a:off x="671535" y="3378159"/>
            <a:ext cx="193121" cy="193121"/>
          </a:xfrm>
          <a:prstGeom prst="rect">
            <a:avLst/>
          </a:prstGeom>
        </p:spPr>
      </p:pic>
      <p:sp>
        <p:nvSpPr>
          <p:cNvPr id="27" name="Text 19"/>
          <p:cNvSpPr txBox="1"/>
          <p:nvPr/>
        </p:nvSpPr>
        <p:spPr>
          <a:xfrm>
            <a:off x="1097280" y="3145536"/>
            <a:ext cx="2103120" cy="658368"/>
          </a:xfrm>
          <a:prstGeom prst="rect">
            <a:avLst/>
          </a:prstGeom>
          <a:noFill/>
          <a:ln/>
        </p:spPr>
        <p:txBody>
          <a:bodyPr wrap="square" lIns="0" tIns="0" rIns="0" bIns="0" rtlCol="0" anchor="ctr"/>
          <a:lstStyle/>
          <a:p>
            <a:pPr indent="0" marL="0">
              <a:buNone/>
            </a:pPr>
            <a:r>
              <a:rPr lang="en-US" sz="1050" b="1" dirty="0">
                <a:solidFill>
                  <a:srgbClr val="440973"/>
                </a:solidFill>
                <a:latin typeface="Arial" pitchFamily="34" charset="0"/>
                <a:ea typeface="Arial" pitchFamily="34" charset="-122"/>
                <a:cs typeface="Arial" pitchFamily="34" charset="-120"/>
              </a:rPr>
              <a:t>Two different minimum amounts</a:t>
            </a:r>
            <a:endParaRPr lang="en-US" sz="1050" dirty="0"/>
          </a:p>
        </p:txBody>
      </p:sp>
      <p:sp>
        <p:nvSpPr>
          <p:cNvPr id="28" name="Text 20"/>
          <p:cNvSpPr txBox="1"/>
          <p:nvPr/>
        </p:nvSpPr>
        <p:spPr>
          <a:xfrm>
            <a:off x="3246120" y="3145536"/>
            <a:ext cx="2331720" cy="658368"/>
          </a:xfrm>
          <a:prstGeom prst="rect">
            <a:avLst/>
          </a:prstGeom>
          <a:noFill/>
          <a:ln/>
        </p:spPr>
        <p:txBody>
          <a:bodyPr wrap="square" lIns="0" tIns="0" rIns="0" bIns="0" rtlCol="0" anchor="ctr"/>
          <a:lstStyle/>
          <a:p>
            <a:pPr indent="0" marL="0">
              <a:buNone/>
            </a:pPr>
            <a:r>
              <a:rPr lang="en-US" sz="900" dirty="0">
                <a:solidFill>
                  <a:srgbClr val="2B2B3A"/>
                </a:solidFill>
                <a:latin typeface="Arial" pitchFamily="34" charset="0"/>
                <a:ea typeface="Arial" pitchFamily="34" charset="-122"/>
                <a:cs typeface="Arial" pitchFamily="34" charset="-120"/>
              </a:rPr>
              <a:t>Website says from Rs 1,000; Instagram says Rs 5,000.</a:t>
            </a:r>
            <a:endParaRPr lang="en-US" sz="900" dirty="0"/>
          </a:p>
        </p:txBody>
      </p:sp>
      <p:sp>
        <p:nvSpPr>
          <p:cNvPr id="29" name="Text 21"/>
          <p:cNvSpPr txBox="1"/>
          <p:nvPr/>
        </p:nvSpPr>
        <p:spPr>
          <a:xfrm>
            <a:off x="5669280" y="3145536"/>
            <a:ext cx="2194560" cy="658368"/>
          </a:xfrm>
          <a:prstGeom prst="rect">
            <a:avLst/>
          </a:prstGeom>
          <a:noFill/>
          <a:ln/>
        </p:spPr>
        <p:txBody>
          <a:bodyPr wrap="square" lIns="0" tIns="0" rIns="0" bIns="0" rtlCol="0" anchor="ctr"/>
          <a:lstStyle/>
          <a:p>
            <a:pPr indent="0" marL="0">
              <a:buNone/>
            </a:pPr>
            <a:r>
              <a:rPr lang="en-US" sz="900" b="1" dirty="0">
                <a:solidFill>
                  <a:srgbClr val="4F7A00"/>
                </a:solidFill>
                <a:latin typeface="Arial" pitchFamily="34" charset="0"/>
                <a:ea typeface="Arial" pitchFamily="34" charset="-122"/>
                <a:cs typeface="Arial" pitchFamily="34" charset="-120"/>
              </a:rPr>
              <a:t>Agree one figure and use it everywhere.</a:t>
            </a:r>
            <a:endParaRPr lang="en-US" sz="900" dirty="0"/>
          </a:p>
        </p:txBody>
      </p:sp>
      <p:sp>
        <p:nvSpPr>
          <p:cNvPr id="30" name="Shape 22"/>
          <p:cNvSpPr/>
          <p:nvPr/>
        </p:nvSpPr>
        <p:spPr>
          <a:xfrm>
            <a:off x="457200" y="3904488"/>
            <a:ext cx="7498080" cy="658368"/>
          </a:xfrm>
          <a:prstGeom prst="roundRect">
            <a:avLst>
              <a:gd name="adj" fmla="val 11111"/>
            </a:avLst>
          </a:prstGeom>
          <a:solidFill>
            <a:srgbClr val="F3EEF8"/>
          </a:solidFill>
          <a:ln w="12700">
            <a:solidFill>
              <a:srgbClr val="F3EEF8"/>
            </a:solidFill>
            <a:prstDash val="solid"/>
          </a:ln>
        </p:spPr>
      </p:sp>
      <p:sp>
        <p:nvSpPr>
          <p:cNvPr id="31" name="Shape 23"/>
          <p:cNvSpPr/>
          <p:nvPr/>
        </p:nvSpPr>
        <p:spPr>
          <a:xfrm>
            <a:off x="566928" y="4032504"/>
            <a:ext cx="402336" cy="402336"/>
          </a:xfrm>
          <a:prstGeom prst="ellipse">
            <a:avLst/>
          </a:prstGeom>
          <a:solidFill>
            <a:srgbClr val="440973"/>
          </a:solidFill>
          <a:ln w="12700">
            <a:solidFill>
              <a:srgbClr val="440973"/>
            </a:solidFill>
            <a:prstDash val="solid"/>
          </a:ln>
        </p:spPr>
      </p:sp>
      <p:pic>
        <p:nvPicPr>
          <p:cNvPr id="32" name="Image 6" descr="preencoded.png">    </p:cNvPr>
          <p:cNvPicPr>
            <a:picLocks noChangeAspect="1"/>
          </p:cNvPicPr>
          <p:nvPr/>
        </p:nvPicPr>
        <p:blipFill>
          <a:blip r:embed="rId7"/>
          <a:stretch>
            <a:fillRect/>
          </a:stretch>
        </p:blipFill>
        <p:spPr>
          <a:xfrm>
            <a:off x="671535" y="4137111"/>
            <a:ext cx="193121" cy="193121"/>
          </a:xfrm>
          <a:prstGeom prst="rect">
            <a:avLst/>
          </a:prstGeom>
        </p:spPr>
      </p:pic>
      <p:sp>
        <p:nvSpPr>
          <p:cNvPr id="33" name="Text 24"/>
          <p:cNvSpPr txBox="1"/>
          <p:nvPr/>
        </p:nvSpPr>
        <p:spPr>
          <a:xfrm>
            <a:off x="1097280" y="3904488"/>
            <a:ext cx="2103120" cy="658368"/>
          </a:xfrm>
          <a:prstGeom prst="rect">
            <a:avLst/>
          </a:prstGeom>
          <a:noFill/>
          <a:ln/>
        </p:spPr>
        <p:txBody>
          <a:bodyPr wrap="square" lIns="0" tIns="0" rIns="0" bIns="0" rtlCol="0" anchor="ctr"/>
          <a:lstStyle/>
          <a:p>
            <a:pPr indent="0" marL="0">
              <a:buNone/>
            </a:pPr>
            <a:r>
              <a:rPr lang="en-US" sz="1050" b="1" dirty="0">
                <a:solidFill>
                  <a:srgbClr val="440973"/>
                </a:solidFill>
                <a:latin typeface="Arial" pitchFamily="34" charset="0"/>
                <a:ea typeface="Arial" pitchFamily="34" charset="-122"/>
                <a:cs typeface="Arial" pitchFamily="34" charset="-120"/>
              </a:rPr>
              <a:t>Website doesn't mention GROW</a:t>
            </a:r>
            <a:endParaRPr lang="en-US" sz="1050" dirty="0"/>
          </a:p>
        </p:txBody>
      </p:sp>
      <p:sp>
        <p:nvSpPr>
          <p:cNvPr id="34" name="Text 25"/>
          <p:cNvSpPr txBox="1"/>
          <p:nvPr/>
        </p:nvSpPr>
        <p:spPr>
          <a:xfrm>
            <a:off x="3246120" y="3904488"/>
            <a:ext cx="2331720" cy="658368"/>
          </a:xfrm>
          <a:prstGeom prst="rect">
            <a:avLst/>
          </a:prstGeom>
          <a:noFill/>
          <a:ln/>
        </p:spPr>
        <p:txBody>
          <a:bodyPr wrap="square" lIns="0" tIns="0" rIns="0" bIns="0" rtlCol="0" anchor="ctr"/>
          <a:lstStyle/>
          <a:p>
            <a:pPr indent="0" marL="0">
              <a:buNone/>
            </a:pPr>
            <a:r>
              <a:rPr lang="en-US" sz="900" dirty="0">
                <a:solidFill>
                  <a:srgbClr val="2B2B3A"/>
                </a:solidFill>
                <a:latin typeface="Arial" pitchFamily="34" charset="0"/>
                <a:ea typeface="Arial" pitchFamily="34" charset="-122"/>
                <a:cs typeface="Arial" pitchFamily="34" charset="-120"/>
              </a:rPr>
              <a:t>It promotes older apps (eTrade, iTick) instead.</a:t>
            </a:r>
            <a:endParaRPr lang="en-US" sz="900" dirty="0"/>
          </a:p>
        </p:txBody>
      </p:sp>
      <p:sp>
        <p:nvSpPr>
          <p:cNvPr id="35" name="Text 26"/>
          <p:cNvSpPr txBox="1"/>
          <p:nvPr/>
        </p:nvSpPr>
        <p:spPr>
          <a:xfrm>
            <a:off x="5669280" y="3904488"/>
            <a:ext cx="2194560" cy="658368"/>
          </a:xfrm>
          <a:prstGeom prst="rect">
            <a:avLst/>
          </a:prstGeom>
          <a:noFill/>
          <a:ln/>
        </p:spPr>
        <p:txBody>
          <a:bodyPr wrap="square" lIns="0" tIns="0" rIns="0" bIns="0" rtlCol="0" anchor="ctr"/>
          <a:lstStyle/>
          <a:p>
            <a:pPr indent="0" marL="0">
              <a:buNone/>
            </a:pPr>
            <a:r>
              <a:rPr lang="en-US" sz="900" b="1" dirty="0">
                <a:solidFill>
                  <a:srgbClr val="4F7A00"/>
                </a:solidFill>
                <a:latin typeface="Arial" pitchFamily="34" charset="0"/>
                <a:ea typeface="Arial" pitchFamily="34" charset="-122"/>
                <a:cs typeface="Arial" pitchFamily="34" charset="-120"/>
              </a:rPr>
              <a:t>Add a GROW page with download links and FAQs.</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logo_light.png">    </p:cNvPr>
          <p:cNvPicPr>
            <a:picLocks noChangeAspect="1"/>
          </p:cNvPicPr>
          <p:nvPr/>
        </p:nvPicPr>
        <p:blipFill>
          <a:blip r:embed="rId1"/>
          <a:stretch>
            <a:fillRect/>
          </a:stretch>
        </p:blipFill>
        <p:spPr>
          <a:xfrm>
            <a:off x="7882128" y="164592"/>
            <a:ext cx="896112" cy="475488"/>
          </a:xfrm>
          <a:prstGeom prst="rect">
            <a:avLst/>
          </a:prstGeom>
        </p:spPr>
      </p:pic>
      <p:pic>
        <p:nvPicPr>
          <p:cNvPr id="3" name="Image 1" descr="corner_t.png">    </p:cNvPr>
          <p:cNvPicPr>
            <a:picLocks noChangeAspect="1"/>
          </p:cNvPicPr>
          <p:nvPr/>
        </p:nvPicPr>
        <p:blipFill>
          <a:blip r:embed="rId2"/>
          <a:stretch>
            <a:fillRect/>
          </a:stretch>
        </p:blipFill>
        <p:spPr>
          <a:xfrm>
            <a:off x="8138160" y="4553712"/>
            <a:ext cx="1005840" cy="726948"/>
          </a:xfrm>
          <a:prstGeom prst="rect">
            <a:avLst/>
          </a:prstGeom>
        </p:spPr>
      </p:pic>
      <p:sp>
        <p:nvSpPr>
          <p:cNvPr id="4" name="Text 0"/>
          <p:cNvSpPr txBox="1"/>
          <p:nvPr/>
        </p:nvSpPr>
        <p:spPr>
          <a:xfrm>
            <a:off x="457200" y="228600"/>
            <a:ext cx="7223760" cy="548640"/>
          </a:xfrm>
          <a:prstGeom prst="rect">
            <a:avLst/>
          </a:prstGeom>
          <a:noFill/>
          <a:ln/>
        </p:spPr>
        <p:txBody>
          <a:bodyPr wrap="square" lIns="0" tIns="0" rIns="0" bIns="0" rtlCol="0" anchor="ctr"/>
          <a:lstStyle/>
          <a:p>
            <a:pPr indent="0" marL="0">
              <a:buNone/>
            </a:pPr>
            <a:r>
              <a:rPr lang="en-US" sz="2400" b="1" dirty="0">
                <a:solidFill>
                  <a:srgbClr val="440973"/>
                </a:solidFill>
                <a:latin typeface="Arial" pitchFamily="34" charset="0"/>
                <a:ea typeface="Arial" pitchFamily="34" charset="-122"/>
                <a:cs typeface="Arial" pitchFamily="34" charset="-120"/>
              </a:rPr>
              <a:t>Getting GROW recommended by AI search</a:t>
            </a:r>
            <a:endParaRPr lang="en-US" sz="2400" dirty="0"/>
          </a:p>
        </p:txBody>
      </p:sp>
      <p:sp>
        <p:nvSpPr>
          <p:cNvPr id="5" name="Text 1"/>
          <p:cNvSpPr txBox="1"/>
          <p:nvPr/>
        </p:nvSpPr>
        <p:spPr>
          <a:xfrm>
            <a:off x="457200" y="868680"/>
            <a:ext cx="7498080" cy="548640"/>
          </a:xfrm>
          <a:prstGeom prst="rect">
            <a:avLst/>
          </a:prstGeom>
          <a:noFill/>
          <a:ln/>
        </p:spPr>
        <p:txBody>
          <a:bodyPr wrap="square" lIns="0" tIns="0" rIns="0" bIns="0" rtlCol="0" anchor="t"/>
          <a:lstStyle/>
          <a:p>
            <a:pPr indent="0" marL="0">
              <a:buNone/>
            </a:pPr>
            <a:r>
              <a:rPr lang="en-US" sz="1100" dirty="0">
                <a:solidFill>
                  <a:srgbClr val="2B2B3A"/>
                </a:solidFill>
                <a:latin typeface="Arial" pitchFamily="34" charset="0"/>
                <a:ea typeface="Arial" pitchFamily="34" charset="-122"/>
                <a:cs typeface="Arial" pitchFamily="34" charset="-120"/>
              </a:rPr>
              <a:t>More people now ask ChatGPT, Gemini or Google's AI answers "which app should I use to invest in PSX?" These tools recommend apps that clear, consistent, trusted sources talk about. Today, GROW is almost invisible to them.</a:t>
            </a:r>
            <a:endParaRPr lang="en-US" sz="1100" dirty="0"/>
          </a:p>
        </p:txBody>
      </p:sp>
      <p:sp>
        <p:nvSpPr>
          <p:cNvPr id="6" name="Shape 2"/>
          <p:cNvSpPr/>
          <p:nvPr/>
        </p:nvSpPr>
        <p:spPr>
          <a:xfrm>
            <a:off x="457200" y="1600200"/>
            <a:ext cx="2377440" cy="3063240"/>
          </a:xfrm>
          <a:prstGeom prst="roundRect">
            <a:avLst>
              <a:gd name="adj" fmla="val 3077"/>
            </a:avLst>
          </a:prstGeom>
          <a:solidFill>
            <a:srgbClr val="F3EEF8"/>
          </a:solidFill>
          <a:ln w="12700">
            <a:solidFill>
              <a:srgbClr val="F3EEF8"/>
            </a:solidFill>
            <a:prstDash val="solid"/>
          </a:ln>
        </p:spPr>
      </p:sp>
      <p:sp>
        <p:nvSpPr>
          <p:cNvPr id="7" name="Shape 3"/>
          <p:cNvSpPr/>
          <p:nvPr/>
        </p:nvSpPr>
        <p:spPr>
          <a:xfrm>
            <a:off x="640080" y="1755648"/>
            <a:ext cx="502920" cy="502920"/>
          </a:xfrm>
          <a:prstGeom prst="ellipse">
            <a:avLst/>
          </a:prstGeom>
          <a:solidFill>
            <a:srgbClr val="440973"/>
          </a:solidFill>
          <a:ln w="12700">
            <a:solidFill>
              <a:srgbClr val="440973"/>
            </a:solidFill>
            <a:prstDash val="solid"/>
          </a:ln>
        </p:spPr>
      </p:sp>
      <p:pic>
        <p:nvPicPr>
          <p:cNvPr id="8" name="Image 2" descr="preencoded.png">    </p:cNvPr>
          <p:cNvPicPr>
            <a:picLocks noChangeAspect="1"/>
          </p:cNvPicPr>
          <p:nvPr/>
        </p:nvPicPr>
        <p:blipFill>
          <a:blip r:embed="rId3"/>
          <a:stretch>
            <a:fillRect/>
          </a:stretch>
        </p:blipFill>
        <p:spPr>
          <a:xfrm>
            <a:off x="770839" y="1886407"/>
            <a:ext cx="241402" cy="241402"/>
          </a:xfrm>
          <a:prstGeom prst="rect">
            <a:avLst/>
          </a:prstGeom>
        </p:spPr>
      </p:pic>
      <p:sp>
        <p:nvSpPr>
          <p:cNvPr id="9" name="Text 4"/>
          <p:cNvSpPr txBox="1"/>
          <p:nvPr/>
        </p:nvSpPr>
        <p:spPr>
          <a:xfrm>
            <a:off x="1280160" y="1755648"/>
            <a:ext cx="1463040" cy="502920"/>
          </a:xfrm>
          <a:prstGeom prst="rect">
            <a:avLst/>
          </a:prstGeom>
          <a:noFill/>
          <a:ln/>
        </p:spPr>
        <p:txBody>
          <a:bodyPr wrap="square" lIns="0" tIns="0" rIns="0" bIns="0" rtlCol="0" anchor="ctr"/>
          <a:lstStyle/>
          <a:p>
            <a:pPr indent="0" marL="0">
              <a:buNone/>
            </a:pPr>
            <a:r>
              <a:rPr lang="en-US" sz="1300" b="1" dirty="0">
                <a:solidFill>
                  <a:srgbClr val="440973"/>
                </a:solidFill>
                <a:latin typeface="Arial" pitchFamily="34" charset="0"/>
                <a:ea typeface="Arial" pitchFamily="34" charset="-122"/>
                <a:cs typeface="Arial" pitchFamily="34" charset="-120"/>
              </a:rPr>
              <a:t>Website</a:t>
            </a:r>
            <a:endParaRPr lang="en-US" sz="1300" dirty="0"/>
          </a:p>
        </p:txBody>
      </p:sp>
      <p:sp>
        <p:nvSpPr>
          <p:cNvPr id="10" name="Text 5"/>
          <p:cNvSpPr txBox="1"/>
          <p:nvPr/>
        </p:nvSpPr>
        <p:spPr>
          <a:xfrm>
            <a:off x="640080" y="2423160"/>
            <a:ext cx="2057400" cy="2148840"/>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2B2B3A"/>
                </a:solidFill>
                <a:latin typeface="Arial" pitchFamily="34" charset="0"/>
                <a:ea typeface="Arial" pitchFamily="34" charset="-122"/>
                <a:cs typeface="Arial" pitchFamily="34" charset="-120"/>
              </a:rPr>
              <a:t>A GROW page: what it is, fees, minimum amount, how to open, download links</a:t>
            </a:r>
            <a:endParaRPr lang="en-US" sz="950" dirty="0"/>
          </a:p>
          <a:p>
            <a:pPr marL="342900" indent="-342900">
              <a:spcAft>
                <a:spcPts val="500"/>
              </a:spcAft>
              <a:buSzPct val="100000"/>
              <a:buChar char="•"/>
            </a:pPr>
            <a:r>
              <a:rPr lang="en-US" sz="950" dirty="0">
                <a:solidFill>
                  <a:srgbClr val="2B2B3A"/>
                </a:solidFill>
                <a:latin typeface="Arial" pitchFamily="34" charset="0"/>
                <a:ea typeface="Arial" pitchFamily="34" charset="-122"/>
                <a:cs typeface="Arial" pitchFamily="34" charset="-120"/>
              </a:rPr>
              <a:t>Beginner guides in English and Urdu</a:t>
            </a:r>
            <a:endParaRPr lang="en-US" sz="950" dirty="0"/>
          </a:p>
          <a:p>
            <a:pPr marL="342900" indent="-342900">
              <a:spcAft>
                <a:spcPts val="500"/>
              </a:spcAft>
              <a:buSzPct val="100000"/>
              <a:buChar char="•"/>
            </a:pPr>
            <a:r>
              <a:rPr lang="en-US" sz="950" dirty="0">
                <a:solidFill>
                  <a:srgbClr val="2B2B3A"/>
                </a:solidFill>
                <a:latin typeface="Arial" pitchFamily="34" charset="0"/>
                <a:ea typeface="Arial" pitchFamily="34" charset="-122"/>
                <a:cs typeface="Arial" pitchFamily="34" charset="-120"/>
              </a:rPr>
              <a:t>Faster, mobile-friendly pages</a:t>
            </a:r>
            <a:endParaRPr lang="en-US" sz="950" dirty="0"/>
          </a:p>
        </p:txBody>
      </p:sp>
      <p:sp>
        <p:nvSpPr>
          <p:cNvPr id="11" name="Shape 6"/>
          <p:cNvSpPr/>
          <p:nvPr/>
        </p:nvSpPr>
        <p:spPr>
          <a:xfrm>
            <a:off x="3017520" y="1600200"/>
            <a:ext cx="2377440" cy="3063240"/>
          </a:xfrm>
          <a:prstGeom prst="roundRect">
            <a:avLst>
              <a:gd name="adj" fmla="val 3077"/>
            </a:avLst>
          </a:prstGeom>
          <a:solidFill>
            <a:srgbClr val="EEF6DC"/>
          </a:solidFill>
          <a:ln w="12700">
            <a:solidFill>
              <a:srgbClr val="EEF6DC"/>
            </a:solidFill>
            <a:prstDash val="solid"/>
          </a:ln>
        </p:spPr>
      </p:sp>
      <p:sp>
        <p:nvSpPr>
          <p:cNvPr id="12" name="Shape 7"/>
          <p:cNvSpPr/>
          <p:nvPr/>
        </p:nvSpPr>
        <p:spPr>
          <a:xfrm>
            <a:off x="3200400" y="1755648"/>
            <a:ext cx="502920" cy="502920"/>
          </a:xfrm>
          <a:prstGeom prst="ellipse">
            <a:avLst/>
          </a:prstGeom>
          <a:solidFill>
            <a:srgbClr val="4F7A00"/>
          </a:solidFill>
          <a:ln w="12700">
            <a:solidFill>
              <a:srgbClr val="4F7A00"/>
            </a:solidFill>
            <a:prstDash val="solid"/>
          </a:ln>
        </p:spPr>
      </p:sp>
      <p:pic>
        <p:nvPicPr>
          <p:cNvPr id="13" name="Image 3" descr="preencoded.png">    </p:cNvPr>
          <p:cNvPicPr>
            <a:picLocks noChangeAspect="1"/>
          </p:cNvPicPr>
          <p:nvPr/>
        </p:nvPicPr>
        <p:blipFill>
          <a:blip r:embed="rId4"/>
          <a:stretch>
            <a:fillRect/>
          </a:stretch>
        </p:blipFill>
        <p:spPr>
          <a:xfrm>
            <a:off x="3331159" y="1886407"/>
            <a:ext cx="241402" cy="241402"/>
          </a:xfrm>
          <a:prstGeom prst="rect">
            <a:avLst/>
          </a:prstGeom>
        </p:spPr>
      </p:pic>
      <p:sp>
        <p:nvSpPr>
          <p:cNvPr id="14" name="Text 8"/>
          <p:cNvSpPr txBox="1"/>
          <p:nvPr/>
        </p:nvSpPr>
        <p:spPr>
          <a:xfrm>
            <a:off x="3840480" y="1755648"/>
            <a:ext cx="1463040" cy="502920"/>
          </a:xfrm>
          <a:prstGeom prst="rect">
            <a:avLst/>
          </a:prstGeom>
          <a:noFill/>
          <a:ln/>
        </p:spPr>
        <p:txBody>
          <a:bodyPr wrap="square" lIns="0" tIns="0" rIns="0" bIns="0" rtlCol="0" anchor="ctr"/>
          <a:lstStyle/>
          <a:p>
            <a:pPr indent="0" marL="0">
              <a:buNone/>
            </a:pPr>
            <a:r>
              <a:rPr lang="en-US" sz="1300" b="1" dirty="0">
                <a:solidFill>
                  <a:srgbClr val="440973"/>
                </a:solidFill>
                <a:latin typeface="Arial" pitchFamily="34" charset="0"/>
                <a:ea typeface="Arial" pitchFamily="34" charset="-122"/>
                <a:cs typeface="Arial" pitchFamily="34" charset="-120"/>
              </a:rPr>
              <a:t>Answers AI can quote</a:t>
            </a:r>
            <a:endParaRPr lang="en-US" sz="1300" dirty="0"/>
          </a:p>
        </p:txBody>
      </p:sp>
      <p:sp>
        <p:nvSpPr>
          <p:cNvPr id="15" name="Text 9"/>
          <p:cNvSpPr txBox="1"/>
          <p:nvPr/>
        </p:nvSpPr>
        <p:spPr>
          <a:xfrm>
            <a:off x="3200400" y="2423160"/>
            <a:ext cx="2057400" cy="2148840"/>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2B2B3A"/>
                </a:solidFill>
                <a:latin typeface="Arial" pitchFamily="34" charset="0"/>
                <a:ea typeface="Arial" pitchFamily="34" charset="-122"/>
                <a:cs typeface="Arial" pitchFamily="34" charset="-120"/>
              </a:rPr>
              <a:t>FAQ page answering the real questions: how to start, is it halal, is it safe</a:t>
            </a:r>
            <a:endParaRPr lang="en-US" sz="950" dirty="0"/>
          </a:p>
          <a:p>
            <a:pPr marL="342900" indent="-342900">
              <a:spcAft>
                <a:spcPts val="500"/>
              </a:spcAft>
              <a:buSzPct val="100000"/>
              <a:buChar char="•"/>
            </a:pPr>
            <a:r>
              <a:rPr lang="en-US" sz="950" dirty="0">
                <a:solidFill>
                  <a:srgbClr val="2B2B3A"/>
                </a:solidFill>
                <a:latin typeface="Arial" pitchFamily="34" charset="0"/>
                <a:ea typeface="Arial" pitchFamily="34" charset="-122"/>
                <a:cs typeface="Arial" pitchFamily="34" charset="-120"/>
              </a:rPr>
              <a:t>Technical tags (schema) that tell Google this is an app and a regulated broker</a:t>
            </a:r>
            <a:endParaRPr lang="en-US" sz="950" dirty="0"/>
          </a:p>
          <a:p>
            <a:pPr marL="342900" indent="-342900">
              <a:spcAft>
                <a:spcPts val="500"/>
              </a:spcAft>
              <a:buSzPct val="100000"/>
              <a:buChar char="•"/>
            </a:pPr>
            <a:r>
              <a:rPr lang="en-US" sz="950" dirty="0">
                <a:solidFill>
                  <a:srgbClr val="2B2B3A"/>
                </a:solidFill>
                <a:latin typeface="Arial" pitchFamily="34" charset="0"/>
                <a:ea typeface="Arial" pitchFamily="34" charset="-122"/>
                <a:cs typeface="Arial" pitchFamily="34" charset="-120"/>
              </a:rPr>
              <a:t>Same facts on website, app stores and social</a:t>
            </a:r>
            <a:endParaRPr lang="en-US" sz="950" dirty="0"/>
          </a:p>
        </p:txBody>
      </p:sp>
      <p:sp>
        <p:nvSpPr>
          <p:cNvPr id="16" name="Shape 10"/>
          <p:cNvSpPr/>
          <p:nvPr/>
        </p:nvSpPr>
        <p:spPr>
          <a:xfrm>
            <a:off x="5577840" y="1600200"/>
            <a:ext cx="2377440" cy="3063240"/>
          </a:xfrm>
          <a:prstGeom prst="roundRect">
            <a:avLst>
              <a:gd name="adj" fmla="val 3077"/>
            </a:avLst>
          </a:prstGeom>
          <a:solidFill>
            <a:srgbClr val="F3EEF8"/>
          </a:solidFill>
          <a:ln w="12700">
            <a:solidFill>
              <a:srgbClr val="F3EEF8"/>
            </a:solidFill>
            <a:prstDash val="solid"/>
          </a:ln>
        </p:spPr>
      </p:sp>
      <p:sp>
        <p:nvSpPr>
          <p:cNvPr id="17" name="Shape 11"/>
          <p:cNvSpPr/>
          <p:nvPr/>
        </p:nvSpPr>
        <p:spPr>
          <a:xfrm>
            <a:off x="5760720" y="1755648"/>
            <a:ext cx="502920" cy="502920"/>
          </a:xfrm>
          <a:prstGeom prst="ellipse">
            <a:avLst/>
          </a:prstGeom>
          <a:solidFill>
            <a:srgbClr val="440973"/>
          </a:solidFill>
          <a:ln w="12700">
            <a:solidFill>
              <a:srgbClr val="440973"/>
            </a:solidFill>
            <a:prstDash val="solid"/>
          </a:ln>
        </p:spPr>
      </p:sp>
      <p:pic>
        <p:nvPicPr>
          <p:cNvPr id="18" name="Image 4" descr="preencoded.png">    </p:cNvPr>
          <p:cNvPicPr>
            <a:picLocks noChangeAspect="1"/>
          </p:cNvPicPr>
          <p:nvPr/>
        </p:nvPicPr>
        <p:blipFill>
          <a:blip r:embed="rId5"/>
          <a:stretch>
            <a:fillRect/>
          </a:stretch>
        </p:blipFill>
        <p:spPr>
          <a:xfrm>
            <a:off x="5891479" y="1886407"/>
            <a:ext cx="241402" cy="241402"/>
          </a:xfrm>
          <a:prstGeom prst="rect">
            <a:avLst/>
          </a:prstGeom>
        </p:spPr>
      </p:pic>
      <p:sp>
        <p:nvSpPr>
          <p:cNvPr id="19" name="Text 12"/>
          <p:cNvSpPr txBox="1"/>
          <p:nvPr/>
        </p:nvSpPr>
        <p:spPr>
          <a:xfrm>
            <a:off x="6400800" y="1755648"/>
            <a:ext cx="1463040" cy="502920"/>
          </a:xfrm>
          <a:prstGeom prst="rect">
            <a:avLst/>
          </a:prstGeom>
          <a:noFill/>
          <a:ln/>
        </p:spPr>
        <p:txBody>
          <a:bodyPr wrap="square" lIns="0" tIns="0" rIns="0" bIns="0" rtlCol="0" anchor="ctr"/>
          <a:lstStyle/>
          <a:p>
            <a:pPr indent="0" marL="0">
              <a:buNone/>
            </a:pPr>
            <a:r>
              <a:rPr lang="en-US" sz="1300" b="1" dirty="0">
                <a:solidFill>
                  <a:srgbClr val="440973"/>
                </a:solidFill>
                <a:latin typeface="Arial" pitchFamily="34" charset="0"/>
                <a:ea typeface="Arial" pitchFamily="34" charset="-122"/>
                <a:cs typeface="Arial" pitchFamily="34" charset="-120"/>
              </a:rPr>
              <a:t>Being mentioned elsewhere</a:t>
            </a:r>
            <a:endParaRPr lang="en-US" sz="1300" dirty="0"/>
          </a:p>
        </p:txBody>
      </p:sp>
      <p:sp>
        <p:nvSpPr>
          <p:cNvPr id="20" name="Text 13"/>
          <p:cNvSpPr txBox="1"/>
          <p:nvPr/>
        </p:nvSpPr>
        <p:spPr>
          <a:xfrm>
            <a:off x="5760720" y="2423160"/>
            <a:ext cx="2057400" cy="2148840"/>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2B2B3A"/>
                </a:solidFill>
                <a:latin typeface="Arial" pitchFamily="34" charset="0"/>
                <a:ea typeface="Arial" pitchFamily="34" charset="-122"/>
                <a:cs typeface="Arial" pitchFamily="34" charset="-120"/>
              </a:rPr>
              <a:t>Launch story in business media (Profit, ProPakistani)</a:t>
            </a:r>
            <a:endParaRPr lang="en-US" sz="950" dirty="0"/>
          </a:p>
          <a:p>
            <a:pPr marL="342900" indent="-342900">
              <a:spcAft>
                <a:spcPts val="500"/>
              </a:spcAft>
              <a:buSzPct val="100000"/>
              <a:buChar char="•"/>
            </a:pPr>
            <a:r>
              <a:rPr lang="en-US" sz="950" dirty="0">
                <a:solidFill>
                  <a:srgbClr val="2B2B3A"/>
                </a:solidFill>
                <a:latin typeface="Arial" pitchFamily="34" charset="0"/>
                <a:ea typeface="Arial" pitchFamily="34" charset="-122"/>
                <a:cs typeface="Arial" pitchFamily="34" charset="-120"/>
              </a:rPr>
              <a:t>Get listed in "best PSX apps" guides</a:t>
            </a:r>
            <a:endParaRPr lang="en-US" sz="950" dirty="0"/>
          </a:p>
          <a:p>
            <a:pPr marL="342900" indent="-342900">
              <a:spcAft>
                <a:spcPts val="500"/>
              </a:spcAft>
              <a:buSzPct val="100000"/>
              <a:buChar char="•"/>
            </a:pPr>
            <a:r>
              <a:rPr lang="en-US" sz="950" dirty="0">
                <a:solidFill>
                  <a:srgbClr val="2B2B3A"/>
                </a:solidFill>
                <a:latin typeface="Arial" pitchFamily="34" charset="0"/>
                <a:ea typeface="Arial" pitchFamily="34" charset="-122"/>
                <a:cs typeface="Arial" pitchFamily="34" charset="-120"/>
              </a:rPr>
              <a:t>Encourage genuine app reviews and reply to every one</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logo_light.png">    </p:cNvPr>
          <p:cNvPicPr>
            <a:picLocks noChangeAspect="1"/>
          </p:cNvPicPr>
          <p:nvPr/>
        </p:nvPicPr>
        <p:blipFill>
          <a:blip r:embed="rId1"/>
          <a:stretch>
            <a:fillRect/>
          </a:stretch>
        </p:blipFill>
        <p:spPr>
          <a:xfrm>
            <a:off x="7882128" y="164592"/>
            <a:ext cx="896112" cy="475488"/>
          </a:xfrm>
          <a:prstGeom prst="rect">
            <a:avLst/>
          </a:prstGeom>
        </p:spPr>
      </p:pic>
      <p:pic>
        <p:nvPicPr>
          <p:cNvPr id="3" name="Image 1" descr="corner_t.png">    </p:cNvPr>
          <p:cNvPicPr>
            <a:picLocks noChangeAspect="1"/>
          </p:cNvPicPr>
          <p:nvPr/>
        </p:nvPicPr>
        <p:blipFill>
          <a:blip r:embed="rId2"/>
          <a:stretch>
            <a:fillRect/>
          </a:stretch>
        </p:blipFill>
        <p:spPr>
          <a:xfrm>
            <a:off x="8138160" y="4553712"/>
            <a:ext cx="1005840" cy="726948"/>
          </a:xfrm>
          <a:prstGeom prst="rect">
            <a:avLst/>
          </a:prstGeom>
        </p:spPr>
      </p:pic>
      <p:sp>
        <p:nvSpPr>
          <p:cNvPr id="4" name="Text 0"/>
          <p:cNvSpPr txBox="1"/>
          <p:nvPr/>
        </p:nvSpPr>
        <p:spPr>
          <a:xfrm>
            <a:off x="457200" y="228600"/>
            <a:ext cx="7223760" cy="548640"/>
          </a:xfrm>
          <a:prstGeom prst="rect">
            <a:avLst/>
          </a:prstGeom>
          <a:noFill/>
          <a:ln/>
        </p:spPr>
        <p:txBody>
          <a:bodyPr wrap="square" lIns="0" tIns="0" rIns="0" bIns="0" rtlCol="0" anchor="ctr"/>
          <a:lstStyle/>
          <a:p>
            <a:pPr indent="0" marL="0">
              <a:buNone/>
            </a:pPr>
            <a:r>
              <a:rPr lang="en-US" sz="2400" b="1" dirty="0">
                <a:solidFill>
                  <a:srgbClr val="440973"/>
                </a:solidFill>
                <a:latin typeface="Arial" pitchFamily="34" charset="0"/>
                <a:ea typeface="Arial" pitchFamily="34" charset="-122"/>
                <a:cs typeface="Arial" pitchFamily="34" charset="-120"/>
              </a:rPr>
              <a:t>Three ways to start, ranked</a:t>
            </a:r>
            <a:endParaRPr lang="en-US" sz="2400" dirty="0"/>
          </a:p>
        </p:txBody>
      </p:sp>
      <p:sp>
        <p:nvSpPr>
          <p:cNvPr id="5" name="Text 1"/>
          <p:cNvSpPr txBox="1"/>
          <p:nvPr/>
        </p:nvSpPr>
        <p:spPr>
          <a:xfrm>
            <a:off x="457200" y="4828032"/>
            <a:ext cx="7498080" cy="228600"/>
          </a:xfrm>
          <a:prstGeom prst="rect">
            <a:avLst/>
          </a:prstGeom>
          <a:noFill/>
          <a:ln/>
        </p:spPr>
        <p:txBody>
          <a:bodyPr wrap="square" lIns="0" tIns="0" rIns="0" bIns="0" rtlCol="0" anchor="ctr"/>
          <a:lstStyle/>
          <a:p>
            <a:pPr indent="0" marL="0">
              <a:buNone/>
            </a:pPr>
            <a:r>
              <a:rPr lang="en-US" sz="750" dirty="0">
                <a:solidFill>
                  <a:srgbClr val="6B6B80"/>
                </a:solidFill>
                <a:latin typeface="Arial" pitchFamily="34" charset="0"/>
                <a:ea typeface="Arial" pitchFamily="34" charset="-122"/>
                <a:cs typeface="Arial" pitchFamily="34" charset="-120"/>
              </a:rPr>
              <a:t>All figures in PKR. Hummingbird fee covers content, posting, AI search and website optimisation, and email campaigns. Influencer fees, media spend and tools are extra.</a:t>
            </a:r>
            <a:endParaRPr lang="en-US" sz="7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868680"/>
          <a:ext cx="7498080" cy="914400"/>
        </p:xfrm>
        <a:graphic>
          <a:graphicData uri="http://schemas.openxmlformats.org/drawingml/2006/table">
            <a:tbl>
              <a:tblPr/>
              <a:tblGrid>
                <a:gridCol w="1554480"/>
                <a:gridCol w="1737360"/>
                <a:gridCol w="1143000"/>
                <a:gridCol w="1508760"/>
                <a:gridCol w="1554480"/>
              </a:tblGrid>
              <a:tr h="320040">
                <a:tc>
                  <a:txBody>
                    <a:bodyPr/>
                    <a:lstStyle/>
                    <a:p>
                      <a:pPr indent="0" marL="0">
                        <a:buNone/>
                      </a:pPr>
                      <a:endParaRPr lang="en-US" sz="1000" dirty="0">
                        <a:latin typeface="Arial" charset="0"/>
                        <a:ea typeface="Arial" charset="0"/>
                        <a:cs typeface="Arial" charset="0"/>
                      </a:endParaRPr>
                    </a:p>
                  </a:txBody>
                  <a:tcPr marL="76200" marR="76200" marT="38100" marB="38100" anchor="ctr">
                    <a:lnL w="6350" cap="flat" cmpd="sng" algn="ctr">
                      <a:solidFill>
                        <a:srgbClr val="DCD3E8"/>
                      </a:solidFill>
                      <a:prstDash val="solid"/>
                      <a:round/>
                      <a:headEnd type="none" w="med" len="med"/>
                      <a:tailEnd type="none" w="med" len="med"/>
                    </a:lnL>
                    <a:lnR w="6350" cap="flat" cmpd="sng" algn="ctr">
                      <a:solidFill>
                        <a:srgbClr val="DCD3E8"/>
                      </a:solidFill>
                      <a:prstDash val="solid"/>
                      <a:round/>
                      <a:headEnd type="none" w="med" len="med"/>
                      <a:tailEnd type="none" w="med" len="med"/>
                    </a:lnR>
                    <a:lnT w="6350" cap="flat" cmpd="sng" algn="ctr">
                      <a:solidFill>
                        <a:srgbClr val="DCD3E8"/>
                      </a:solidFill>
                      <a:prstDash val="solid"/>
                      <a:round/>
                      <a:headEnd type="none" w="med" len="med"/>
                      <a:tailEnd type="none" w="med" len="med"/>
                    </a:lnT>
                    <a:lnB w="6350" cap="flat" cmpd="sng" algn="ctr">
                      <a:solidFill>
                        <a:srgbClr val="DCD3E8"/>
                      </a:solidFill>
                      <a:prstDash val="solid"/>
                      <a:round/>
                      <a:headEnd type="none" w="med" len="med"/>
                      <a:tailEnd type="none" w="med" len="med"/>
                    </a:lnB>
                    <a:solidFill>
                      <a:srgbClr val="440973"/>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What's included</a:t>
                      </a:r>
                      <a:endParaRPr lang="en-US" sz="1000" dirty="0">
                        <a:latin typeface="Arial" charset="0"/>
                        <a:ea typeface="Arial" charset="0"/>
                        <a:cs typeface="Arial" charset="0"/>
                      </a:endParaRPr>
                    </a:p>
                  </a:txBody>
                  <a:tcPr marL="76200" marR="76200" marT="38100" marB="38100" anchor="ctr">
                    <a:lnL w="6350" cap="flat" cmpd="sng" algn="ctr">
                      <a:solidFill>
                        <a:srgbClr val="DCD3E8"/>
                      </a:solidFill>
                      <a:prstDash val="solid"/>
                      <a:round/>
                      <a:headEnd type="none" w="med" len="med"/>
                      <a:tailEnd type="none" w="med" len="med"/>
                    </a:lnL>
                    <a:lnR w="6350" cap="flat" cmpd="sng" algn="ctr">
                      <a:solidFill>
                        <a:srgbClr val="DCD3E8"/>
                      </a:solidFill>
                      <a:prstDash val="solid"/>
                      <a:round/>
                      <a:headEnd type="none" w="med" len="med"/>
                      <a:tailEnd type="none" w="med" len="med"/>
                    </a:lnR>
                    <a:lnT w="6350" cap="flat" cmpd="sng" algn="ctr">
                      <a:solidFill>
                        <a:srgbClr val="DCD3E8"/>
                      </a:solidFill>
                      <a:prstDash val="solid"/>
                      <a:round/>
                      <a:headEnd type="none" w="med" len="med"/>
                      <a:tailEnd type="none" w="med" len="med"/>
                    </a:lnT>
                    <a:lnB w="6350" cap="flat" cmpd="sng" algn="ctr">
                      <a:solidFill>
                        <a:srgbClr val="DCD3E8"/>
                      </a:solidFill>
                      <a:prstDash val="solid"/>
                      <a:round/>
                      <a:headEnd type="none" w="med" len="med"/>
                      <a:tailEnd type="none" w="med" len="med"/>
                    </a:lnB>
                    <a:solidFill>
                      <a:srgbClr val="440973"/>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Monthly cost</a:t>
                      </a:r>
                      <a:endParaRPr lang="en-US" sz="1000" dirty="0">
                        <a:latin typeface="Arial" charset="0"/>
                        <a:ea typeface="Arial" charset="0"/>
                        <a:cs typeface="Arial" charset="0"/>
                      </a:endParaRPr>
                    </a:p>
                  </a:txBody>
                  <a:tcPr marL="76200" marR="76200" marT="38100" marB="38100" anchor="ctr">
                    <a:lnL w="6350" cap="flat" cmpd="sng" algn="ctr">
                      <a:solidFill>
                        <a:srgbClr val="DCD3E8"/>
                      </a:solidFill>
                      <a:prstDash val="solid"/>
                      <a:round/>
                      <a:headEnd type="none" w="med" len="med"/>
                      <a:tailEnd type="none" w="med" len="med"/>
                    </a:lnL>
                    <a:lnR w="6350" cap="flat" cmpd="sng" algn="ctr">
                      <a:solidFill>
                        <a:srgbClr val="DCD3E8"/>
                      </a:solidFill>
                      <a:prstDash val="solid"/>
                      <a:round/>
                      <a:headEnd type="none" w="med" len="med"/>
                      <a:tailEnd type="none" w="med" len="med"/>
                    </a:lnR>
                    <a:lnT w="6350" cap="flat" cmpd="sng" algn="ctr">
                      <a:solidFill>
                        <a:srgbClr val="DCD3E8"/>
                      </a:solidFill>
                      <a:prstDash val="solid"/>
                      <a:round/>
                      <a:headEnd type="none" w="med" len="med"/>
                      <a:tailEnd type="none" w="med" len="med"/>
                    </a:lnT>
                    <a:lnB w="6350" cap="flat" cmpd="sng" algn="ctr">
                      <a:solidFill>
                        <a:srgbClr val="DCD3E8"/>
                      </a:solidFill>
                      <a:prstDash val="solid"/>
                      <a:round/>
                      <a:headEnd type="none" w="med" len="med"/>
                      <a:tailEnd type="none" w="med" len="med"/>
                    </a:lnB>
                    <a:solidFill>
                      <a:srgbClr val="440973"/>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First 6 months</a:t>
                      </a:r>
                      <a:endParaRPr lang="en-US" sz="1000" dirty="0">
                        <a:latin typeface="Arial" charset="0"/>
                        <a:ea typeface="Arial" charset="0"/>
                        <a:cs typeface="Arial" charset="0"/>
                      </a:endParaRPr>
                    </a:p>
                  </a:txBody>
                  <a:tcPr marL="76200" marR="76200" marT="38100" marB="38100" anchor="ctr">
                    <a:lnL w="6350" cap="flat" cmpd="sng" algn="ctr">
                      <a:solidFill>
                        <a:srgbClr val="DCD3E8"/>
                      </a:solidFill>
                      <a:prstDash val="solid"/>
                      <a:round/>
                      <a:headEnd type="none" w="med" len="med"/>
                      <a:tailEnd type="none" w="med" len="med"/>
                    </a:lnL>
                    <a:lnR w="6350" cap="flat" cmpd="sng" algn="ctr">
                      <a:solidFill>
                        <a:srgbClr val="DCD3E8"/>
                      </a:solidFill>
                      <a:prstDash val="solid"/>
                      <a:round/>
                      <a:headEnd type="none" w="med" len="med"/>
                      <a:tailEnd type="none" w="med" len="med"/>
                    </a:lnR>
                    <a:lnT w="6350" cap="flat" cmpd="sng" algn="ctr">
                      <a:solidFill>
                        <a:srgbClr val="DCD3E8"/>
                      </a:solidFill>
                      <a:prstDash val="solid"/>
                      <a:round/>
                      <a:headEnd type="none" w="med" len="med"/>
                      <a:tailEnd type="none" w="med" len="med"/>
                    </a:lnT>
                    <a:lnB w="6350" cap="flat" cmpd="sng" algn="ctr">
                      <a:solidFill>
                        <a:srgbClr val="DCD3E8"/>
                      </a:solidFill>
                      <a:prstDash val="solid"/>
                      <a:round/>
                      <a:headEnd type="none" w="med" len="med"/>
                      <a:tailEnd type="none" w="med" len="med"/>
                    </a:lnB>
                    <a:solidFill>
                      <a:srgbClr val="440973"/>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What to expect</a:t>
                      </a:r>
                      <a:endParaRPr lang="en-US" sz="1000" dirty="0">
                        <a:latin typeface="Arial" charset="0"/>
                        <a:ea typeface="Arial" charset="0"/>
                        <a:cs typeface="Arial" charset="0"/>
                      </a:endParaRPr>
                    </a:p>
                  </a:txBody>
                  <a:tcPr marL="76200" marR="76200" marT="38100" marB="38100" anchor="ctr">
                    <a:lnL w="6350" cap="flat" cmpd="sng" algn="ctr">
                      <a:solidFill>
                        <a:srgbClr val="DCD3E8"/>
                      </a:solidFill>
                      <a:prstDash val="solid"/>
                      <a:round/>
                      <a:headEnd type="none" w="med" len="med"/>
                      <a:tailEnd type="none" w="med" len="med"/>
                    </a:lnL>
                    <a:lnR w="6350" cap="flat" cmpd="sng" algn="ctr">
                      <a:solidFill>
                        <a:srgbClr val="DCD3E8"/>
                      </a:solidFill>
                      <a:prstDash val="solid"/>
                      <a:round/>
                      <a:headEnd type="none" w="med" len="med"/>
                      <a:tailEnd type="none" w="med" len="med"/>
                    </a:lnR>
                    <a:lnT w="6350" cap="flat" cmpd="sng" algn="ctr">
                      <a:solidFill>
                        <a:srgbClr val="DCD3E8"/>
                      </a:solidFill>
                      <a:prstDash val="solid"/>
                      <a:round/>
                      <a:headEnd type="none" w="med" len="med"/>
                      <a:tailEnd type="none" w="med" len="med"/>
                    </a:lnT>
                    <a:lnB w="6350" cap="flat" cmpd="sng" algn="ctr">
                      <a:solidFill>
                        <a:srgbClr val="DCD3E8"/>
                      </a:solidFill>
                      <a:prstDash val="solid"/>
                      <a:round/>
                      <a:headEnd type="none" w="med" len="med"/>
                      <a:tailEnd type="none" w="med" len="med"/>
                    </a:lnB>
                    <a:solidFill>
                      <a:srgbClr val="440973"/>
                    </a:solidFill>
                  </a:tcPr>
                </a:tc>
              </a:tr>
              <a:tr h="822960">
                <a:tc>
                  <a:txBody>
                    <a:bodyPr/>
                    <a:lstStyle/>
                    <a:p>
                      <a:pPr indent="0" marL="0">
                        <a:buNone/>
                      </a:pPr>
                      <a:r>
                        <a:rPr lang="en-US" sz="950" b="1" dirty="0">
                          <a:solidFill>
                            <a:srgbClr val="4F7A00"/>
                          </a:solidFill>
                          <a:latin typeface="Arial" pitchFamily="34" charset="0"/>
                          <a:ea typeface="Arial" pitchFamily="34" charset="-122"/>
                          <a:cs typeface="Arial" pitchFamily="34" charset="-120"/>
                        </a:rPr>
                        <a:t>1. Recommended</a:t>
                      </a:r>
                      <a:endParaRPr lang="en-US" sz="950" dirty="0">
                        <a:latin typeface="Arial" charset="0"/>
                        <a:ea typeface="Arial" charset="0"/>
                        <a:cs typeface="Arial" charset="0"/>
                      </a:endParaRPr>
                    </a:p>
                    <a:p>
                      <a:pPr indent="0" marL="0">
                        <a:buNone/>
                      </a:pPr>
                      <a:r>
                        <a:rPr lang="en-US" sz="950" b="1" dirty="0">
                          <a:solidFill>
                            <a:srgbClr val="4F7A00"/>
                          </a:solidFill>
                          <a:latin typeface="Arial" pitchFamily="34" charset="0"/>
                          <a:ea typeface="Arial" pitchFamily="34" charset="-122"/>
                          <a:cs typeface="Arial" pitchFamily="34" charset="-120"/>
                        </a:rPr>
                        <a:t>Content + Instagram test</a:t>
                      </a:r>
                      <a:endParaRPr lang="en-US" sz="950" dirty="0">
                        <a:latin typeface="Arial" charset="0"/>
                        <a:ea typeface="Arial" charset="0"/>
                        <a:cs typeface="Arial" charset="0"/>
                      </a:endParaRPr>
                    </a:p>
                  </a:txBody>
                  <a:tcPr marL="76200" marR="76200" marT="38100" marB="38100" anchor="ctr">
                    <a:lnL w="6350" cap="flat" cmpd="sng" algn="ctr">
                      <a:solidFill>
                        <a:srgbClr val="DCD3E8"/>
                      </a:solidFill>
                      <a:prstDash val="solid"/>
                      <a:round/>
                      <a:headEnd type="none" w="med" len="med"/>
                      <a:tailEnd type="none" w="med" len="med"/>
                    </a:lnL>
                    <a:lnR w="6350" cap="flat" cmpd="sng" algn="ctr">
                      <a:solidFill>
                        <a:srgbClr val="DCD3E8"/>
                      </a:solidFill>
                      <a:prstDash val="solid"/>
                      <a:round/>
                      <a:headEnd type="none" w="med" len="med"/>
                      <a:tailEnd type="none" w="med" len="med"/>
                    </a:lnR>
                    <a:lnT w="6350" cap="flat" cmpd="sng" algn="ctr">
                      <a:solidFill>
                        <a:srgbClr val="DCD3E8"/>
                      </a:solidFill>
                      <a:prstDash val="solid"/>
                      <a:round/>
                      <a:headEnd type="none" w="med" len="med"/>
                      <a:tailEnd type="none" w="med" len="med"/>
                    </a:lnT>
                    <a:lnB w="6350" cap="flat" cmpd="sng" algn="ctr">
                      <a:solidFill>
                        <a:srgbClr val="DCD3E8"/>
                      </a:solidFill>
                      <a:prstDash val="solid"/>
                      <a:round/>
                      <a:headEnd type="none" w="med" len="med"/>
                      <a:tailEnd type="none" w="med" len="med"/>
                    </a:lnB>
                    <a:solidFill>
                      <a:srgbClr val="EEF6DC"/>
                    </a:solidFill>
                  </a:tcPr>
                </a:tc>
                <a:tc>
                  <a:txBody>
                    <a:bodyPr/>
                    <a:lstStyle/>
                    <a:p>
                      <a:pPr indent="0" marL="0">
                        <a:buNone/>
                      </a:pPr>
                      <a:r>
                        <a:rPr lang="en-US" sz="950" dirty="0">
                          <a:solidFill>
                            <a:srgbClr val="2B2B3A"/>
                          </a:solidFill>
                          <a:latin typeface="Arial" pitchFamily="34" charset="0"/>
                          <a:ea typeface="Arial" pitchFamily="34" charset="-122"/>
                          <a:cs typeface="Arial" pitchFamily="34" charset="-120"/>
                        </a:rPr>
                        <a:t>All organic work, plus PKR 150,000 a month of Instagram ads</a:t>
                      </a:r>
                      <a:endParaRPr lang="en-US" sz="950" dirty="0">
                        <a:latin typeface="Arial" charset="0"/>
                        <a:ea typeface="Arial" charset="0"/>
                        <a:cs typeface="Arial" charset="0"/>
                      </a:endParaRPr>
                    </a:p>
                  </a:txBody>
                  <a:tcPr marL="76200" marR="76200" marT="38100" marB="38100" anchor="ctr">
                    <a:lnL w="6350" cap="flat" cmpd="sng" algn="ctr">
                      <a:solidFill>
                        <a:srgbClr val="DCD3E8"/>
                      </a:solidFill>
                      <a:prstDash val="solid"/>
                      <a:round/>
                      <a:headEnd type="none" w="med" len="med"/>
                      <a:tailEnd type="none" w="med" len="med"/>
                    </a:lnL>
                    <a:lnR w="6350" cap="flat" cmpd="sng" algn="ctr">
                      <a:solidFill>
                        <a:srgbClr val="DCD3E8"/>
                      </a:solidFill>
                      <a:prstDash val="solid"/>
                      <a:round/>
                      <a:headEnd type="none" w="med" len="med"/>
                      <a:tailEnd type="none" w="med" len="med"/>
                    </a:lnR>
                    <a:lnT w="6350" cap="flat" cmpd="sng" algn="ctr">
                      <a:solidFill>
                        <a:srgbClr val="DCD3E8"/>
                      </a:solidFill>
                      <a:prstDash val="solid"/>
                      <a:round/>
                      <a:headEnd type="none" w="med" len="med"/>
                      <a:tailEnd type="none" w="med" len="med"/>
                    </a:lnT>
                    <a:lnB w="6350" cap="flat" cmpd="sng" algn="ctr">
                      <a:solidFill>
                        <a:srgbClr val="DCD3E8"/>
                      </a:solidFill>
                      <a:prstDash val="solid"/>
                      <a:round/>
                      <a:headEnd type="none" w="med" len="med"/>
                      <a:tailEnd type="none" w="med" len="med"/>
                    </a:lnB>
                    <a:solidFill>
                      <a:srgbClr val="EEF6DC"/>
                    </a:solidFill>
                  </a:tcPr>
                </a:tc>
                <a:tc>
                  <a:txBody>
                    <a:bodyPr/>
                    <a:lstStyle/>
                    <a:p>
                      <a:pPr indent="0" marL="0">
                        <a:buNone/>
                      </a:pPr>
                      <a:r>
                        <a:rPr lang="en-US" sz="950" dirty="0">
                          <a:solidFill>
                            <a:srgbClr val="2B2B3A"/>
                          </a:solidFill>
                          <a:latin typeface="Arial" pitchFamily="34" charset="0"/>
                          <a:ea typeface="Arial" pitchFamily="34" charset="-122"/>
                          <a:cs typeface="Arial" pitchFamily="34" charset="-120"/>
                        </a:rPr>
                        <a:t>PKR 200,000</a:t>
                      </a:r>
                      <a:endParaRPr lang="en-US" sz="950" dirty="0">
                        <a:latin typeface="Arial" charset="0"/>
                        <a:ea typeface="Arial" charset="0"/>
                        <a:cs typeface="Arial" charset="0"/>
                      </a:endParaRPr>
                    </a:p>
                  </a:txBody>
                  <a:tcPr marL="76200" marR="76200" marT="38100" marB="38100" anchor="ctr">
                    <a:lnL w="6350" cap="flat" cmpd="sng" algn="ctr">
                      <a:solidFill>
                        <a:srgbClr val="DCD3E8"/>
                      </a:solidFill>
                      <a:prstDash val="solid"/>
                      <a:round/>
                      <a:headEnd type="none" w="med" len="med"/>
                      <a:tailEnd type="none" w="med" len="med"/>
                    </a:lnL>
                    <a:lnR w="6350" cap="flat" cmpd="sng" algn="ctr">
                      <a:solidFill>
                        <a:srgbClr val="DCD3E8"/>
                      </a:solidFill>
                      <a:prstDash val="solid"/>
                      <a:round/>
                      <a:headEnd type="none" w="med" len="med"/>
                      <a:tailEnd type="none" w="med" len="med"/>
                    </a:lnR>
                    <a:lnT w="6350" cap="flat" cmpd="sng" algn="ctr">
                      <a:solidFill>
                        <a:srgbClr val="DCD3E8"/>
                      </a:solidFill>
                      <a:prstDash val="solid"/>
                      <a:round/>
                      <a:headEnd type="none" w="med" len="med"/>
                      <a:tailEnd type="none" w="med" len="med"/>
                    </a:lnT>
                    <a:lnB w="6350" cap="flat" cmpd="sng" algn="ctr">
                      <a:solidFill>
                        <a:srgbClr val="DCD3E8"/>
                      </a:solidFill>
                      <a:prstDash val="solid"/>
                      <a:round/>
                      <a:headEnd type="none" w="med" len="med"/>
                      <a:tailEnd type="none" w="med" len="med"/>
                    </a:lnB>
                    <a:solidFill>
                      <a:srgbClr val="EEF6DC"/>
                    </a:solidFill>
                  </a:tcPr>
                </a:tc>
                <a:tc>
                  <a:txBody>
                    <a:bodyPr/>
                    <a:lstStyle/>
                    <a:p>
                      <a:pPr indent="0" marL="0">
                        <a:buNone/>
                      </a:pPr>
                      <a:r>
                        <a:rPr lang="en-US" sz="950" dirty="0">
                          <a:solidFill>
                            <a:srgbClr val="2B2B3A"/>
                          </a:solidFill>
                          <a:latin typeface="Arial" pitchFamily="34" charset="0"/>
                          <a:ea typeface="Arial" pitchFamily="34" charset="-122"/>
                          <a:cs typeface="Arial" pitchFamily="34" charset="-120"/>
                        </a:rPr>
                        <a:t>PKR 1.05M (PKR 900K media + PKR 150K fee)</a:t>
                      </a:r>
                      <a:endParaRPr lang="en-US" sz="950" dirty="0">
                        <a:latin typeface="Arial" charset="0"/>
                        <a:ea typeface="Arial" charset="0"/>
                        <a:cs typeface="Arial" charset="0"/>
                      </a:endParaRPr>
                    </a:p>
                  </a:txBody>
                  <a:tcPr marL="76200" marR="76200" marT="38100" marB="38100" anchor="ctr">
                    <a:lnL w="6350" cap="flat" cmpd="sng" algn="ctr">
                      <a:solidFill>
                        <a:srgbClr val="DCD3E8"/>
                      </a:solidFill>
                      <a:prstDash val="solid"/>
                      <a:round/>
                      <a:headEnd type="none" w="med" len="med"/>
                      <a:tailEnd type="none" w="med" len="med"/>
                    </a:lnL>
                    <a:lnR w="6350" cap="flat" cmpd="sng" algn="ctr">
                      <a:solidFill>
                        <a:srgbClr val="DCD3E8"/>
                      </a:solidFill>
                      <a:prstDash val="solid"/>
                      <a:round/>
                      <a:headEnd type="none" w="med" len="med"/>
                      <a:tailEnd type="none" w="med" len="med"/>
                    </a:lnR>
                    <a:lnT w="6350" cap="flat" cmpd="sng" algn="ctr">
                      <a:solidFill>
                        <a:srgbClr val="DCD3E8"/>
                      </a:solidFill>
                      <a:prstDash val="solid"/>
                      <a:round/>
                      <a:headEnd type="none" w="med" len="med"/>
                      <a:tailEnd type="none" w="med" len="med"/>
                    </a:lnT>
                    <a:lnB w="6350" cap="flat" cmpd="sng" algn="ctr">
                      <a:solidFill>
                        <a:srgbClr val="DCD3E8"/>
                      </a:solidFill>
                      <a:prstDash val="solid"/>
                      <a:round/>
                      <a:headEnd type="none" w="med" len="med"/>
                      <a:tailEnd type="none" w="med" len="med"/>
                    </a:lnB>
                    <a:solidFill>
                      <a:srgbClr val="EEF6DC"/>
                    </a:solidFill>
                  </a:tcPr>
                </a:tc>
                <a:tc>
                  <a:txBody>
                    <a:bodyPr/>
                    <a:lstStyle/>
                    <a:p>
                      <a:pPr indent="0" marL="0">
                        <a:buNone/>
                      </a:pPr>
                      <a:r>
                        <a:rPr lang="en-US" sz="950" dirty="0">
                          <a:solidFill>
                            <a:srgbClr val="2B2B3A"/>
                          </a:solidFill>
                          <a:latin typeface="Arial" pitchFamily="34" charset="0"/>
                          <a:ea typeface="Arial" pitchFamily="34" charset="-122"/>
                          <a:cs typeface="Arial" pitchFamily="34" charset="-120"/>
                        </a:rPr>
                        <a:t>Measurable funded accounts; real baseline after 6 weeks</a:t>
                      </a:r>
                      <a:endParaRPr lang="en-US" sz="950" dirty="0">
                        <a:latin typeface="Arial" charset="0"/>
                        <a:ea typeface="Arial" charset="0"/>
                        <a:cs typeface="Arial" charset="0"/>
                      </a:endParaRPr>
                    </a:p>
                  </a:txBody>
                  <a:tcPr marL="76200" marR="76200" marT="38100" marB="38100" anchor="ctr">
                    <a:lnL w="6350" cap="flat" cmpd="sng" algn="ctr">
                      <a:solidFill>
                        <a:srgbClr val="DCD3E8"/>
                      </a:solidFill>
                      <a:prstDash val="solid"/>
                      <a:round/>
                      <a:headEnd type="none" w="med" len="med"/>
                      <a:tailEnd type="none" w="med" len="med"/>
                    </a:lnL>
                    <a:lnR w="6350" cap="flat" cmpd="sng" algn="ctr">
                      <a:solidFill>
                        <a:srgbClr val="DCD3E8"/>
                      </a:solidFill>
                      <a:prstDash val="solid"/>
                      <a:round/>
                      <a:headEnd type="none" w="med" len="med"/>
                      <a:tailEnd type="none" w="med" len="med"/>
                    </a:lnR>
                    <a:lnT w="6350" cap="flat" cmpd="sng" algn="ctr">
                      <a:solidFill>
                        <a:srgbClr val="DCD3E8"/>
                      </a:solidFill>
                      <a:prstDash val="solid"/>
                      <a:round/>
                      <a:headEnd type="none" w="med" len="med"/>
                      <a:tailEnd type="none" w="med" len="med"/>
                    </a:lnT>
                    <a:lnB w="6350" cap="flat" cmpd="sng" algn="ctr">
                      <a:solidFill>
                        <a:srgbClr val="DCD3E8"/>
                      </a:solidFill>
                      <a:prstDash val="solid"/>
                      <a:round/>
                      <a:headEnd type="none" w="med" len="med"/>
                      <a:tailEnd type="none" w="med" len="med"/>
                    </a:lnB>
                    <a:solidFill>
                      <a:srgbClr val="EEF6DC"/>
                    </a:solidFill>
                  </a:tcPr>
                </a:tc>
              </a:tr>
              <a:tr h="822960">
                <a:tc>
                  <a:txBody>
                    <a:bodyPr/>
                    <a:lstStyle/>
                    <a:p>
                      <a:pPr indent="0" marL="0">
                        <a:buNone/>
                      </a:pPr>
                      <a:r>
                        <a:rPr lang="en-US" sz="950" b="1" dirty="0">
                          <a:solidFill>
                            <a:srgbClr val="440973"/>
                          </a:solidFill>
                          <a:latin typeface="Arial" pitchFamily="34" charset="0"/>
                          <a:ea typeface="Arial" pitchFamily="34" charset="-122"/>
                          <a:cs typeface="Arial" pitchFamily="34" charset="-120"/>
                        </a:rPr>
                        <a:t>2. Content + influencers</a:t>
                      </a:r>
                      <a:endParaRPr lang="en-US" sz="950" dirty="0">
                        <a:latin typeface="Arial" charset="0"/>
                        <a:ea typeface="Arial" charset="0"/>
                        <a:cs typeface="Arial" charset="0"/>
                      </a:endParaRPr>
                    </a:p>
                  </a:txBody>
                  <a:tcPr marL="76200" marR="76200" marT="38100" marB="38100" anchor="ctr">
                    <a:lnL w="6350" cap="flat" cmpd="sng" algn="ctr">
                      <a:solidFill>
                        <a:srgbClr val="DCD3E8"/>
                      </a:solidFill>
                      <a:prstDash val="solid"/>
                      <a:round/>
                      <a:headEnd type="none" w="med" len="med"/>
                      <a:tailEnd type="none" w="med" len="med"/>
                    </a:lnL>
                    <a:lnR w="6350" cap="flat" cmpd="sng" algn="ctr">
                      <a:solidFill>
                        <a:srgbClr val="DCD3E8"/>
                      </a:solidFill>
                      <a:prstDash val="solid"/>
                      <a:round/>
                      <a:headEnd type="none" w="med" len="med"/>
                      <a:tailEnd type="none" w="med" len="med"/>
                    </a:lnR>
                    <a:lnT w="6350" cap="flat" cmpd="sng" algn="ctr">
                      <a:solidFill>
                        <a:srgbClr val="DCD3E8"/>
                      </a:solidFill>
                      <a:prstDash val="solid"/>
                      <a:round/>
                      <a:headEnd type="none" w="med" len="med"/>
                      <a:tailEnd type="none" w="med" len="med"/>
                    </a:lnT>
                    <a:lnB w="6350" cap="flat" cmpd="sng" algn="ctr">
                      <a:solidFill>
                        <a:srgbClr val="DCD3E8"/>
                      </a:solidFill>
                      <a:prstDash val="solid"/>
                      <a:round/>
                      <a:headEnd type="none" w="med" len="med"/>
                      <a:tailEnd type="none" w="med" len="med"/>
                    </a:lnB>
                    <a:solidFill>
                      <a:srgbClr val="F3EEF8"/>
                    </a:solidFill>
                  </a:tcPr>
                </a:tc>
                <a:tc>
                  <a:txBody>
                    <a:bodyPr/>
                    <a:lstStyle/>
                    <a:p>
                      <a:pPr indent="0" marL="0">
                        <a:buNone/>
                      </a:pPr>
                      <a:r>
                        <a:rPr lang="en-US" sz="950" dirty="0">
                          <a:solidFill>
                            <a:srgbClr val="2B2B3A"/>
                          </a:solidFill>
                          <a:latin typeface="Arial" pitchFamily="34" charset="0"/>
                          <a:ea typeface="Arial" pitchFamily="34" charset="-122"/>
                          <a:cs typeface="Arial" pitchFamily="34" charset="-120"/>
                        </a:rPr>
                        <a:t>All organic work, plus 1 or 2 paid creators</a:t>
                      </a:r>
                      <a:endParaRPr lang="en-US" sz="950" dirty="0">
                        <a:latin typeface="Arial" charset="0"/>
                        <a:ea typeface="Arial" charset="0"/>
                        <a:cs typeface="Arial" charset="0"/>
                      </a:endParaRPr>
                    </a:p>
                  </a:txBody>
                  <a:tcPr marL="76200" marR="76200" marT="38100" marB="38100" anchor="ctr">
                    <a:lnL w="6350" cap="flat" cmpd="sng" algn="ctr">
                      <a:solidFill>
                        <a:srgbClr val="DCD3E8"/>
                      </a:solidFill>
                      <a:prstDash val="solid"/>
                      <a:round/>
                      <a:headEnd type="none" w="med" len="med"/>
                      <a:tailEnd type="none" w="med" len="med"/>
                    </a:lnL>
                    <a:lnR w="6350" cap="flat" cmpd="sng" algn="ctr">
                      <a:solidFill>
                        <a:srgbClr val="DCD3E8"/>
                      </a:solidFill>
                      <a:prstDash val="solid"/>
                      <a:round/>
                      <a:headEnd type="none" w="med" len="med"/>
                      <a:tailEnd type="none" w="med" len="med"/>
                    </a:lnR>
                    <a:lnT w="6350" cap="flat" cmpd="sng" algn="ctr">
                      <a:solidFill>
                        <a:srgbClr val="DCD3E8"/>
                      </a:solidFill>
                      <a:prstDash val="solid"/>
                      <a:round/>
                      <a:headEnd type="none" w="med" len="med"/>
                      <a:tailEnd type="none" w="med" len="med"/>
                    </a:lnT>
                    <a:lnB w="6350" cap="flat" cmpd="sng" algn="ctr">
                      <a:solidFill>
                        <a:srgbClr val="DCD3E8"/>
                      </a:solidFill>
                      <a:prstDash val="solid"/>
                      <a:round/>
                      <a:headEnd type="none" w="med" len="med"/>
                      <a:tailEnd type="none" w="med" len="med"/>
                    </a:lnB>
                    <a:solidFill>
                      <a:srgbClr val="FFFFFF"/>
                    </a:solidFill>
                  </a:tcPr>
                </a:tc>
                <a:tc>
                  <a:txBody>
                    <a:bodyPr/>
                    <a:lstStyle/>
                    <a:p>
                      <a:pPr indent="0" marL="0">
                        <a:buNone/>
                      </a:pPr>
                      <a:r>
                        <a:rPr lang="en-US" sz="950" dirty="0">
                          <a:solidFill>
                            <a:srgbClr val="2B2B3A"/>
                          </a:solidFill>
                          <a:latin typeface="Arial" pitchFamily="34" charset="0"/>
                          <a:ea typeface="Arial" pitchFamily="34" charset="-122"/>
                          <a:cs typeface="Arial" pitchFamily="34" charset="-120"/>
                        </a:rPr>
                        <a:t>PKR 50,000 + influencer fees</a:t>
                      </a:r>
                      <a:endParaRPr lang="en-US" sz="950" dirty="0">
                        <a:latin typeface="Arial" charset="0"/>
                        <a:ea typeface="Arial" charset="0"/>
                        <a:cs typeface="Arial" charset="0"/>
                      </a:endParaRPr>
                    </a:p>
                  </a:txBody>
                  <a:tcPr marL="76200" marR="76200" marT="38100" marB="38100" anchor="ctr">
                    <a:lnL w="6350" cap="flat" cmpd="sng" algn="ctr">
                      <a:solidFill>
                        <a:srgbClr val="DCD3E8"/>
                      </a:solidFill>
                      <a:prstDash val="solid"/>
                      <a:round/>
                      <a:headEnd type="none" w="med" len="med"/>
                      <a:tailEnd type="none" w="med" len="med"/>
                    </a:lnL>
                    <a:lnR w="6350" cap="flat" cmpd="sng" algn="ctr">
                      <a:solidFill>
                        <a:srgbClr val="DCD3E8"/>
                      </a:solidFill>
                      <a:prstDash val="solid"/>
                      <a:round/>
                      <a:headEnd type="none" w="med" len="med"/>
                      <a:tailEnd type="none" w="med" len="med"/>
                    </a:lnR>
                    <a:lnT w="6350" cap="flat" cmpd="sng" algn="ctr">
                      <a:solidFill>
                        <a:srgbClr val="DCD3E8"/>
                      </a:solidFill>
                      <a:prstDash val="solid"/>
                      <a:round/>
                      <a:headEnd type="none" w="med" len="med"/>
                      <a:tailEnd type="none" w="med" len="med"/>
                    </a:lnT>
                    <a:lnB w="6350" cap="flat" cmpd="sng" algn="ctr">
                      <a:solidFill>
                        <a:srgbClr val="DCD3E8"/>
                      </a:solidFill>
                      <a:prstDash val="solid"/>
                      <a:round/>
                      <a:headEnd type="none" w="med" len="med"/>
                      <a:tailEnd type="none" w="med" len="med"/>
                    </a:lnB>
                    <a:solidFill>
                      <a:srgbClr val="FFFFFF"/>
                    </a:solidFill>
                  </a:tcPr>
                </a:tc>
                <a:tc>
                  <a:txBody>
                    <a:bodyPr/>
                    <a:lstStyle/>
                    <a:p>
                      <a:pPr indent="0" marL="0">
                        <a:buNone/>
                      </a:pPr>
                      <a:r>
                        <a:rPr lang="en-US" sz="950" dirty="0">
                          <a:solidFill>
                            <a:srgbClr val="2B2B3A"/>
                          </a:solidFill>
                          <a:latin typeface="Arial" pitchFamily="34" charset="0"/>
                          <a:ea typeface="Arial" pitchFamily="34" charset="-122"/>
                          <a:cs typeface="Arial" pitchFamily="34" charset="-120"/>
                        </a:rPr>
                        <a:t>PKR 150K + influencer fees (to be agreed)</a:t>
                      </a:r>
                      <a:endParaRPr lang="en-US" sz="950" dirty="0">
                        <a:latin typeface="Arial" charset="0"/>
                        <a:ea typeface="Arial" charset="0"/>
                        <a:cs typeface="Arial" charset="0"/>
                      </a:endParaRPr>
                    </a:p>
                  </a:txBody>
                  <a:tcPr marL="76200" marR="76200" marT="38100" marB="38100" anchor="ctr">
                    <a:lnL w="6350" cap="flat" cmpd="sng" algn="ctr">
                      <a:solidFill>
                        <a:srgbClr val="DCD3E8"/>
                      </a:solidFill>
                      <a:prstDash val="solid"/>
                      <a:round/>
                      <a:headEnd type="none" w="med" len="med"/>
                      <a:tailEnd type="none" w="med" len="med"/>
                    </a:lnL>
                    <a:lnR w="6350" cap="flat" cmpd="sng" algn="ctr">
                      <a:solidFill>
                        <a:srgbClr val="DCD3E8"/>
                      </a:solidFill>
                      <a:prstDash val="solid"/>
                      <a:round/>
                      <a:headEnd type="none" w="med" len="med"/>
                      <a:tailEnd type="none" w="med" len="med"/>
                    </a:lnR>
                    <a:lnT w="6350" cap="flat" cmpd="sng" algn="ctr">
                      <a:solidFill>
                        <a:srgbClr val="DCD3E8"/>
                      </a:solidFill>
                      <a:prstDash val="solid"/>
                      <a:round/>
                      <a:headEnd type="none" w="med" len="med"/>
                      <a:tailEnd type="none" w="med" len="med"/>
                    </a:lnT>
                    <a:lnB w="6350" cap="flat" cmpd="sng" algn="ctr">
                      <a:solidFill>
                        <a:srgbClr val="DCD3E8"/>
                      </a:solidFill>
                      <a:prstDash val="solid"/>
                      <a:round/>
                      <a:headEnd type="none" w="med" len="med"/>
                      <a:tailEnd type="none" w="med" len="med"/>
                    </a:lnB>
                    <a:solidFill>
                      <a:srgbClr val="FFFFFF"/>
                    </a:solidFill>
                  </a:tcPr>
                </a:tc>
                <a:tc>
                  <a:txBody>
                    <a:bodyPr/>
                    <a:lstStyle/>
                    <a:p>
                      <a:pPr indent="0" marL="0">
                        <a:buNone/>
                      </a:pPr>
                      <a:r>
                        <a:rPr lang="en-US" sz="950" dirty="0">
                          <a:solidFill>
                            <a:srgbClr val="2B2B3A"/>
                          </a:solidFill>
                          <a:latin typeface="Arial" pitchFamily="34" charset="0"/>
                          <a:ea typeface="Arial" pitchFamily="34" charset="-122"/>
                          <a:cs typeface="Arial" pitchFamily="34" charset="-120"/>
                        </a:rPr>
                        <a:t>Tests if trusted voices drive sign-ups</a:t>
                      </a:r>
                      <a:endParaRPr lang="en-US" sz="950" dirty="0">
                        <a:latin typeface="Arial" charset="0"/>
                        <a:ea typeface="Arial" charset="0"/>
                        <a:cs typeface="Arial" charset="0"/>
                      </a:endParaRPr>
                    </a:p>
                  </a:txBody>
                  <a:tcPr marL="76200" marR="76200" marT="38100" marB="38100" anchor="ctr">
                    <a:lnL w="6350" cap="flat" cmpd="sng" algn="ctr">
                      <a:solidFill>
                        <a:srgbClr val="DCD3E8"/>
                      </a:solidFill>
                      <a:prstDash val="solid"/>
                      <a:round/>
                      <a:headEnd type="none" w="med" len="med"/>
                      <a:tailEnd type="none" w="med" len="med"/>
                    </a:lnL>
                    <a:lnR w="6350" cap="flat" cmpd="sng" algn="ctr">
                      <a:solidFill>
                        <a:srgbClr val="DCD3E8"/>
                      </a:solidFill>
                      <a:prstDash val="solid"/>
                      <a:round/>
                      <a:headEnd type="none" w="med" len="med"/>
                      <a:tailEnd type="none" w="med" len="med"/>
                    </a:lnR>
                    <a:lnT w="6350" cap="flat" cmpd="sng" algn="ctr">
                      <a:solidFill>
                        <a:srgbClr val="DCD3E8"/>
                      </a:solidFill>
                      <a:prstDash val="solid"/>
                      <a:round/>
                      <a:headEnd type="none" w="med" len="med"/>
                      <a:tailEnd type="none" w="med" len="med"/>
                    </a:lnT>
                    <a:lnB w="6350" cap="flat" cmpd="sng" algn="ctr">
                      <a:solidFill>
                        <a:srgbClr val="DCD3E8"/>
                      </a:solidFill>
                      <a:prstDash val="solid"/>
                      <a:round/>
                      <a:headEnd type="none" w="med" len="med"/>
                      <a:tailEnd type="none" w="med" len="med"/>
                    </a:lnB>
                    <a:solidFill>
                      <a:srgbClr val="FFFFFF"/>
                    </a:solidFill>
                  </a:tcPr>
                </a:tc>
              </a:tr>
              <a:tr h="822960">
                <a:tc>
                  <a:txBody>
                    <a:bodyPr/>
                    <a:lstStyle/>
                    <a:p>
                      <a:pPr indent="0" marL="0">
                        <a:buNone/>
                      </a:pPr>
                      <a:r>
                        <a:rPr lang="en-US" sz="950" b="1" dirty="0">
                          <a:solidFill>
                            <a:srgbClr val="440973"/>
                          </a:solidFill>
                          <a:latin typeface="Arial" pitchFamily="34" charset="0"/>
                          <a:ea typeface="Arial" pitchFamily="34" charset="-122"/>
                          <a:cs typeface="Arial" pitchFamily="34" charset="-120"/>
                        </a:rPr>
                        <a:t>3. Content only</a:t>
                      </a:r>
                      <a:endParaRPr lang="en-US" sz="950" dirty="0">
                        <a:latin typeface="Arial" charset="0"/>
                        <a:ea typeface="Arial" charset="0"/>
                        <a:cs typeface="Arial" charset="0"/>
                      </a:endParaRPr>
                    </a:p>
                  </a:txBody>
                  <a:tcPr marL="76200" marR="76200" marT="38100" marB="38100" anchor="ctr">
                    <a:lnL w="6350" cap="flat" cmpd="sng" algn="ctr">
                      <a:solidFill>
                        <a:srgbClr val="DCD3E8"/>
                      </a:solidFill>
                      <a:prstDash val="solid"/>
                      <a:round/>
                      <a:headEnd type="none" w="med" len="med"/>
                      <a:tailEnd type="none" w="med" len="med"/>
                    </a:lnL>
                    <a:lnR w="6350" cap="flat" cmpd="sng" algn="ctr">
                      <a:solidFill>
                        <a:srgbClr val="DCD3E8"/>
                      </a:solidFill>
                      <a:prstDash val="solid"/>
                      <a:round/>
                      <a:headEnd type="none" w="med" len="med"/>
                      <a:tailEnd type="none" w="med" len="med"/>
                    </a:lnR>
                    <a:lnT w="6350" cap="flat" cmpd="sng" algn="ctr">
                      <a:solidFill>
                        <a:srgbClr val="DCD3E8"/>
                      </a:solidFill>
                      <a:prstDash val="solid"/>
                      <a:round/>
                      <a:headEnd type="none" w="med" len="med"/>
                      <a:tailEnd type="none" w="med" len="med"/>
                    </a:lnT>
                    <a:lnB w="6350" cap="flat" cmpd="sng" algn="ctr">
                      <a:solidFill>
                        <a:srgbClr val="DCD3E8"/>
                      </a:solidFill>
                      <a:prstDash val="solid"/>
                      <a:round/>
                      <a:headEnd type="none" w="med" len="med"/>
                      <a:tailEnd type="none" w="med" len="med"/>
                    </a:lnB>
                    <a:solidFill>
                      <a:srgbClr val="F3EEF8"/>
                    </a:solidFill>
                  </a:tcPr>
                </a:tc>
                <a:tc>
                  <a:txBody>
                    <a:bodyPr/>
                    <a:lstStyle/>
                    <a:p>
                      <a:pPr indent="0" marL="0">
                        <a:buNone/>
                      </a:pPr>
                      <a:r>
                        <a:rPr lang="en-US" sz="950" dirty="0">
                          <a:solidFill>
                            <a:srgbClr val="2B2B3A"/>
                          </a:solidFill>
                          <a:latin typeface="Arial" pitchFamily="34" charset="0"/>
                          <a:ea typeface="Arial" pitchFamily="34" charset="-122"/>
                          <a:cs typeface="Arial" pitchFamily="34" charset="-120"/>
                        </a:rPr>
                        <a:t>Social content and posting, AI search, website, email</a:t>
                      </a:r>
                      <a:endParaRPr lang="en-US" sz="950" dirty="0">
                        <a:latin typeface="Arial" charset="0"/>
                        <a:ea typeface="Arial" charset="0"/>
                        <a:cs typeface="Arial" charset="0"/>
                      </a:endParaRPr>
                    </a:p>
                  </a:txBody>
                  <a:tcPr marL="76200" marR="76200" marT="38100" marB="38100" anchor="ctr">
                    <a:lnL w="6350" cap="flat" cmpd="sng" algn="ctr">
                      <a:solidFill>
                        <a:srgbClr val="DCD3E8"/>
                      </a:solidFill>
                      <a:prstDash val="solid"/>
                      <a:round/>
                      <a:headEnd type="none" w="med" len="med"/>
                      <a:tailEnd type="none" w="med" len="med"/>
                    </a:lnL>
                    <a:lnR w="6350" cap="flat" cmpd="sng" algn="ctr">
                      <a:solidFill>
                        <a:srgbClr val="DCD3E8"/>
                      </a:solidFill>
                      <a:prstDash val="solid"/>
                      <a:round/>
                      <a:headEnd type="none" w="med" len="med"/>
                      <a:tailEnd type="none" w="med" len="med"/>
                    </a:lnR>
                    <a:lnT w="6350" cap="flat" cmpd="sng" algn="ctr">
                      <a:solidFill>
                        <a:srgbClr val="DCD3E8"/>
                      </a:solidFill>
                      <a:prstDash val="solid"/>
                      <a:round/>
                      <a:headEnd type="none" w="med" len="med"/>
                      <a:tailEnd type="none" w="med" len="med"/>
                    </a:lnT>
                    <a:lnB w="6350" cap="flat" cmpd="sng" algn="ctr">
                      <a:solidFill>
                        <a:srgbClr val="DCD3E8"/>
                      </a:solidFill>
                      <a:prstDash val="solid"/>
                      <a:round/>
                      <a:headEnd type="none" w="med" len="med"/>
                      <a:tailEnd type="none" w="med" len="med"/>
                    </a:lnB>
                    <a:solidFill>
                      <a:srgbClr val="FFFFFF"/>
                    </a:solidFill>
                  </a:tcPr>
                </a:tc>
                <a:tc>
                  <a:txBody>
                    <a:bodyPr/>
                    <a:lstStyle/>
                    <a:p>
                      <a:pPr indent="0" marL="0">
                        <a:buNone/>
                      </a:pPr>
                      <a:r>
                        <a:rPr lang="en-US" sz="950" dirty="0">
                          <a:solidFill>
                            <a:srgbClr val="2B2B3A"/>
                          </a:solidFill>
                          <a:latin typeface="Arial" pitchFamily="34" charset="0"/>
                          <a:ea typeface="Arial" pitchFamily="34" charset="-122"/>
                          <a:cs typeface="Arial" pitchFamily="34" charset="-120"/>
                        </a:rPr>
                        <a:t>PKR 50,000</a:t>
                      </a:r>
                      <a:endParaRPr lang="en-US" sz="950" dirty="0">
                        <a:latin typeface="Arial" charset="0"/>
                        <a:ea typeface="Arial" charset="0"/>
                        <a:cs typeface="Arial" charset="0"/>
                      </a:endParaRPr>
                    </a:p>
                  </a:txBody>
                  <a:tcPr marL="76200" marR="76200" marT="38100" marB="38100" anchor="ctr">
                    <a:lnL w="6350" cap="flat" cmpd="sng" algn="ctr">
                      <a:solidFill>
                        <a:srgbClr val="DCD3E8"/>
                      </a:solidFill>
                      <a:prstDash val="solid"/>
                      <a:round/>
                      <a:headEnd type="none" w="med" len="med"/>
                      <a:tailEnd type="none" w="med" len="med"/>
                    </a:lnL>
                    <a:lnR w="6350" cap="flat" cmpd="sng" algn="ctr">
                      <a:solidFill>
                        <a:srgbClr val="DCD3E8"/>
                      </a:solidFill>
                      <a:prstDash val="solid"/>
                      <a:round/>
                      <a:headEnd type="none" w="med" len="med"/>
                      <a:tailEnd type="none" w="med" len="med"/>
                    </a:lnR>
                    <a:lnT w="6350" cap="flat" cmpd="sng" algn="ctr">
                      <a:solidFill>
                        <a:srgbClr val="DCD3E8"/>
                      </a:solidFill>
                      <a:prstDash val="solid"/>
                      <a:round/>
                      <a:headEnd type="none" w="med" len="med"/>
                      <a:tailEnd type="none" w="med" len="med"/>
                    </a:lnT>
                    <a:lnB w="6350" cap="flat" cmpd="sng" algn="ctr">
                      <a:solidFill>
                        <a:srgbClr val="DCD3E8"/>
                      </a:solidFill>
                      <a:prstDash val="solid"/>
                      <a:round/>
                      <a:headEnd type="none" w="med" len="med"/>
                      <a:tailEnd type="none" w="med" len="med"/>
                    </a:lnB>
                    <a:solidFill>
                      <a:srgbClr val="FFFFFF"/>
                    </a:solidFill>
                  </a:tcPr>
                </a:tc>
                <a:tc>
                  <a:txBody>
                    <a:bodyPr/>
                    <a:lstStyle/>
                    <a:p>
                      <a:pPr indent="0" marL="0">
                        <a:buNone/>
                      </a:pPr>
                      <a:r>
                        <a:rPr lang="en-US" sz="950" dirty="0">
                          <a:solidFill>
                            <a:srgbClr val="2B2B3A"/>
                          </a:solidFill>
                          <a:latin typeface="Arial" pitchFamily="34" charset="0"/>
                          <a:ea typeface="Arial" pitchFamily="34" charset="-122"/>
                          <a:cs typeface="Arial" pitchFamily="34" charset="-120"/>
                        </a:rPr>
                        <a:t>PKR 150K (first 3 months free)</a:t>
                      </a:r>
                      <a:endParaRPr lang="en-US" sz="950" dirty="0">
                        <a:latin typeface="Arial" charset="0"/>
                        <a:ea typeface="Arial" charset="0"/>
                        <a:cs typeface="Arial" charset="0"/>
                      </a:endParaRPr>
                    </a:p>
                  </a:txBody>
                  <a:tcPr marL="76200" marR="76200" marT="38100" marB="38100" anchor="ctr">
                    <a:lnL w="6350" cap="flat" cmpd="sng" algn="ctr">
                      <a:solidFill>
                        <a:srgbClr val="DCD3E8"/>
                      </a:solidFill>
                      <a:prstDash val="solid"/>
                      <a:round/>
                      <a:headEnd type="none" w="med" len="med"/>
                      <a:tailEnd type="none" w="med" len="med"/>
                    </a:lnL>
                    <a:lnR w="6350" cap="flat" cmpd="sng" algn="ctr">
                      <a:solidFill>
                        <a:srgbClr val="DCD3E8"/>
                      </a:solidFill>
                      <a:prstDash val="solid"/>
                      <a:round/>
                      <a:headEnd type="none" w="med" len="med"/>
                      <a:tailEnd type="none" w="med" len="med"/>
                    </a:lnR>
                    <a:lnT w="6350" cap="flat" cmpd="sng" algn="ctr">
                      <a:solidFill>
                        <a:srgbClr val="DCD3E8"/>
                      </a:solidFill>
                      <a:prstDash val="solid"/>
                      <a:round/>
                      <a:headEnd type="none" w="med" len="med"/>
                      <a:tailEnd type="none" w="med" len="med"/>
                    </a:lnT>
                    <a:lnB w="6350" cap="flat" cmpd="sng" algn="ctr">
                      <a:solidFill>
                        <a:srgbClr val="DCD3E8"/>
                      </a:solidFill>
                      <a:prstDash val="solid"/>
                      <a:round/>
                      <a:headEnd type="none" w="med" len="med"/>
                      <a:tailEnd type="none" w="med" len="med"/>
                    </a:lnB>
                    <a:solidFill>
                      <a:srgbClr val="FFFFFF"/>
                    </a:solidFill>
                  </a:tcPr>
                </a:tc>
                <a:tc>
                  <a:txBody>
                    <a:bodyPr/>
                    <a:lstStyle/>
                    <a:p>
                      <a:pPr indent="0" marL="0">
                        <a:buNone/>
                      </a:pPr>
                      <a:r>
                        <a:rPr lang="en-US" sz="950" dirty="0">
                          <a:solidFill>
                            <a:srgbClr val="2B2B3A"/>
                          </a:solidFill>
                          <a:latin typeface="Arial" pitchFamily="34" charset="0"/>
                          <a:ea typeface="Arial" pitchFamily="34" charset="-122"/>
                          <a:cs typeface="Arial" pitchFamily="34" charset="-120"/>
                        </a:rPr>
                        <a:t>Stronger brand, but very few new customers</a:t>
                      </a:r>
                      <a:endParaRPr lang="en-US" sz="950" dirty="0">
                        <a:latin typeface="Arial" charset="0"/>
                        <a:ea typeface="Arial" charset="0"/>
                        <a:cs typeface="Arial" charset="0"/>
                      </a:endParaRPr>
                    </a:p>
                  </a:txBody>
                  <a:tcPr marL="76200" marR="76200" marT="38100" marB="38100" anchor="ctr">
                    <a:lnL w="6350" cap="flat" cmpd="sng" algn="ctr">
                      <a:solidFill>
                        <a:srgbClr val="DCD3E8"/>
                      </a:solidFill>
                      <a:prstDash val="solid"/>
                      <a:round/>
                      <a:headEnd type="none" w="med" len="med"/>
                      <a:tailEnd type="none" w="med" len="med"/>
                    </a:lnL>
                    <a:lnR w="6350" cap="flat" cmpd="sng" algn="ctr">
                      <a:solidFill>
                        <a:srgbClr val="DCD3E8"/>
                      </a:solidFill>
                      <a:prstDash val="solid"/>
                      <a:round/>
                      <a:headEnd type="none" w="med" len="med"/>
                      <a:tailEnd type="none" w="med" len="med"/>
                    </a:lnR>
                    <a:lnT w="6350" cap="flat" cmpd="sng" algn="ctr">
                      <a:solidFill>
                        <a:srgbClr val="DCD3E8"/>
                      </a:solidFill>
                      <a:prstDash val="solid"/>
                      <a:round/>
                      <a:headEnd type="none" w="med" len="med"/>
                      <a:tailEnd type="none" w="med" len="med"/>
                    </a:lnT>
                    <a:lnB w="6350" cap="flat" cmpd="sng" algn="ctr">
                      <a:solidFill>
                        <a:srgbClr val="DCD3E8"/>
                      </a:solidFill>
                      <a:prstDash val="solid"/>
                      <a:round/>
                      <a:headEnd type="none" w="med" len="med"/>
                      <a:tailEnd type="none" w="med" len="med"/>
                    </a:lnB>
                    <a:solidFill>
                      <a:srgbClr val="FFFFFF"/>
                    </a:solidFill>
                  </a:tcPr>
                </a:tc>
              </a:tr>
            </a:tbl>
          </a:graphicData>
        </a:graphic>
      </p:graphicFrame>
      <p:sp>
        <p:nvSpPr>
          <p:cNvPr id="7" name="Shape 2"/>
          <p:cNvSpPr/>
          <p:nvPr/>
        </p:nvSpPr>
        <p:spPr>
          <a:xfrm>
            <a:off x="457200" y="3840480"/>
            <a:ext cx="7498080" cy="822960"/>
          </a:xfrm>
          <a:prstGeom prst="roundRect">
            <a:avLst>
              <a:gd name="adj" fmla="val 8889"/>
            </a:avLst>
          </a:prstGeom>
          <a:solidFill>
            <a:srgbClr val="F3EEF8"/>
          </a:solidFill>
          <a:ln w="12700">
            <a:solidFill>
              <a:srgbClr val="F3EEF8"/>
            </a:solidFill>
            <a:prstDash val="solid"/>
          </a:ln>
        </p:spPr>
      </p:sp>
      <p:sp>
        <p:nvSpPr>
          <p:cNvPr id="8" name="Text 3"/>
          <p:cNvSpPr txBox="1"/>
          <p:nvPr/>
        </p:nvSpPr>
        <p:spPr>
          <a:xfrm>
            <a:off x="640080" y="3886200"/>
            <a:ext cx="7132320" cy="731520"/>
          </a:xfrm>
          <a:prstGeom prst="rect">
            <a:avLst/>
          </a:prstGeom>
          <a:noFill/>
          <a:ln/>
        </p:spPr>
        <p:txBody>
          <a:bodyPr wrap="square" lIns="0" tIns="0" rIns="0" bIns="0" rtlCol="0" anchor="ctr"/>
          <a:lstStyle/>
          <a:p>
            <a:pPr indent="0" marL="0">
              <a:buNone/>
            </a:pPr>
            <a:r>
              <a:rPr lang="en-US" sz="1050" b="1" dirty="0">
                <a:solidFill>
                  <a:srgbClr val="440973"/>
                </a:solidFill>
                <a:latin typeface="Arial" pitchFamily="34" charset="0"/>
                <a:ea typeface="Arial" pitchFamily="34" charset="-122"/>
                <a:cs typeface="Arial" pitchFamily="34" charset="-120"/>
              </a:rPr>
              <a:t>Why option 1: </a:t>
            </a:r>
            <a:pPr indent="0" marL="0">
              <a:buNone/>
            </a:pPr>
            <a:r>
              <a:rPr lang="en-US" sz="1050" dirty="0">
                <a:solidFill>
                  <a:srgbClr val="2B2B3A"/>
                </a:solidFill>
                <a:latin typeface="Arial" pitchFamily="34" charset="0"/>
                <a:ea typeface="Arial" pitchFamily="34" charset="-122"/>
                <a:cs typeface="Arial" pitchFamily="34" charset="-120"/>
              </a:rPr>
              <a:t>it is the smallest spend that gives a real answer. After 6 weeks we will know what one funded customer costs, and AHCML can scale, adjust or stop with real numbers instead of estimates.</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logo_light.png">    </p:cNvPr>
          <p:cNvPicPr>
            <a:picLocks noChangeAspect="1"/>
          </p:cNvPicPr>
          <p:nvPr/>
        </p:nvPicPr>
        <p:blipFill>
          <a:blip r:embed="rId1"/>
          <a:stretch>
            <a:fillRect/>
          </a:stretch>
        </p:blipFill>
        <p:spPr>
          <a:xfrm>
            <a:off x="7882128" y="164592"/>
            <a:ext cx="896112" cy="475488"/>
          </a:xfrm>
          <a:prstGeom prst="rect">
            <a:avLst/>
          </a:prstGeom>
        </p:spPr>
      </p:pic>
      <p:pic>
        <p:nvPicPr>
          <p:cNvPr id="3" name="Image 1" descr="corner_t.png">    </p:cNvPr>
          <p:cNvPicPr>
            <a:picLocks noChangeAspect="1"/>
          </p:cNvPicPr>
          <p:nvPr/>
        </p:nvPicPr>
        <p:blipFill>
          <a:blip r:embed="rId2"/>
          <a:stretch>
            <a:fillRect/>
          </a:stretch>
        </p:blipFill>
        <p:spPr>
          <a:xfrm>
            <a:off x="8138160" y="4553712"/>
            <a:ext cx="1005840" cy="726948"/>
          </a:xfrm>
          <a:prstGeom prst="rect">
            <a:avLst/>
          </a:prstGeom>
        </p:spPr>
      </p:pic>
      <p:sp>
        <p:nvSpPr>
          <p:cNvPr id="4" name="Text 0"/>
          <p:cNvSpPr txBox="1"/>
          <p:nvPr/>
        </p:nvSpPr>
        <p:spPr>
          <a:xfrm>
            <a:off x="457200" y="228600"/>
            <a:ext cx="7223760" cy="548640"/>
          </a:xfrm>
          <a:prstGeom prst="rect">
            <a:avLst/>
          </a:prstGeom>
          <a:noFill/>
          <a:ln/>
        </p:spPr>
        <p:txBody>
          <a:bodyPr wrap="square" lIns="0" tIns="0" rIns="0" bIns="0" rtlCol="0" anchor="ctr"/>
          <a:lstStyle/>
          <a:p>
            <a:pPr indent="0" marL="0">
              <a:buNone/>
            </a:pPr>
            <a:r>
              <a:rPr lang="en-US" sz="2400" b="1" dirty="0">
                <a:solidFill>
                  <a:srgbClr val="440973"/>
                </a:solidFill>
                <a:latin typeface="Arial" pitchFamily="34" charset="0"/>
                <a:ea typeface="Arial" pitchFamily="34" charset="-122"/>
                <a:cs typeface="Arial" pitchFamily="34" charset="-120"/>
              </a:rPr>
              <a:t>The 6-month Instagram test: what it could deliver</a:t>
            </a:r>
            <a:endParaRPr lang="en-US" sz="2400" dirty="0"/>
          </a:p>
        </p:txBody>
      </p:sp>
      <p:sp>
        <p:nvSpPr>
          <p:cNvPr id="5" name="Text 1"/>
          <p:cNvSpPr txBox="1"/>
          <p:nvPr/>
        </p:nvSpPr>
        <p:spPr>
          <a:xfrm>
            <a:off x="457200" y="4828032"/>
            <a:ext cx="7498080" cy="228600"/>
          </a:xfrm>
          <a:prstGeom prst="rect">
            <a:avLst/>
          </a:prstGeom>
          <a:noFill/>
          <a:ln/>
        </p:spPr>
        <p:txBody>
          <a:bodyPr wrap="square" lIns="0" tIns="0" rIns="0" bIns="0" rtlCol="0" anchor="ctr"/>
          <a:lstStyle/>
          <a:p>
            <a:pPr indent="0" marL="0">
              <a:buNone/>
            </a:pPr>
            <a:r>
              <a:rPr lang="en-US" sz="750" dirty="0">
                <a:solidFill>
                  <a:srgbClr val="6B6B80"/>
                </a:solidFill>
                <a:latin typeface="Arial" pitchFamily="34" charset="0"/>
                <a:ea typeface="Arial" pitchFamily="34" charset="-122"/>
                <a:cs typeface="Arial" pitchFamily="34" charset="-120"/>
              </a:rPr>
              <a:t>ESTIMATES ONLY, based on typical Pakistan costs (PKR 150 to 250 per 1,000 views; PKR 300 to 500 per install). Google guidance: Google Ads Help, App campaign best practices.</a:t>
            </a:r>
            <a:endParaRPr lang="en-US" sz="750" dirty="0"/>
          </a:p>
        </p:txBody>
      </p:sp>
      <p:sp>
        <p:nvSpPr>
          <p:cNvPr id="6" name="Text 2"/>
          <p:cNvSpPr txBox="1"/>
          <p:nvPr/>
        </p:nvSpPr>
        <p:spPr>
          <a:xfrm>
            <a:off x="457200" y="868680"/>
            <a:ext cx="4754880" cy="320040"/>
          </a:xfrm>
          <a:prstGeom prst="rect">
            <a:avLst/>
          </a:prstGeom>
          <a:noFill/>
          <a:ln/>
        </p:spPr>
        <p:txBody>
          <a:bodyPr wrap="square" lIns="0" tIns="0" rIns="0" bIns="0" rtlCol="0" anchor="t"/>
          <a:lstStyle/>
          <a:p>
            <a:pPr indent="0" marL="0">
              <a:buNone/>
            </a:pPr>
            <a:r>
              <a:rPr lang="en-US" sz="1200" b="1" dirty="0">
                <a:solidFill>
                  <a:srgbClr val="0E0F3D"/>
                </a:solidFill>
                <a:latin typeface="Arial" pitchFamily="34" charset="0"/>
                <a:ea typeface="Arial" pitchFamily="34" charset="-122"/>
                <a:cs typeface="Arial" pitchFamily="34" charset="-120"/>
              </a:rPr>
              <a:t>PKR 150,000 a month x 6 months = PKR 900,000 media</a:t>
            </a:r>
            <a:endParaRPr lang="en-US" sz="1200" dirty="0"/>
          </a:p>
        </p:txBody>
      </p:sp>
      <p:sp>
        <p:nvSpPr>
          <p:cNvPr id="7" name="Shape 3"/>
          <p:cNvSpPr/>
          <p:nvPr/>
        </p:nvSpPr>
        <p:spPr>
          <a:xfrm>
            <a:off x="457200" y="1280160"/>
            <a:ext cx="1508760" cy="841248"/>
          </a:xfrm>
          <a:prstGeom prst="roundRect">
            <a:avLst>
              <a:gd name="adj" fmla="val 8696"/>
            </a:avLst>
          </a:prstGeom>
          <a:solidFill>
            <a:srgbClr val="F3EEF8"/>
          </a:solidFill>
          <a:ln w="12700">
            <a:solidFill>
              <a:srgbClr val="F3EEF8"/>
            </a:solidFill>
            <a:prstDash val="solid"/>
          </a:ln>
        </p:spPr>
      </p:sp>
      <p:sp>
        <p:nvSpPr>
          <p:cNvPr id="8" name="Text 4"/>
          <p:cNvSpPr txBox="1"/>
          <p:nvPr/>
        </p:nvSpPr>
        <p:spPr>
          <a:xfrm>
            <a:off x="548640" y="1353312"/>
            <a:ext cx="1325880" cy="411480"/>
          </a:xfrm>
          <a:prstGeom prst="rect">
            <a:avLst/>
          </a:prstGeom>
          <a:noFill/>
          <a:ln/>
        </p:spPr>
        <p:txBody>
          <a:bodyPr wrap="square" lIns="0" tIns="0" rIns="0" bIns="0" rtlCol="0" anchor="ctr"/>
          <a:lstStyle/>
          <a:p>
            <a:pPr indent="0" marL="0">
              <a:buNone/>
            </a:pPr>
            <a:r>
              <a:rPr lang="en-US" sz="1300" b="1" dirty="0">
                <a:solidFill>
                  <a:srgbClr val="440973"/>
                </a:solidFill>
                <a:latin typeface="Arial" pitchFamily="34" charset="0"/>
                <a:ea typeface="Arial" pitchFamily="34" charset="-122"/>
                <a:cs typeface="Arial" pitchFamily="34" charset="-120"/>
              </a:rPr>
              <a:t>1M to 1.5M</a:t>
            </a:r>
            <a:endParaRPr lang="en-US" sz="1300" dirty="0"/>
          </a:p>
        </p:txBody>
      </p:sp>
      <p:sp>
        <p:nvSpPr>
          <p:cNvPr id="9" name="Text 5"/>
          <p:cNvSpPr txBox="1"/>
          <p:nvPr/>
        </p:nvSpPr>
        <p:spPr>
          <a:xfrm>
            <a:off x="548640" y="1783080"/>
            <a:ext cx="1325880" cy="274320"/>
          </a:xfrm>
          <a:prstGeom prst="rect">
            <a:avLst/>
          </a:prstGeom>
          <a:noFill/>
          <a:ln/>
        </p:spPr>
        <p:txBody>
          <a:bodyPr wrap="square" lIns="0" tIns="0" rIns="0" bIns="0" rtlCol="0" anchor="t"/>
          <a:lstStyle/>
          <a:p>
            <a:pPr indent="0" marL="0">
              <a:buNone/>
            </a:pPr>
            <a:r>
              <a:rPr lang="en-US" sz="900" dirty="0">
                <a:solidFill>
                  <a:srgbClr val="2B2B3A"/>
                </a:solidFill>
                <a:latin typeface="Arial" pitchFamily="34" charset="0"/>
                <a:ea typeface="Arial" pitchFamily="34" charset="-122"/>
                <a:cs typeface="Arial" pitchFamily="34" charset="-120"/>
              </a:rPr>
              <a:t>People reached</a:t>
            </a:r>
            <a:endParaRPr lang="en-US" sz="900" dirty="0"/>
          </a:p>
        </p:txBody>
      </p:sp>
      <p:sp>
        <p:nvSpPr>
          <p:cNvPr id="10" name="Shape 6"/>
          <p:cNvSpPr/>
          <p:nvPr/>
        </p:nvSpPr>
        <p:spPr>
          <a:xfrm>
            <a:off x="2057400" y="1280160"/>
            <a:ext cx="1508760" cy="841248"/>
          </a:xfrm>
          <a:prstGeom prst="roundRect">
            <a:avLst>
              <a:gd name="adj" fmla="val 8696"/>
            </a:avLst>
          </a:prstGeom>
          <a:solidFill>
            <a:srgbClr val="F3EEF8"/>
          </a:solidFill>
          <a:ln w="12700">
            <a:solidFill>
              <a:srgbClr val="F3EEF8"/>
            </a:solidFill>
            <a:prstDash val="solid"/>
          </a:ln>
        </p:spPr>
      </p:sp>
      <p:sp>
        <p:nvSpPr>
          <p:cNvPr id="11" name="Text 7"/>
          <p:cNvSpPr txBox="1"/>
          <p:nvPr/>
        </p:nvSpPr>
        <p:spPr>
          <a:xfrm>
            <a:off x="2148840" y="1353312"/>
            <a:ext cx="1325880" cy="411480"/>
          </a:xfrm>
          <a:prstGeom prst="rect">
            <a:avLst/>
          </a:prstGeom>
          <a:noFill/>
          <a:ln/>
        </p:spPr>
        <p:txBody>
          <a:bodyPr wrap="square" lIns="0" tIns="0" rIns="0" bIns="0" rtlCol="0" anchor="ctr"/>
          <a:lstStyle/>
          <a:p>
            <a:pPr indent="0" marL="0">
              <a:buNone/>
            </a:pPr>
            <a:r>
              <a:rPr lang="en-US" sz="1300" b="1" dirty="0">
                <a:solidFill>
                  <a:srgbClr val="440973"/>
                </a:solidFill>
                <a:latin typeface="Arial" pitchFamily="34" charset="0"/>
                <a:ea typeface="Arial" pitchFamily="34" charset="-122"/>
                <a:cs typeface="Arial" pitchFamily="34" charset="-120"/>
              </a:rPr>
              <a:t>3,000 to 8,000</a:t>
            </a:r>
            <a:endParaRPr lang="en-US" sz="1300" dirty="0"/>
          </a:p>
        </p:txBody>
      </p:sp>
      <p:sp>
        <p:nvSpPr>
          <p:cNvPr id="12" name="Text 8"/>
          <p:cNvSpPr txBox="1"/>
          <p:nvPr/>
        </p:nvSpPr>
        <p:spPr>
          <a:xfrm>
            <a:off x="2148840" y="1783080"/>
            <a:ext cx="1325880" cy="274320"/>
          </a:xfrm>
          <a:prstGeom prst="rect">
            <a:avLst/>
          </a:prstGeom>
          <a:noFill/>
          <a:ln/>
        </p:spPr>
        <p:txBody>
          <a:bodyPr wrap="square" lIns="0" tIns="0" rIns="0" bIns="0" rtlCol="0" anchor="t"/>
          <a:lstStyle/>
          <a:p>
            <a:pPr indent="0" marL="0">
              <a:buNone/>
            </a:pPr>
            <a:r>
              <a:rPr lang="en-US" sz="900" dirty="0">
                <a:solidFill>
                  <a:srgbClr val="2B2B3A"/>
                </a:solidFill>
                <a:latin typeface="Arial" pitchFamily="34" charset="0"/>
                <a:ea typeface="Arial" pitchFamily="34" charset="-122"/>
                <a:cs typeface="Arial" pitchFamily="34" charset="-120"/>
              </a:rPr>
              <a:t>New followers</a:t>
            </a:r>
            <a:endParaRPr lang="en-US" sz="900" dirty="0"/>
          </a:p>
        </p:txBody>
      </p:sp>
      <p:sp>
        <p:nvSpPr>
          <p:cNvPr id="13" name="Shape 9"/>
          <p:cNvSpPr/>
          <p:nvPr/>
        </p:nvSpPr>
        <p:spPr>
          <a:xfrm>
            <a:off x="3657600" y="1280160"/>
            <a:ext cx="1508760" cy="841248"/>
          </a:xfrm>
          <a:prstGeom prst="roundRect">
            <a:avLst>
              <a:gd name="adj" fmla="val 8696"/>
            </a:avLst>
          </a:prstGeom>
          <a:solidFill>
            <a:srgbClr val="F3EEF8"/>
          </a:solidFill>
          <a:ln w="12700">
            <a:solidFill>
              <a:srgbClr val="F3EEF8"/>
            </a:solidFill>
            <a:prstDash val="solid"/>
          </a:ln>
        </p:spPr>
      </p:sp>
      <p:sp>
        <p:nvSpPr>
          <p:cNvPr id="14" name="Text 10"/>
          <p:cNvSpPr txBox="1"/>
          <p:nvPr/>
        </p:nvSpPr>
        <p:spPr>
          <a:xfrm>
            <a:off x="3749040" y="1353312"/>
            <a:ext cx="1325880" cy="411480"/>
          </a:xfrm>
          <a:prstGeom prst="rect">
            <a:avLst/>
          </a:prstGeom>
          <a:noFill/>
          <a:ln/>
        </p:spPr>
        <p:txBody>
          <a:bodyPr wrap="square" lIns="0" tIns="0" rIns="0" bIns="0" rtlCol="0" anchor="ctr"/>
          <a:lstStyle/>
          <a:p>
            <a:pPr indent="0" marL="0">
              <a:buNone/>
            </a:pPr>
            <a:r>
              <a:rPr lang="en-US" sz="1300" b="1" dirty="0">
                <a:solidFill>
                  <a:srgbClr val="440973"/>
                </a:solidFill>
                <a:latin typeface="Arial" pitchFamily="34" charset="0"/>
                <a:ea typeface="Arial" pitchFamily="34" charset="-122"/>
                <a:cs typeface="Arial" pitchFamily="34" charset="-120"/>
              </a:rPr>
              <a:t>1,800 to 3,000</a:t>
            </a:r>
            <a:endParaRPr lang="en-US" sz="1300" dirty="0"/>
          </a:p>
        </p:txBody>
      </p:sp>
      <p:sp>
        <p:nvSpPr>
          <p:cNvPr id="15" name="Text 11"/>
          <p:cNvSpPr txBox="1"/>
          <p:nvPr/>
        </p:nvSpPr>
        <p:spPr>
          <a:xfrm>
            <a:off x="3749040" y="1783080"/>
            <a:ext cx="1325880" cy="274320"/>
          </a:xfrm>
          <a:prstGeom prst="rect">
            <a:avLst/>
          </a:prstGeom>
          <a:noFill/>
          <a:ln/>
        </p:spPr>
        <p:txBody>
          <a:bodyPr wrap="square" lIns="0" tIns="0" rIns="0" bIns="0" rtlCol="0" anchor="t"/>
          <a:lstStyle/>
          <a:p>
            <a:pPr indent="0" marL="0">
              <a:buNone/>
            </a:pPr>
            <a:r>
              <a:rPr lang="en-US" sz="900" dirty="0">
                <a:solidFill>
                  <a:srgbClr val="2B2B3A"/>
                </a:solidFill>
                <a:latin typeface="Arial" pitchFamily="34" charset="0"/>
                <a:ea typeface="Arial" pitchFamily="34" charset="-122"/>
                <a:cs typeface="Arial" pitchFamily="34" charset="-120"/>
              </a:rPr>
              <a:t>App installs</a:t>
            </a:r>
            <a:endParaRPr lang="en-US" sz="900" dirty="0"/>
          </a:p>
        </p:txBody>
      </p:sp>
      <p:sp>
        <p:nvSpPr>
          <p:cNvPr id="16" name="Shape 12"/>
          <p:cNvSpPr/>
          <p:nvPr/>
        </p:nvSpPr>
        <p:spPr>
          <a:xfrm>
            <a:off x="457200" y="2240280"/>
            <a:ext cx="1508760" cy="841248"/>
          </a:xfrm>
          <a:prstGeom prst="roundRect">
            <a:avLst>
              <a:gd name="adj" fmla="val 8696"/>
            </a:avLst>
          </a:prstGeom>
          <a:solidFill>
            <a:srgbClr val="F3EEF8"/>
          </a:solidFill>
          <a:ln w="12700">
            <a:solidFill>
              <a:srgbClr val="F3EEF8"/>
            </a:solidFill>
            <a:prstDash val="solid"/>
          </a:ln>
        </p:spPr>
      </p:sp>
      <p:sp>
        <p:nvSpPr>
          <p:cNvPr id="17" name="Text 13"/>
          <p:cNvSpPr txBox="1"/>
          <p:nvPr/>
        </p:nvSpPr>
        <p:spPr>
          <a:xfrm>
            <a:off x="548640" y="2313432"/>
            <a:ext cx="1325880" cy="411480"/>
          </a:xfrm>
          <a:prstGeom prst="rect">
            <a:avLst/>
          </a:prstGeom>
          <a:noFill/>
          <a:ln/>
        </p:spPr>
        <p:txBody>
          <a:bodyPr wrap="square" lIns="0" tIns="0" rIns="0" bIns="0" rtlCol="0" anchor="ctr"/>
          <a:lstStyle/>
          <a:p>
            <a:pPr indent="0" marL="0">
              <a:buNone/>
            </a:pPr>
            <a:r>
              <a:rPr lang="en-US" sz="1300" b="1" dirty="0">
                <a:solidFill>
                  <a:srgbClr val="440973"/>
                </a:solidFill>
                <a:latin typeface="Arial" pitchFamily="34" charset="0"/>
                <a:ea typeface="Arial" pitchFamily="34" charset="-122"/>
                <a:cs typeface="Arial" pitchFamily="34" charset="-120"/>
              </a:rPr>
              <a:t>550 to 1,200</a:t>
            </a:r>
            <a:endParaRPr lang="en-US" sz="1300" dirty="0"/>
          </a:p>
        </p:txBody>
      </p:sp>
      <p:sp>
        <p:nvSpPr>
          <p:cNvPr id="18" name="Text 14"/>
          <p:cNvSpPr txBox="1"/>
          <p:nvPr/>
        </p:nvSpPr>
        <p:spPr>
          <a:xfrm>
            <a:off x="548640" y="2743200"/>
            <a:ext cx="1325880" cy="274320"/>
          </a:xfrm>
          <a:prstGeom prst="rect">
            <a:avLst/>
          </a:prstGeom>
          <a:noFill/>
          <a:ln/>
        </p:spPr>
        <p:txBody>
          <a:bodyPr wrap="square" lIns="0" tIns="0" rIns="0" bIns="0" rtlCol="0" anchor="t"/>
          <a:lstStyle/>
          <a:p>
            <a:pPr indent="0" marL="0">
              <a:buNone/>
            </a:pPr>
            <a:r>
              <a:rPr lang="en-US" sz="900" dirty="0">
                <a:solidFill>
                  <a:srgbClr val="2B2B3A"/>
                </a:solidFill>
                <a:latin typeface="Arial" pitchFamily="34" charset="0"/>
                <a:ea typeface="Arial" pitchFamily="34" charset="-122"/>
                <a:cs typeface="Arial" pitchFamily="34" charset="-120"/>
              </a:rPr>
              <a:t>Registrations</a:t>
            </a:r>
            <a:endParaRPr lang="en-US" sz="900" dirty="0"/>
          </a:p>
        </p:txBody>
      </p:sp>
      <p:sp>
        <p:nvSpPr>
          <p:cNvPr id="19" name="Shape 15"/>
          <p:cNvSpPr/>
          <p:nvPr/>
        </p:nvSpPr>
        <p:spPr>
          <a:xfrm>
            <a:off x="2057400" y="2240280"/>
            <a:ext cx="1508760" cy="841248"/>
          </a:xfrm>
          <a:prstGeom prst="roundRect">
            <a:avLst>
              <a:gd name="adj" fmla="val 8696"/>
            </a:avLst>
          </a:prstGeom>
          <a:solidFill>
            <a:srgbClr val="EEF6DC"/>
          </a:solidFill>
          <a:ln w="12700">
            <a:solidFill>
              <a:srgbClr val="EEF6DC"/>
            </a:solidFill>
            <a:prstDash val="solid"/>
          </a:ln>
        </p:spPr>
      </p:sp>
      <p:sp>
        <p:nvSpPr>
          <p:cNvPr id="20" name="Text 16"/>
          <p:cNvSpPr txBox="1"/>
          <p:nvPr/>
        </p:nvSpPr>
        <p:spPr>
          <a:xfrm>
            <a:off x="2148840" y="2313432"/>
            <a:ext cx="1325880" cy="411480"/>
          </a:xfrm>
          <a:prstGeom prst="rect">
            <a:avLst/>
          </a:prstGeom>
          <a:noFill/>
          <a:ln/>
        </p:spPr>
        <p:txBody>
          <a:bodyPr wrap="square" lIns="0" tIns="0" rIns="0" bIns="0" rtlCol="0" anchor="ctr"/>
          <a:lstStyle/>
          <a:p>
            <a:pPr indent="0" marL="0">
              <a:buNone/>
            </a:pPr>
            <a:r>
              <a:rPr lang="en-US" sz="1300" b="1" dirty="0">
                <a:solidFill>
                  <a:srgbClr val="4F7A00"/>
                </a:solidFill>
                <a:latin typeface="Arial" pitchFamily="34" charset="0"/>
                <a:ea typeface="Arial" pitchFamily="34" charset="-122"/>
                <a:cs typeface="Arial" pitchFamily="34" charset="-120"/>
              </a:rPr>
              <a:t>150 to 400</a:t>
            </a:r>
            <a:endParaRPr lang="en-US" sz="1300" dirty="0"/>
          </a:p>
        </p:txBody>
      </p:sp>
      <p:sp>
        <p:nvSpPr>
          <p:cNvPr id="21" name="Text 17"/>
          <p:cNvSpPr txBox="1"/>
          <p:nvPr/>
        </p:nvSpPr>
        <p:spPr>
          <a:xfrm>
            <a:off x="2148840" y="2743200"/>
            <a:ext cx="1325880" cy="274320"/>
          </a:xfrm>
          <a:prstGeom prst="rect">
            <a:avLst/>
          </a:prstGeom>
          <a:noFill/>
          <a:ln/>
        </p:spPr>
        <p:txBody>
          <a:bodyPr wrap="square" lIns="0" tIns="0" rIns="0" bIns="0" rtlCol="0" anchor="t"/>
          <a:lstStyle/>
          <a:p>
            <a:pPr indent="0" marL="0">
              <a:buNone/>
            </a:pPr>
            <a:r>
              <a:rPr lang="en-US" sz="900" dirty="0">
                <a:solidFill>
                  <a:srgbClr val="2B2B3A"/>
                </a:solidFill>
                <a:latin typeface="Arial" pitchFamily="34" charset="0"/>
                <a:ea typeface="Arial" pitchFamily="34" charset="-122"/>
                <a:cs typeface="Arial" pitchFamily="34" charset="-120"/>
              </a:rPr>
              <a:t>Funded accounts</a:t>
            </a:r>
            <a:endParaRPr lang="en-US" sz="900" dirty="0"/>
          </a:p>
        </p:txBody>
      </p:sp>
      <p:sp>
        <p:nvSpPr>
          <p:cNvPr id="22" name="Shape 18"/>
          <p:cNvSpPr/>
          <p:nvPr/>
        </p:nvSpPr>
        <p:spPr>
          <a:xfrm>
            <a:off x="3657600" y="2240280"/>
            <a:ext cx="1508760" cy="841248"/>
          </a:xfrm>
          <a:prstGeom prst="roundRect">
            <a:avLst>
              <a:gd name="adj" fmla="val 8696"/>
            </a:avLst>
          </a:prstGeom>
          <a:solidFill>
            <a:srgbClr val="F3EEF8"/>
          </a:solidFill>
          <a:ln w="12700">
            <a:solidFill>
              <a:srgbClr val="F3EEF8"/>
            </a:solidFill>
            <a:prstDash val="solid"/>
          </a:ln>
        </p:spPr>
      </p:sp>
      <p:sp>
        <p:nvSpPr>
          <p:cNvPr id="23" name="Text 19"/>
          <p:cNvSpPr txBox="1"/>
          <p:nvPr/>
        </p:nvSpPr>
        <p:spPr>
          <a:xfrm>
            <a:off x="3749040" y="2313432"/>
            <a:ext cx="1325880" cy="411480"/>
          </a:xfrm>
          <a:prstGeom prst="rect">
            <a:avLst/>
          </a:prstGeom>
          <a:noFill/>
          <a:ln/>
        </p:spPr>
        <p:txBody>
          <a:bodyPr wrap="square" lIns="0" tIns="0" rIns="0" bIns="0" rtlCol="0" anchor="ctr"/>
          <a:lstStyle/>
          <a:p>
            <a:pPr indent="0" marL="0">
              <a:buNone/>
            </a:pPr>
            <a:r>
              <a:rPr lang="en-US" sz="1100" b="1" dirty="0">
                <a:solidFill>
                  <a:srgbClr val="440973"/>
                </a:solidFill>
                <a:latin typeface="Arial" pitchFamily="34" charset="0"/>
                <a:ea typeface="Arial" pitchFamily="34" charset="-122"/>
                <a:cs typeface="Arial" pitchFamily="34" charset="-120"/>
              </a:rPr>
              <a:t>PKR 2,250 to 6,000</a:t>
            </a:r>
            <a:endParaRPr lang="en-US" sz="1100" dirty="0"/>
          </a:p>
        </p:txBody>
      </p:sp>
      <p:sp>
        <p:nvSpPr>
          <p:cNvPr id="24" name="Text 20"/>
          <p:cNvSpPr txBox="1"/>
          <p:nvPr/>
        </p:nvSpPr>
        <p:spPr>
          <a:xfrm>
            <a:off x="3749040" y="2743200"/>
            <a:ext cx="1325880" cy="274320"/>
          </a:xfrm>
          <a:prstGeom prst="rect">
            <a:avLst/>
          </a:prstGeom>
          <a:noFill/>
          <a:ln/>
        </p:spPr>
        <p:txBody>
          <a:bodyPr wrap="square" lIns="0" tIns="0" rIns="0" bIns="0" rtlCol="0" anchor="t"/>
          <a:lstStyle/>
          <a:p>
            <a:pPr indent="0" marL="0">
              <a:buNone/>
            </a:pPr>
            <a:r>
              <a:rPr lang="en-US" sz="900" dirty="0">
                <a:solidFill>
                  <a:srgbClr val="2B2B3A"/>
                </a:solidFill>
                <a:latin typeface="Arial" pitchFamily="34" charset="0"/>
                <a:ea typeface="Arial" pitchFamily="34" charset="-122"/>
                <a:cs typeface="Arial" pitchFamily="34" charset="-120"/>
              </a:rPr>
              <a:t>Cost per funded account</a:t>
            </a:r>
            <a:endParaRPr lang="en-US" sz="900" dirty="0"/>
          </a:p>
        </p:txBody>
      </p:sp>
      <p:sp>
        <p:nvSpPr>
          <p:cNvPr id="25" name="Shape 21"/>
          <p:cNvSpPr/>
          <p:nvPr/>
        </p:nvSpPr>
        <p:spPr>
          <a:xfrm>
            <a:off x="457200" y="3291840"/>
            <a:ext cx="4709160" cy="1371600"/>
          </a:xfrm>
          <a:prstGeom prst="roundRect">
            <a:avLst>
              <a:gd name="adj" fmla="val 5333"/>
            </a:avLst>
          </a:prstGeom>
          <a:solidFill>
            <a:srgbClr val="440973"/>
          </a:solidFill>
          <a:ln w="12700">
            <a:solidFill>
              <a:srgbClr val="440973"/>
            </a:solidFill>
            <a:prstDash val="solid"/>
          </a:ln>
        </p:spPr>
      </p:sp>
      <p:sp>
        <p:nvSpPr>
          <p:cNvPr id="26" name="Text 22"/>
          <p:cNvSpPr txBox="1"/>
          <p:nvPr/>
        </p:nvSpPr>
        <p:spPr>
          <a:xfrm>
            <a:off x="640080" y="3364992"/>
            <a:ext cx="4389120" cy="1234440"/>
          </a:xfrm>
          <a:prstGeom prst="rect">
            <a:avLst/>
          </a:prstGeom>
          <a:noFill/>
          <a:ln/>
        </p:spPr>
        <p:txBody>
          <a:bodyPr wrap="square" lIns="0" tIns="0" rIns="0" bIns="0" rtlCol="0" anchor="ctr"/>
          <a:lstStyle/>
          <a:p>
            <a:pPr indent="0" marL="0">
              <a:buNone/>
            </a:pPr>
            <a:r>
              <a:rPr lang="en-US" sz="1000" b="1" dirty="0">
                <a:solidFill>
                  <a:srgbClr val="D9F29A"/>
                </a:solidFill>
                <a:latin typeface="Arial" pitchFamily="34" charset="0"/>
                <a:ea typeface="Arial" pitchFamily="34" charset="-122"/>
                <a:cs typeface="Arial" pitchFamily="34" charset="-120"/>
              </a:rPr>
              <a:t>These are estimates, not promises.</a:t>
            </a:r>
            <a:endParaRPr lang="en-US" sz="1000" dirty="0"/>
          </a:p>
          <a:p>
            <a:pPr indent="0" marL="0">
              <a:buNone/>
            </a:pPr>
            <a:r>
              <a:rPr lang="en-US" sz="1000" dirty="0">
                <a:solidFill>
                  <a:srgbClr val="FFFFFF"/>
                </a:solidFill>
                <a:latin typeface="Arial" pitchFamily="34" charset="0"/>
                <a:ea typeface="Arial" pitchFamily="34" charset="-122"/>
                <a:cs typeface="Arial" pitchFamily="34" charset="-120"/>
              </a:rPr>
              <a:t>Real results depend on the app, onboarding speed and the offer. After 6 weeks of ads (about PKR 225,000 spent) we will share actual numbers and agree realistic targets for the remaining months with you.</a:t>
            </a:r>
            <a:endParaRPr lang="en-US" sz="1000" dirty="0"/>
          </a:p>
        </p:txBody>
      </p:sp>
      <p:sp>
        <p:nvSpPr>
          <p:cNvPr id="27" name="Shape 23"/>
          <p:cNvSpPr/>
          <p:nvPr/>
        </p:nvSpPr>
        <p:spPr>
          <a:xfrm>
            <a:off x="5394960" y="868680"/>
            <a:ext cx="2560320" cy="3794760"/>
          </a:xfrm>
          <a:prstGeom prst="roundRect">
            <a:avLst>
              <a:gd name="adj" fmla="val 2857"/>
            </a:avLst>
          </a:prstGeom>
          <a:solidFill>
            <a:srgbClr val="F3EEF8"/>
          </a:solidFill>
          <a:ln w="12700">
            <a:solidFill>
              <a:srgbClr val="F3EEF8"/>
            </a:solidFill>
            <a:prstDash val="solid"/>
          </a:ln>
        </p:spPr>
      </p:sp>
      <p:sp>
        <p:nvSpPr>
          <p:cNvPr id="28" name="Shape 24"/>
          <p:cNvSpPr/>
          <p:nvPr/>
        </p:nvSpPr>
        <p:spPr>
          <a:xfrm>
            <a:off x="5532120" y="987552"/>
            <a:ext cx="457200" cy="457200"/>
          </a:xfrm>
          <a:prstGeom prst="ellipse">
            <a:avLst/>
          </a:prstGeom>
          <a:solidFill>
            <a:srgbClr val="440973"/>
          </a:solidFill>
          <a:ln w="12700">
            <a:solidFill>
              <a:srgbClr val="440973"/>
            </a:solidFill>
            <a:prstDash val="solid"/>
          </a:ln>
        </p:spPr>
      </p:sp>
      <p:pic>
        <p:nvPicPr>
          <p:cNvPr id="29" name="Image 2" descr="preencoded.png">    </p:cNvPr>
          <p:cNvPicPr>
            <a:picLocks noChangeAspect="1"/>
          </p:cNvPicPr>
          <p:nvPr/>
        </p:nvPicPr>
        <p:blipFill>
          <a:blip r:embed="rId3"/>
          <a:stretch>
            <a:fillRect/>
          </a:stretch>
        </p:blipFill>
        <p:spPr>
          <a:xfrm>
            <a:off x="5650992" y="1106424"/>
            <a:ext cx="219456" cy="219456"/>
          </a:xfrm>
          <a:prstGeom prst="rect">
            <a:avLst/>
          </a:prstGeom>
        </p:spPr>
      </p:pic>
      <p:sp>
        <p:nvSpPr>
          <p:cNvPr id="30" name="Text 25"/>
          <p:cNvSpPr txBox="1"/>
          <p:nvPr/>
        </p:nvSpPr>
        <p:spPr>
          <a:xfrm>
            <a:off x="6080760" y="987552"/>
            <a:ext cx="1783080" cy="457200"/>
          </a:xfrm>
          <a:prstGeom prst="rect">
            <a:avLst/>
          </a:prstGeom>
          <a:noFill/>
          <a:ln/>
        </p:spPr>
        <p:txBody>
          <a:bodyPr wrap="square" lIns="0" tIns="0" rIns="0" bIns="0" rtlCol="0" anchor="ctr"/>
          <a:lstStyle/>
          <a:p>
            <a:pPr indent="0" marL="0">
              <a:buNone/>
            </a:pPr>
            <a:r>
              <a:rPr lang="en-US" sz="1100" b="1" dirty="0">
                <a:solidFill>
                  <a:srgbClr val="440973"/>
                </a:solidFill>
                <a:latin typeface="Arial" pitchFamily="34" charset="0"/>
                <a:ea typeface="Arial" pitchFamily="34" charset="-122"/>
                <a:cs typeface="Arial" pitchFamily="34" charset="-120"/>
              </a:rPr>
              <a:t>What about Google Play ads?</a:t>
            </a:r>
            <a:endParaRPr lang="en-US" sz="1100" dirty="0"/>
          </a:p>
        </p:txBody>
      </p:sp>
      <p:sp>
        <p:nvSpPr>
          <p:cNvPr id="31" name="Text 26"/>
          <p:cNvSpPr txBox="1"/>
          <p:nvPr/>
        </p:nvSpPr>
        <p:spPr>
          <a:xfrm>
            <a:off x="5532120" y="1554480"/>
            <a:ext cx="2286000" cy="3017520"/>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2B2B3A"/>
                </a:solidFill>
                <a:latin typeface="Arial" pitchFamily="34" charset="0"/>
                <a:ea typeface="Arial" pitchFamily="34" charset="-122"/>
                <a:cs typeface="Arial" pitchFamily="34" charset="-120"/>
              </a:rPr>
              <a:t>Google advises a daily budget of at least 50 times the target cost per install.</a:t>
            </a:r>
            <a:endParaRPr lang="en-US" sz="950" dirty="0"/>
          </a:p>
          <a:p>
            <a:pPr marL="342900" indent="-342900">
              <a:spcAft>
                <a:spcPts val="500"/>
              </a:spcAft>
              <a:buSzPct val="100000"/>
              <a:buChar char="•"/>
            </a:pPr>
            <a:r>
              <a:rPr lang="en-US" sz="950" dirty="0">
                <a:solidFill>
                  <a:srgbClr val="2B2B3A"/>
                </a:solidFill>
                <a:latin typeface="Arial" pitchFamily="34" charset="0"/>
                <a:ea typeface="Arial" pitchFamily="34" charset="-122"/>
                <a:cs typeface="Arial" pitchFamily="34" charset="-120"/>
              </a:rPr>
              <a:t>At PKR 150 to 300 per install, that is PKR 7,500 to 15,000 a day.</a:t>
            </a:r>
            <a:endParaRPr lang="en-US" sz="950" dirty="0"/>
          </a:p>
          <a:p>
            <a:pPr marL="342900" indent="-342900">
              <a:spcAft>
                <a:spcPts val="500"/>
              </a:spcAft>
              <a:buSzPct val="100000"/>
              <a:buChar char="•"/>
            </a:pPr>
            <a:r>
              <a:rPr lang="en-US" sz="950" dirty="0">
                <a:solidFill>
                  <a:srgbClr val="2B2B3A"/>
                </a:solidFill>
                <a:latin typeface="Arial" pitchFamily="34" charset="0"/>
                <a:ea typeface="Arial" pitchFamily="34" charset="-122"/>
                <a:cs typeface="Arial" pitchFamily="34" charset="-120"/>
              </a:rPr>
              <a:t>About PKR 225,000 to 450,000 a month, or PKR 1.35M to 2.7M over 6 months.</a:t>
            </a:r>
            <a:endParaRPr lang="en-US" sz="950" dirty="0"/>
          </a:p>
          <a:p>
            <a:pPr marL="342900" indent="-342900">
              <a:spcAft>
                <a:spcPts val="500"/>
              </a:spcAft>
              <a:buSzPct val="100000"/>
              <a:buChar char="•"/>
            </a:pPr>
            <a:r>
              <a:rPr lang="en-US" sz="950" b="1" dirty="0">
                <a:solidFill>
                  <a:srgbClr val="2B2B3A"/>
                </a:solidFill>
                <a:latin typeface="Arial" pitchFamily="34" charset="0"/>
                <a:ea typeface="Arial" pitchFamily="34" charset="-122"/>
                <a:cs typeface="Arial" pitchFamily="34" charset="-120"/>
              </a:rPr>
              <a:t>Our advice: add Google only once the Instagram test proves people fund their accounts.</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logo_light.png">    </p:cNvPr>
          <p:cNvPicPr>
            <a:picLocks noChangeAspect="1"/>
          </p:cNvPicPr>
          <p:nvPr/>
        </p:nvPicPr>
        <p:blipFill>
          <a:blip r:embed="rId1"/>
          <a:stretch>
            <a:fillRect/>
          </a:stretch>
        </p:blipFill>
        <p:spPr>
          <a:xfrm>
            <a:off x="7882128" y="164592"/>
            <a:ext cx="896112" cy="475488"/>
          </a:xfrm>
          <a:prstGeom prst="rect">
            <a:avLst/>
          </a:prstGeom>
        </p:spPr>
      </p:pic>
      <p:pic>
        <p:nvPicPr>
          <p:cNvPr id="3" name="Image 1" descr="corner_t.png">    </p:cNvPr>
          <p:cNvPicPr>
            <a:picLocks noChangeAspect="1"/>
          </p:cNvPicPr>
          <p:nvPr/>
        </p:nvPicPr>
        <p:blipFill>
          <a:blip r:embed="rId2"/>
          <a:stretch>
            <a:fillRect/>
          </a:stretch>
        </p:blipFill>
        <p:spPr>
          <a:xfrm>
            <a:off x="8138160" y="4553712"/>
            <a:ext cx="1005840" cy="726948"/>
          </a:xfrm>
          <a:prstGeom prst="rect">
            <a:avLst/>
          </a:prstGeom>
        </p:spPr>
      </p:pic>
      <p:sp>
        <p:nvSpPr>
          <p:cNvPr id="4" name="Text 0"/>
          <p:cNvSpPr txBox="1"/>
          <p:nvPr/>
        </p:nvSpPr>
        <p:spPr>
          <a:xfrm>
            <a:off x="457200" y="228600"/>
            <a:ext cx="7223760" cy="548640"/>
          </a:xfrm>
          <a:prstGeom prst="rect">
            <a:avLst/>
          </a:prstGeom>
          <a:noFill/>
          <a:ln/>
        </p:spPr>
        <p:txBody>
          <a:bodyPr wrap="square" lIns="0" tIns="0" rIns="0" bIns="0" rtlCol="0" anchor="ctr"/>
          <a:lstStyle/>
          <a:p>
            <a:pPr indent="0" marL="0">
              <a:buNone/>
            </a:pPr>
            <a:r>
              <a:rPr lang="en-US" sz="2400" b="1" dirty="0">
                <a:solidFill>
                  <a:srgbClr val="440973"/>
                </a:solidFill>
                <a:latin typeface="Arial" pitchFamily="34" charset="0"/>
                <a:ea typeface="Arial" pitchFamily="34" charset="-122"/>
                <a:cs typeface="Arial" pitchFamily="34" charset="-120"/>
              </a:rPr>
              <a:t>Three influencers to shortlist</a:t>
            </a:r>
            <a:endParaRPr lang="en-US" sz="2400" dirty="0"/>
          </a:p>
        </p:txBody>
      </p:sp>
      <p:sp>
        <p:nvSpPr>
          <p:cNvPr id="5" name="Text 1"/>
          <p:cNvSpPr txBox="1"/>
          <p:nvPr/>
        </p:nvSpPr>
        <p:spPr>
          <a:xfrm>
            <a:off x="457200" y="4828032"/>
            <a:ext cx="7498080" cy="228600"/>
          </a:xfrm>
          <a:prstGeom prst="rect">
            <a:avLst/>
          </a:prstGeom>
          <a:noFill/>
          <a:ln/>
        </p:spPr>
        <p:txBody>
          <a:bodyPr wrap="square" lIns="0" tIns="0" rIns="0" bIns="0" rtlCol="0" anchor="ctr"/>
          <a:lstStyle/>
          <a:p>
            <a:pPr indent="0" marL="0">
              <a:buNone/>
            </a:pPr>
            <a:r>
              <a:rPr lang="en-US" sz="750" dirty="0">
                <a:solidFill>
                  <a:srgbClr val="6B6B80"/>
                </a:solidFill>
                <a:latin typeface="Arial" pitchFamily="34" charset="0"/>
                <a:ea typeface="Arial" pitchFamily="34" charset="-122"/>
                <a:cs typeface="Arial" pitchFamily="34" charset="-120"/>
              </a:rPr>
              <a:t>Sources: Instagram (@malikkdollar bio); Favikon, Top Business Influencers in Pakistan 2026; HypeAuditor Pakistan finance ranking. Follower counts and rates to be confirmed.</a:t>
            </a:r>
            <a:endParaRPr lang="en-US" sz="750" dirty="0"/>
          </a:p>
        </p:txBody>
      </p:sp>
      <p:sp>
        <p:nvSpPr>
          <p:cNvPr id="6" name="Shape 2"/>
          <p:cNvSpPr/>
          <p:nvPr/>
        </p:nvSpPr>
        <p:spPr>
          <a:xfrm>
            <a:off x="457200" y="868680"/>
            <a:ext cx="2377440" cy="2697480"/>
          </a:xfrm>
          <a:prstGeom prst="roundRect">
            <a:avLst>
              <a:gd name="adj" fmla="val 3077"/>
            </a:avLst>
          </a:prstGeom>
          <a:solidFill>
            <a:srgbClr val="F3EEF8"/>
          </a:solidFill>
          <a:ln w="12700">
            <a:solidFill>
              <a:srgbClr val="F3EEF8"/>
            </a:solidFill>
            <a:prstDash val="solid"/>
          </a:ln>
        </p:spPr>
      </p:sp>
      <p:sp>
        <p:nvSpPr>
          <p:cNvPr id="7" name="Shape 3"/>
          <p:cNvSpPr/>
          <p:nvPr/>
        </p:nvSpPr>
        <p:spPr>
          <a:xfrm>
            <a:off x="640080" y="1005840"/>
            <a:ext cx="457200" cy="457200"/>
          </a:xfrm>
          <a:prstGeom prst="ellipse">
            <a:avLst/>
          </a:prstGeom>
          <a:solidFill>
            <a:srgbClr val="4F7A00"/>
          </a:solidFill>
          <a:ln w="12700">
            <a:solidFill>
              <a:srgbClr val="4F7A00"/>
            </a:solidFill>
            <a:prstDash val="solid"/>
          </a:ln>
        </p:spPr>
      </p:sp>
      <p:pic>
        <p:nvPicPr>
          <p:cNvPr id="8" name="Image 2" descr="preencoded.png">    </p:cNvPr>
          <p:cNvPicPr>
            <a:picLocks noChangeAspect="1"/>
          </p:cNvPicPr>
          <p:nvPr/>
        </p:nvPicPr>
        <p:blipFill>
          <a:blip r:embed="rId3"/>
          <a:stretch>
            <a:fillRect/>
          </a:stretch>
        </p:blipFill>
        <p:spPr>
          <a:xfrm>
            <a:off x="758952" y="1124712"/>
            <a:ext cx="219456" cy="219456"/>
          </a:xfrm>
          <a:prstGeom prst="rect">
            <a:avLst/>
          </a:prstGeom>
        </p:spPr>
      </p:pic>
      <p:sp>
        <p:nvSpPr>
          <p:cNvPr id="9" name="Text 4"/>
          <p:cNvSpPr txBox="1"/>
          <p:nvPr/>
        </p:nvSpPr>
        <p:spPr>
          <a:xfrm>
            <a:off x="1207008" y="1005840"/>
            <a:ext cx="1554480" cy="457200"/>
          </a:xfrm>
          <a:prstGeom prst="rect">
            <a:avLst/>
          </a:prstGeom>
          <a:noFill/>
          <a:ln/>
        </p:spPr>
        <p:txBody>
          <a:bodyPr wrap="square" lIns="0" tIns="0" rIns="0" bIns="0" rtlCol="0" anchor="ctr"/>
          <a:lstStyle/>
          <a:p>
            <a:pPr indent="0" marL="0">
              <a:buNone/>
            </a:pPr>
            <a:r>
              <a:rPr lang="en-US" sz="1300" b="1" dirty="0">
                <a:solidFill>
                  <a:srgbClr val="440973"/>
                </a:solidFill>
                <a:latin typeface="Arial" pitchFamily="34" charset="0"/>
                <a:ea typeface="Arial" pitchFamily="34" charset="-122"/>
                <a:cs typeface="Arial" pitchFamily="34" charset="-120"/>
              </a:rPr>
              <a:t>Malik Danish</a:t>
            </a:r>
            <a:endParaRPr lang="en-US" sz="1300" dirty="0"/>
          </a:p>
        </p:txBody>
      </p:sp>
      <p:sp>
        <p:nvSpPr>
          <p:cNvPr id="10" name="Text 5"/>
          <p:cNvSpPr txBox="1"/>
          <p:nvPr/>
        </p:nvSpPr>
        <p:spPr>
          <a:xfrm>
            <a:off x="640080" y="1554480"/>
            <a:ext cx="2057400" cy="365760"/>
          </a:xfrm>
          <a:prstGeom prst="rect">
            <a:avLst/>
          </a:prstGeom>
          <a:noFill/>
          <a:ln/>
        </p:spPr>
        <p:txBody>
          <a:bodyPr wrap="square" lIns="0" tIns="0" rIns="0" bIns="0" rtlCol="0" anchor="t"/>
          <a:lstStyle/>
          <a:p>
            <a:pPr indent="0" marL="0">
              <a:buNone/>
            </a:pPr>
            <a:r>
              <a:rPr lang="en-US" sz="850" i="1" dirty="0">
                <a:solidFill>
                  <a:srgbClr val="6B6B80"/>
                </a:solidFill>
                <a:latin typeface="Arial" pitchFamily="34" charset="0"/>
                <a:ea typeface="Arial" pitchFamily="34" charset="-122"/>
                <a:cs typeface="Arial" pitchFamily="34" charset="-120"/>
              </a:rPr>
              <a:t>@malikkdollar, Instagram</a:t>
            </a:r>
            <a:endParaRPr lang="en-US" sz="850" dirty="0"/>
          </a:p>
        </p:txBody>
      </p:sp>
      <p:sp>
        <p:nvSpPr>
          <p:cNvPr id="11" name="Text 6"/>
          <p:cNvSpPr txBox="1"/>
          <p:nvPr/>
        </p:nvSpPr>
        <p:spPr>
          <a:xfrm>
            <a:off x="640080" y="1938528"/>
            <a:ext cx="2057400" cy="777240"/>
          </a:xfrm>
          <a:prstGeom prst="rect">
            <a:avLst/>
          </a:prstGeom>
          <a:noFill/>
          <a:ln/>
        </p:spPr>
        <p:txBody>
          <a:bodyPr wrap="square" lIns="0" tIns="0" rIns="0" bIns="0" rtlCol="0" anchor="t"/>
          <a:lstStyle/>
          <a:p>
            <a:pPr indent="0" marL="0">
              <a:buNone/>
            </a:pPr>
            <a:r>
              <a:rPr lang="en-US" sz="950" dirty="0">
                <a:solidFill>
                  <a:srgbClr val="2B2B3A"/>
                </a:solidFill>
                <a:latin typeface="Arial" pitchFamily="34" charset="0"/>
                <a:ea typeface="Arial" pitchFamily="34" charset="-122"/>
                <a:cs typeface="Arial" pitchFamily="34" charset="-120"/>
              </a:rPr>
              <a:t>Educates Pakistanis on finance and investing. An audience already interested in investing.</a:t>
            </a:r>
            <a:endParaRPr lang="en-US" sz="950" dirty="0"/>
          </a:p>
        </p:txBody>
      </p:sp>
      <p:sp>
        <p:nvSpPr>
          <p:cNvPr id="12" name="Text 7"/>
          <p:cNvSpPr txBox="1"/>
          <p:nvPr/>
        </p:nvSpPr>
        <p:spPr>
          <a:xfrm>
            <a:off x="640080" y="2743200"/>
            <a:ext cx="2057400" cy="731520"/>
          </a:xfrm>
          <a:prstGeom prst="rect">
            <a:avLst/>
          </a:prstGeom>
          <a:noFill/>
          <a:ln/>
        </p:spPr>
        <p:txBody>
          <a:bodyPr wrap="square" lIns="0" tIns="0" rIns="0" bIns="0" rtlCol="0" anchor="t"/>
          <a:lstStyle/>
          <a:p>
            <a:pPr indent="0" marL="0">
              <a:buNone/>
            </a:pPr>
            <a:r>
              <a:rPr lang="en-US" sz="950" b="1" dirty="0">
                <a:solidFill>
                  <a:srgbClr val="4F7A00"/>
                </a:solidFill>
                <a:latin typeface="Arial" pitchFamily="34" charset="0"/>
                <a:ea typeface="Arial" pitchFamily="34" charset="-122"/>
                <a:cs typeface="Arial" pitchFamily="34" charset="-120"/>
              </a:rPr>
              <a:t>Content idea: </a:t>
            </a:r>
            <a:pPr indent="0" marL="0">
              <a:buNone/>
            </a:pPr>
            <a:r>
              <a:rPr lang="en-US" sz="950" dirty="0">
                <a:solidFill>
                  <a:srgbClr val="2B2B3A"/>
                </a:solidFill>
                <a:latin typeface="Arial" pitchFamily="34" charset="0"/>
                <a:ea typeface="Arial" pitchFamily="34" charset="-122"/>
                <a:cs typeface="Arial" pitchFamily="34" charset="-120"/>
              </a:rPr>
              <a:t>"How I opened my first stock account" walkthrough</a:t>
            </a:r>
            <a:endParaRPr lang="en-US" sz="950" dirty="0"/>
          </a:p>
        </p:txBody>
      </p:sp>
      <p:sp>
        <p:nvSpPr>
          <p:cNvPr id="13" name="Shape 8"/>
          <p:cNvSpPr/>
          <p:nvPr/>
        </p:nvSpPr>
        <p:spPr>
          <a:xfrm>
            <a:off x="3017520" y="868680"/>
            <a:ext cx="2377440" cy="2697480"/>
          </a:xfrm>
          <a:prstGeom prst="roundRect">
            <a:avLst>
              <a:gd name="adj" fmla="val 3077"/>
            </a:avLst>
          </a:prstGeom>
          <a:solidFill>
            <a:srgbClr val="F3EEF8"/>
          </a:solidFill>
          <a:ln w="12700">
            <a:solidFill>
              <a:srgbClr val="F3EEF8"/>
            </a:solidFill>
            <a:prstDash val="solid"/>
          </a:ln>
        </p:spPr>
      </p:sp>
      <p:sp>
        <p:nvSpPr>
          <p:cNvPr id="14" name="Shape 9"/>
          <p:cNvSpPr/>
          <p:nvPr/>
        </p:nvSpPr>
        <p:spPr>
          <a:xfrm>
            <a:off x="3200400" y="1005840"/>
            <a:ext cx="457200" cy="457200"/>
          </a:xfrm>
          <a:prstGeom prst="ellipse">
            <a:avLst/>
          </a:prstGeom>
          <a:solidFill>
            <a:srgbClr val="440973"/>
          </a:solidFill>
          <a:ln w="12700">
            <a:solidFill>
              <a:srgbClr val="440973"/>
            </a:solidFill>
            <a:prstDash val="solid"/>
          </a:ln>
        </p:spPr>
      </p:sp>
      <p:pic>
        <p:nvPicPr>
          <p:cNvPr id="15" name="Image 3" descr="preencoded.png">    </p:cNvPr>
          <p:cNvPicPr>
            <a:picLocks noChangeAspect="1"/>
          </p:cNvPicPr>
          <p:nvPr/>
        </p:nvPicPr>
        <p:blipFill>
          <a:blip r:embed="rId4"/>
          <a:stretch>
            <a:fillRect/>
          </a:stretch>
        </p:blipFill>
        <p:spPr>
          <a:xfrm>
            <a:off x="3319272" y="1124712"/>
            <a:ext cx="219456" cy="219456"/>
          </a:xfrm>
          <a:prstGeom prst="rect">
            <a:avLst/>
          </a:prstGeom>
        </p:spPr>
      </p:pic>
      <p:sp>
        <p:nvSpPr>
          <p:cNvPr id="16" name="Text 10"/>
          <p:cNvSpPr txBox="1"/>
          <p:nvPr/>
        </p:nvSpPr>
        <p:spPr>
          <a:xfrm>
            <a:off x="3767328" y="1005840"/>
            <a:ext cx="1554480" cy="457200"/>
          </a:xfrm>
          <a:prstGeom prst="rect">
            <a:avLst/>
          </a:prstGeom>
          <a:noFill/>
          <a:ln/>
        </p:spPr>
        <p:txBody>
          <a:bodyPr wrap="square" lIns="0" tIns="0" rIns="0" bIns="0" rtlCol="0" anchor="ctr"/>
          <a:lstStyle/>
          <a:p>
            <a:pPr indent="0" marL="0">
              <a:buNone/>
            </a:pPr>
            <a:r>
              <a:rPr lang="en-US" sz="1300" b="1" dirty="0">
                <a:solidFill>
                  <a:srgbClr val="440973"/>
                </a:solidFill>
                <a:latin typeface="Arial" pitchFamily="34" charset="0"/>
                <a:ea typeface="Arial" pitchFamily="34" charset="-122"/>
                <a:cs typeface="Arial" pitchFamily="34" charset="-120"/>
              </a:rPr>
              <a:t>Hafiz Basit Ali</a:t>
            </a:r>
            <a:endParaRPr lang="en-US" sz="1300" dirty="0"/>
          </a:p>
        </p:txBody>
      </p:sp>
      <p:sp>
        <p:nvSpPr>
          <p:cNvPr id="17" name="Text 11"/>
          <p:cNvSpPr txBox="1"/>
          <p:nvPr/>
        </p:nvSpPr>
        <p:spPr>
          <a:xfrm>
            <a:off x="3200400" y="1554480"/>
            <a:ext cx="2057400" cy="365760"/>
          </a:xfrm>
          <a:prstGeom prst="rect">
            <a:avLst/>
          </a:prstGeom>
          <a:noFill/>
          <a:ln/>
        </p:spPr>
        <p:txBody>
          <a:bodyPr wrap="square" lIns="0" tIns="0" rIns="0" bIns="0" rtlCol="0" anchor="t"/>
          <a:lstStyle/>
          <a:p>
            <a:pPr indent="0" marL="0">
              <a:buNone/>
            </a:pPr>
            <a:r>
              <a:rPr lang="en-US" sz="850" i="1" dirty="0">
                <a:solidFill>
                  <a:srgbClr val="6B6B80"/>
                </a:solidFill>
                <a:latin typeface="Arial" pitchFamily="34" charset="0"/>
                <a:ea typeface="Arial" pitchFamily="34" charset="-122"/>
                <a:cs typeface="Arial" pitchFamily="34" charset="-120"/>
              </a:rPr>
              <a:t>Ranked #1 business influencer in Pakistan (Favikon)</a:t>
            </a:r>
            <a:endParaRPr lang="en-US" sz="850" dirty="0"/>
          </a:p>
        </p:txBody>
      </p:sp>
      <p:sp>
        <p:nvSpPr>
          <p:cNvPr id="18" name="Text 12"/>
          <p:cNvSpPr txBox="1"/>
          <p:nvPr/>
        </p:nvSpPr>
        <p:spPr>
          <a:xfrm>
            <a:off x="3200400" y="1938528"/>
            <a:ext cx="2057400" cy="777240"/>
          </a:xfrm>
          <a:prstGeom prst="rect">
            <a:avLst/>
          </a:prstGeom>
          <a:noFill/>
          <a:ln/>
        </p:spPr>
        <p:txBody>
          <a:bodyPr wrap="square" lIns="0" tIns="0" rIns="0" bIns="0" rtlCol="0" anchor="t"/>
          <a:lstStyle/>
          <a:p>
            <a:pPr indent="0" marL="0">
              <a:buNone/>
            </a:pPr>
            <a:r>
              <a:rPr lang="en-US" sz="950" dirty="0">
                <a:solidFill>
                  <a:srgbClr val="2B2B3A"/>
                </a:solidFill>
                <a:latin typeface="Arial" pitchFamily="34" charset="0"/>
                <a:ea typeface="Arial" pitchFamily="34" charset="-122"/>
                <a:cs typeface="Arial" pitchFamily="34" charset="-120"/>
              </a:rPr>
              <a:t>Large following of young earners and freelancers looking to grow their income.</a:t>
            </a:r>
            <a:endParaRPr lang="en-US" sz="950" dirty="0"/>
          </a:p>
        </p:txBody>
      </p:sp>
      <p:sp>
        <p:nvSpPr>
          <p:cNvPr id="19" name="Text 13"/>
          <p:cNvSpPr txBox="1"/>
          <p:nvPr/>
        </p:nvSpPr>
        <p:spPr>
          <a:xfrm>
            <a:off x="3200400" y="2743200"/>
            <a:ext cx="2057400" cy="731520"/>
          </a:xfrm>
          <a:prstGeom prst="rect">
            <a:avLst/>
          </a:prstGeom>
          <a:noFill/>
          <a:ln/>
        </p:spPr>
        <p:txBody>
          <a:bodyPr wrap="square" lIns="0" tIns="0" rIns="0" bIns="0" rtlCol="0" anchor="t"/>
          <a:lstStyle/>
          <a:p>
            <a:pPr indent="0" marL="0">
              <a:buNone/>
            </a:pPr>
            <a:r>
              <a:rPr lang="en-US" sz="950" b="1" dirty="0">
                <a:solidFill>
                  <a:srgbClr val="4F7A00"/>
                </a:solidFill>
                <a:latin typeface="Arial" pitchFamily="34" charset="0"/>
                <a:ea typeface="Arial" pitchFamily="34" charset="-122"/>
                <a:cs typeface="Arial" pitchFamily="34" charset="-120"/>
              </a:rPr>
              <a:t>Content idea: </a:t>
            </a:r>
            <a:pPr indent="0" marL="0">
              <a:buNone/>
            </a:pPr>
            <a:r>
              <a:rPr lang="en-US" sz="950" dirty="0">
                <a:solidFill>
                  <a:srgbClr val="2B2B3A"/>
                </a:solidFill>
                <a:latin typeface="Arial" pitchFamily="34" charset="0"/>
                <a:ea typeface="Arial" pitchFamily="34" charset="-122"/>
                <a:cs typeface="Arial" pitchFamily="34" charset="-120"/>
              </a:rPr>
              <a:t>"Put your savings to work" series</a:t>
            </a:r>
            <a:endParaRPr lang="en-US" sz="950" dirty="0"/>
          </a:p>
        </p:txBody>
      </p:sp>
      <p:sp>
        <p:nvSpPr>
          <p:cNvPr id="20" name="Shape 14"/>
          <p:cNvSpPr/>
          <p:nvPr/>
        </p:nvSpPr>
        <p:spPr>
          <a:xfrm>
            <a:off x="5577840" y="868680"/>
            <a:ext cx="2377440" cy="2697480"/>
          </a:xfrm>
          <a:prstGeom prst="roundRect">
            <a:avLst>
              <a:gd name="adj" fmla="val 3077"/>
            </a:avLst>
          </a:prstGeom>
          <a:solidFill>
            <a:srgbClr val="F3EEF8"/>
          </a:solidFill>
          <a:ln w="12700">
            <a:solidFill>
              <a:srgbClr val="F3EEF8"/>
            </a:solidFill>
            <a:prstDash val="solid"/>
          </a:ln>
        </p:spPr>
      </p:sp>
      <p:sp>
        <p:nvSpPr>
          <p:cNvPr id="21" name="Shape 15"/>
          <p:cNvSpPr/>
          <p:nvPr/>
        </p:nvSpPr>
        <p:spPr>
          <a:xfrm>
            <a:off x="5760720" y="1005840"/>
            <a:ext cx="457200" cy="457200"/>
          </a:xfrm>
          <a:prstGeom prst="ellipse">
            <a:avLst/>
          </a:prstGeom>
          <a:solidFill>
            <a:srgbClr val="440973"/>
          </a:solidFill>
          <a:ln w="12700">
            <a:solidFill>
              <a:srgbClr val="440973"/>
            </a:solidFill>
            <a:prstDash val="solid"/>
          </a:ln>
        </p:spPr>
      </p:sp>
      <p:pic>
        <p:nvPicPr>
          <p:cNvPr id="22" name="Image 4" descr="preencoded.png">    </p:cNvPr>
          <p:cNvPicPr>
            <a:picLocks noChangeAspect="1"/>
          </p:cNvPicPr>
          <p:nvPr/>
        </p:nvPicPr>
        <p:blipFill>
          <a:blip r:embed="rId5"/>
          <a:stretch>
            <a:fillRect/>
          </a:stretch>
        </p:blipFill>
        <p:spPr>
          <a:xfrm>
            <a:off x="5879592" y="1124712"/>
            <a:ext cx="219456" cy="219456"/>
          </a:xfrm>
          <a:prstGeom prst="rect">
            <a:avLst/>
          </a:prstGeom>
        </p:spPr>
      </p:pic>
      <p:sp>
        <p:nvSpPr>
          <p:cNvPr id="23" name="Text 16"/>
          <p:cNvSpPr txBox="1"/>
          <p:nvPr/>
        </p:nvSpPr>
        <p:spPr>
          <a:xfrm>
            <a:off x="6327648" y="1005840"/>
            <a:ext cx="1554480" cy="457200"/>
          </a:xfrm>
          <a:prstGeom prst="rect">
            <a:avLst/>
          </a:prstGeom>
          <a:noFill/>
          <a:ln/>
        </p:spPr>
        <p:txBody>
          <a:bodyPr wrap="square" lIns="0" tIns="0" rIns="0" bIns="0" rtlCol="0" anchor="ctr"/>
          <a:lstStyle/>
          <a:p>
            <a:pPr indent="0" marL="0">
              <a:buNone/>
            </a:pPr>
            <a:r>
              <a:rPr lang="en-US" sz="1300" b="1" dirty="0">
                <a:solidFill>
                  <a:srgbClr val="440973"/>
                </a:solidFill>
                <a:latin typeface="Arial" pitchFamily="34" charset="0"/>
                <a:ea typeface="Arial" pitchFamily="34" charset="-122"/>
                <a:cs typeface="Arial" pitchFamily="34" charset="-120"/>
              </a:rPr>
              <a:t>Azad Chaiwala</a:t>
            </a:r>
            <a:endParaRPr lang="en-US" sz="1300" dirty="0"/>
          </a:p>
        </p:txBody>
      </p:sp>
      <p:sp>
        <p:nvSpPr>
          <p:cNvPr id="24" name="Text 17"/>
          <p:cNvSpPr txBox="1"/>
          <p:nvPr/>
        </p:nvSpPr>
        <p:spPr>
          <a:xfrm>
            <a:off x="5760720" y="1554480"/>
            <a:ext cx="2057400" cy="365760"/>
          </a:xfrm>
          <a:prstGeom prst="rect">
            <a:avLst/>
          </a:prstGeom>
          <a:noFill/>
          <a:ln/>
        </p:spPr>
        <p:txBody>
          <a:bodyPr wrap="square" lIns="0" tIns="0" rIns="0" bIns="0" rtlCol="0" anchor="t"/>
          <a:lstStyle/>
          <a:p>
            <a:pPr indent="0" marL="0">
              <a:buNone/>
            </a:pPr>
            <a:r>
              <a:rPr lang="en-US" sz="850" i="1" dirty="0">
                <a:solidFill>
                  <a:srgbClr val="6B6B80"/>
                </a:solidFill>
                <a:latin typeface="Arial" pitchFamily="34" charset="0"/>
                <a:ea typeface="Arial" pitchFamily="34" charset="-122"/>
                <a:cs typeface="Arial" pitchFamily="34" charset="-120"/>
              </a:rPr>
              <a:t>Top 5 business influencer (Favikon)</a:t>
            </a:r>
            <a:endParaRPr lang="en-US" sz="850" dirty="0"/>
          </a:p>
        </p:txBody>
      </p:sp>
      <p:sp>
        <p:nvSpPr>
          <p:cNvPr id="25" name="Text 18"/>
          <p:cNvSpPr txBox="1"/>
          <p:nvPr/>
        </p:nvSpPr>
        <p:spPr>
          <a:xfrm>
            <a:off x="5760720" y="1938528"/>
            <a:ext cx="2057400" cy="777240"/>
          </a:xfrm>
          <a:prstGeom prst="rect">
            <a:avLst/>
          </a:prstGeom>
          <a:noFill/>
          <a:ln/>
        </p:spPr>
        <p:txBody>
          <a:bodyPr wrap="square" lIns="0" tIns="0" rIns="0" bIns="0" rtlCol="0" anchor="t"/>
          <a:lstStyle/>
          <a:p>
            <a:pPr indent="0" marL="0">
              <a:buNone/>
            </a:pPr>
            <a:r>
              <a:rPr lang="en-US" sz="950" dirty="0">
                <a:solidFill>
                  <a:srgbClr val="2B2B3A"/>
                </a:solidFill>
                <a:latin typeface="Arial" pitchFamily="34" charset="0"/>
                <a:ea typeface="Arial" pitchFamily="34" charset="-122"/>
                <a:cs typeface="Arial" pitchFamily="34" charset="-120"/>
              </a:rPr>
              <a:t>Talks about investment, entrepreneurship and financial literacy.</a:t>
            </a:r>
            <a:endParaRPr lang="en-US" sz="950" dirty="0"/>
          </a:p>
        </p:txBody>
      </p:sp>
      <p:sp>
        <p:nvSpPr>
          <p:cNvPr id="26" name="Text 19"/>
          <p:cNvSpPr txBox="1"/>
          <p:nvPr/>
        </p:nvSpPr>
        <p:spPr>
          <a:xfrm>
            <a:off x="5760720" y="2743200"/>
            <a:ext cx="2057400" cy="731520"/>
          </a:xfrm>
          <a:prstGeom prst="rect">
            <a:avLst/>
          </a:prstGeom>
          <a:noFill/>
          <a:ln/>
        </p:spPr>
        <p:txBody>
          <a:bodyPr wrap="square" lIns="0" tIns="0" rIns="0" bIns="0" rtlCol="0" anchor="t"/>
          <a:lstStyle/>
          <a:p>
            <a:pPr indent="0" marL="0">
              <a:buNone/>
            </a:pPr>
            <a:r>
              <a:rPr lang="en-US" sz="950" b="1" dirty="0">
                <a:solidFill>
                  <a:srgbClr val="4F7A00"/>
                </a:solidFill>
                <a:latin typeface="Arial" pitchFamily="34" charset="0"/>
                <a:ea typeface="Arial" pitchFamily="34" charset="-122"/>
                <a:cs typeface="Arial" pitchFamily="34" charset="-120"/>
              </a:rPr>
              <a:t>Content idea: </a:t>
            </a:r>
            <a:pPr indent="0" marL="0">
              <a:buNone/>
            </a:pPr>
            <a:r>
              <a:rPr lang="en-US" sz="950" dirty="0">
                <a:solidFill>
                  <a:srgbClr val="2B2B3A"/>
                </a:solidFill>
                <a:latin typeface="Arial" pitchFamily="34" charset="0"/>
                <a:ea typeface="Arial" pitchFamily="34" charset="-122"/>
                <a:cs typeface="Arial" pitchFamily="34" charset="-120"/>
              </a:rPr>
              <a:t>Long-term wealth message, including overseas Pakistanis</a:t>
            </a:r>
            <a:endParaRPr lang="en-US" sz="950" dirty="0"/>
          </a:p>
        </p:txBody>
      </p:sp>
      <p:sp>
        <p:nvSpPr>
          <p:cNvPr id="27" name="Shape 20"/>
          <p:cNvSpPr/>
          <p:nvPr/>
        </p:nvSpPr>
        <p:spPr>
          <a:xfrm>
            <a:off x="457200" y="3703320"/>
            <a:ext cx="4846320" cy="960120"/>
          </a:xfrm>
          <a:prstGeom prst="roundRect">
            <a:avLst>
              <a:gd name="adj" fmla="val 7619"/>
            </a:avLst>
          </a:prstGeom>
          <a:solidFill>
            <a:srgbClr val="440973"/>
          </a:solidFill>
          <a:ln w="12700">
            <a:solidFill>
              <a:srgbClr val="440973"/>
            </a:solidFill>
            <a:prstDash val="solid"/>
          </a:ln>
        </p:spPr>
      </p:sp>
      <p:sp>
        <p:nvSpPr>
          <p:cNvPr id="28" name="Text 21"/>
          <p:cNvSpPr txBox="1"/>
          <p:nvPr/>
        </p:nvSpPr>
        <p:spPr>
          <a:xfrm>
            <a:off x="594360" y="3749040"/>
            <a:ext cx="4572000" cy="868680"/>
          </a:xfrm>
          <a:prstGeom prst="rect">
            <a:avLst/>
          </a:prstGeom>
          <a:noFill/>
          <a:ln/>
        </p:spPr>
        <p:txBody>
          <a:bodyPr wrap="square" lIns="0" tIns="0" rIns="0" bIns="0" rtlCol="0" anchor="ctr"/>
          <a:lstStyle/>
          <a:p>
            <a:pPr indent="0" marL="0">
              <a:buNone/>
            </a:pPr>
            <a:r>
              <a:rPr lang="en-US" sz="950" b="1" dirty="0">
                <a:solidFill>
                  <a:srgbClr val="D9F29A"/>
                </a:solidFill>
                <a:latin typeface="Arial" pitchFamily="34" charset="0"/>
                <a:ea typeface="Arial" pitchFamily="34" charset="-122"/>
                <a:cs typeface="Arial" pitchFamily="34" charset="-120"/>
              </a:rPr>
              <a:t>Cost not included. </a:t>
            </a:r>
            <a:pPr indent="0" marL="0">
              <a:buNone/>
            </a:pPr>
            <a:r>
              <a:rPr lang="en-US" sz="950" dirty="0">
                <a:solidFill>
                  <a:srgbClr val="FFFFFF"/>
                </a:solidFill>
                <a:latin typeface="Arial" pitchFamily="34" charset="0"/>
                <a:ea typeface="Arial" pitchFamily="34" charset="-122"/>
                <a:cs typeface="Arial" pitchFamily="34" charset="-120"/>
              </a:rPr>
              <a:t>Influencers charge based on their popularity and following, so fees will be agreed later. We will vet each one (no crypto or get-rich promotions, no political content), and all posts go through AHCML compliance.</a:t>
            </a:r>
            <a:endParaRPr lang="en-US" sz="950" dirty="0"/>
          </a:p>
        </p:txBody>
      </p:sp>
      <p:sp>
        <p:nvSpPr>
          <p:cNvPr id="29" name="Shape 22"/>
          <p:cNvSpPr/>
          <p:nvPr/>
        </p:nvSpPr>
        <p:spPr>
          <a:xfrm>
            <a:off x="5486400" y="3703320"/>
            <a:ext cx="2468880" cy="960120"/>
          </a:xfrm>
          <a:prstGeom prst="roundRect">
            <a:avLst>
              <a:gd name="adj" fmla="val 7619"/>
            </a:avLst>
          </a:prstGeom>
          <a:solidFill>
            <a:srgbClr val="EEF6DC"/>
          </a:solidFill>
          <a:ln w="12700">
            <a:solidFill>
              <a:srgbClr val="EEF6DC"/>
            </a:solidFill>
            <a:prstDash val="solid"/>
          </a:ln>
        </p:spPr>
      </p:sp>
      <p:sp>
        <p:nvSpPr>
          <p:cNvPr id="30" name="Text 23"/>
          <p:cNvSpPr txBox="1"/>
          <p:nvPr/>
        </p:nvSpPr>
        <p:spPr>
          <a:xfrm>
            <a:off x="5596128" y="3749040"/>
            <a:ext cx="2286000" cy="868680"/>
          </a:xfrm>
          <a:prstGeom prst="rect">
            <a:avLst/>
          </a:prstGeom>
          <a:noFill/>
          <a:ln/>
        </p:spPr>
        <p:txBody>
          <a:bodyPr wrap="square" lIns="0" tIns="0" rIns="0" bIns="0" rtlCol="0" anchor="ctr"/>
          <a:lstStyle/>
          <a:p>
            <a:pPr indent="0" marL="0">
              <a:buNone/>
            </a:pPr>
            <a:r>
              <a:rPr lang="en-US" sz="950" b="1" dirty="0">
                <a:solidFill>
                  <a:srgbClr val="4F7A00"/>
                </a:solidFill>
                <a:latin typeface="Arial" pitchFamily="34" charset="0"/>
                <a:ea typeface="Arial" pitchFamily="34" charset="-122"/>
                <a:cs typeface="Arial" pitchFamily="34" charset="-120"/>
              </a:rPr>
              <a:t>Free option: </a:t>
            </a:r>
            <a:pPr indent="0" marL="0">
              <a:buNone/>
            </a:pPr>
            <a:r>
              <a:rPr lang="en-US" sz="950" dirty="0">
                <a:solidFill>
                  <a:srgbClr val="2B2B3A"/>
                </a:solidFill>
                <a:latin typeface="Arial" pitchFamily="34" charset="0"/>
                <a:ea typeface="Arial" pitchFamily="34" charset="-122"/>
                <a:cs typeface="Arial" pitchFamily="34" charset="-120"/>
              </a:rPr>
              <a:t>joint posts with Bank AL Habib's own Instagram (about 110,000 followers).</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logo_light.png">    </p:cNvPr>
          <p:cNvPicPr>
            <a:picLocks noChangeAspect="1"/>
          </p:cNvPicPr>
          <p:nvPr/>
        </p:nvPicPr>
        <p:blipFill>
          <a:blip r:embed="rId1"/>
          <a:stretch>
            <a:fillRect/>
          </a:stretch>
        </p:blipFill>
        <p:spPr>
          <a:xfrm>
            <a:off x="7882128" y="164592"/>
            <a:ext cx="896112" cy="475488"/>
          </a:xfrm>
          <a:prstGeom prst="rect">
            <a:avLst/>
          </a:prstGeom>
        </p:spPr>
      </p:pic>
      <p:pic>
        <p:nvPicPr>
          <p:cNvPr id="3" name="Image 1" descr="corner_t.png">    </p:cNvPr>
          <p:cNvPicPr>
            <a:picLocks noChangeAspect="1"/>
          </p:cNvPicPr>
          <p:nvPr/>
        </p:nvPicPr>
        <p:blipFill>
          <a:blip r:embed="rId2"/>
          <a:stretch>
            <a:fillRect/>
          </a:stretch>
        </p:blipFill>
        <p:spPr>
          <a:xfrm>
            <a:off x="8138160" y="4553712"/>
            <a:ext cx="1005840" cy="726948"/>
          </a:xfrm>
          <a:prstGeom prst="rect">
            <a:avLst/>
          </a:prstGeom>
        </p:spPr>
      </p:pic>
      <p:sp>
        <p:nvSpPr>
          <p:cNvPr id="4" name="Text 0"/>
          <p:cNvSpPr txBox="1"/>
          <p:nvPr/>
        </p:nvSpPr>
        <p:spPr>
          <a:xfrm>
            <a:off x="457200" y="228600"/>
            <a:ext cx="7223760" cy="548640"/>
          </a:xfrm>
          <a:prstGeom prst="rect">
            <a:avLst/>
          </a:prstGeom>
          <a:noFill/>
          <a:ln/>
        </p:spPr>
        <p:txBody>
          <a:bodyPr wrap="square" lIns="0" tIns="0" rIns="0" bIns="0" rtlCol="0" anchor="ctr"/>
          <a:lstStyle/>
          <a:p>
            <a:pPr indent="0" marL="0">
              <a:buNone/>
            </a:pPr>
            <a:r>
              <a:rPr lang="en-US" sz="2400" b="1" dirty="0">
                <a:solidFill>
                  <a:srgbClr val="440973"/>
                </a:solidFill>
                <a:latin typeface="Arial" pitchFamily="34" charset="0"/>
                <a:ea typeface="Arial" pitchFamily="34" charset="-122"/>
                <a:cs typeface="Arial" pitchFamily="34" charset="-120"/>
              </a:rPr>
              <a:t>Turning sign-ups into funded accounts</a:t>
            </a:r>
            <a:endParaRPr lang="en-US" sz="2400" dirty="0"/>
          </a:p>
        </p:txBody>
      </p:sp>
      <p:sp>
        <p:nvSpPr>
          <p:cNvPr id="5" name="Text 1"/>
          <p:cNvSpPr txBox="1"/>
          <p:nvPr/>
        </p:nvSpPr>
        <p:spPr>
          <a:xfrm>
            <a:off x="457200" y="868680"/>
            <a:ext cx="7498080" cy="411480"/>
          </a:xfrm>
          <a:prstGeom prst="rect">
            <a:avLst/>
          </a:prstGeom>
          <a:noFill/>
          <a:ln/>
        </p:spPr>
        <p:txBody>
          <a:bodyPr wrap="square" lIns="0" tIns="0" rIns="0" bIns="0" rtlCol="0" anchor="t"/>
          <a:lstStyle/>
          <a:p>
            <a:pPr indent="0" marL="0">
              <a:buNone/>
            </a:pPr>
            <a:r>
              <a:rPr lang="en-US" sz="1100" dirty="0">
                <a:solidFill>
                  <a:srgbClr val="2B2B3A"/>
                </a:solidFill>
                <a:latin typeface="Arial" pitchFamily="34" charset="0"/>
                <a:ea typeface="Arial" pitchFamily="34" charset="-122"/>
                <a:cs typeface="Arial" pitchFamily="34" charset="-120"/>
              </a:rPr>
              <a:t>Most people who download an investment app never put money in. These are the changes we will test, one at a time, during the Instagram test.</a:t>
            </a:r>
            <a:endParaRPr lang="en-US" sz="1100" dirty="0"/>
          </a:p>
        </p:txBody>
      </p:sp>
      <p:sp>
        <p:nvSpPr>
          <p:cNvPr id="6" name="Shape 2"/>
          <p:cNvSpPr/>
          <p:nvPr/>
        </p:nvSpPr>
        <p:spPr>
          <a:xfrm>
            <a:off x="457200" y="1417320"/>
            <a:ext cx="3657600" cy="960120"/>
          </a:xfrm>
          <a:prstGeom prst="roundRect">
            <a:avLst>
              <a:gd name="adj" fmla="val 7619"/>
            </a:avLst>
          </a:prstGeom>
          <a:solidFill>
            <a:srgbClr val="EEF6DC"/>
          </a:solidFill>
          <a:ln w="12700">
            <a:solidFill>
              <a:srgbClr val="EEF6DC"/>
            </a:solidFill>
            <a:prstDash val="solid"/>
          </a:ln>
        </p:spPr>
      </p:sp>
      <p:sp>
        <p:nvSpPr>
          <p:cNvPr id="7" name="Shape 3"/>
          <p:cNvSpPr/>
          <p:nvPr/>
        </p:nvSpPr>
        <p:spPr>
          <a:xfrm>
            <a:off x="594360" y="1645920"/>
            <a:ext cx="502920" cy="502920"/>
          </a:xfrm>
          <a:prstGeom prst="ellipse">
            <a:avLst/>
          </a:prstGeom>
          <a:solidFill>
            <a:srgbClr val="4F7A00"/>
          </a:solidFill>
          <a:ln w="12700">
            <a:solidFill>
              <a:srgbClr val="4F7A00"/>
            </a:solidFill>
            <a:prstDash val="solid"/>
          </a:ln>
        </p:spPr>
      </p:sp>
      <p:pic>
        <p:nvPicPr>
          <p:cNvPr id="8" name="Image 2" descr="preencoded.png">    </p:cNvPr>
          <p:cNvPicPr>
            <a:picLocks noChangeAspect="1"/>
          </p:cNvPicPr>
          <p:nvPr/>
        </p:nvPicPr>
        <p:blipFill>
          <a:blip r:embed="rId3"/>
          <a:stretch>
            <a:fillRect/>
          </a:stretch>
        </p:blipFill>
        <p:spPr>
          <a:xfrm>
            <a:off x="725119" y="1776679"/>
            <a:ext cx="241402" cy="241402"/>
          </a:xfrm>
          <a:prstGeom prst="rect">
            <a:avLst/>
          </a:prstGeom>
        </p:spPr>
      </p:pic>
      <p:sp>
        <p:nvSpPr>
          <p:cNvPr id="9" name="Text 4"/>
          <p:cNvSpPr txBox="1"/>
          <p:nvPr/>
        </p:nvSpPr>
        <p:spPr>
          <a:xfrm>
            <a:off x="1234440" y="1508760"/>
            <a:ext cx="2788920" cy="274320"/>
          </a:xfrm>
          <a:prstGeom prst="rect">
            <a:avLst/>
          </a:prstGeom>
          <a:noFill/>
          <a:ln/>
        </p:spPr>
        <p:txBody>
          <a:bodyPr wrap="square" lIns="0" tIns="0" rIns="0" bIns="0" rtlCol="0" anchor="t"/>
          <a:lstStyle/>
          <a:p>
            <a:pPr indent="0" marL="0">
              <a:buNone/>
            </a:pPr>
            <a:r>
              <a:rPr lang="en-US" sz="1100" b="1" dirty="0">
                <a:solidFill>
                  <a:srgbClr val="440973"/>
                </a:solidFill>
                <a:latin typeface="Arial" pitchFamily="34" charset="0"/>
                <a:ea typeface="Arial" pitchFamily="34" charset="-122"/>
                <a:cs typeface="Arial" pitchFamily="34" charset="-120"/>
              </a:rPr>
              <a:t>WhatsApp help to finish sign-up</a:t>
            </a:r>
            <a:endParaRPr lang="en-US" sz="1100" dirty="0"/>
          </a:p>
        </p:txBody>
      </p:sp>
      <p:sp>
        <p:nvSpPr>
          <p:cNvPr id="10" name="Text 5"/>
          <p:cNvSpPr txBox="1"/>
          <p:nvPr/>
        </p:nvSpPr>
        <p:spPr>
          <a:xfrm>
            <a:off x="1234440" y="1801368"/>
            <a:ext cx="2788920" cy="530352"/>
          </a:xfrm>
          <a:prstGeom prst="rect">
            <a:avLst/>
          </a:prstGeom>
          <a:noFill/>
          <a:ln/>
        </p:spPr>
        <p:txBody>
          <a:bodyPr wrap="square" lIns="0" tIns="0" rIns="0" bIns="0" rtlCol="0" anchor="t"/>
          <a:lstStyle/>
          <a:p>
            <a:pPr indent="0" marL="0">
              <a:buNone/>
            </a:pPr>
            <a:r>
              <a:rPr lang="en-US" sz="950" dirty="0">
                <a:solidFill>
                  <a:srgbClr val="2B2B3A"/>
                </a:solidFill>
                <a:latin typeface="Arial" pitchFamily="34" charset="0"/>
                <a:ea typeface="Arial" pitchFamily="34" charset="-122"/>
                <a:cs typeface="Arial" pitchFamily="34" charset="-120"/>
              </a:rPr>
              <a:t>Ads open a WhatsApp chat; a real person guides them through account opening.</a:t>
            </a:r>
            <a:endParaRPr lang="en-US" sz="950" dirty="0"/>
          </a:p>
        </p:txBody>
      </p:sp>
      <p:sp>
        <p:nvSpPr>
          <p:cNvPr id="11" name="Shape 6"/>
          <p:cNvSpPr/>
          <p:nvPr/>
        </p:nvSpPr>
        <p:spPr>
          <a:xfrm>
            <a:off x="4251960" y="1417320"/>
            <a:ext cx="3657600" cy="960120"/>
          </a:xfrm>
          <a:prstGeom prst="roundRect">
            <a:avLst>
              <a:gd name="adj" fmla="val 7619"/>
            </a:avLst>
          </a:prstGeom>
          <a:solidFill>
            <a:srgbClr val="EEF6DC"/>
          </a:solidFill>
          <a:ln w="12700">
            <a:solidFill>
              <a:srgbClr val="EEF6DC"/>
            </a:solidFill>
            <a:prstDash val="solid"/>
          </a:ln>
        </p:spPr>
      </p:sp>
      <p:sp>
        <p:nvSpPr>
          <p:cNvPr id="12" name="Shape 7"/>
          <p:cNvSpPr/>
          <p:nvPr/>
        </p:nvSpPr>
        <p:spPr>
          <a:xfrm>
            <a:off x="4389120" y="1645920"/>
            <a:ext cx="502920" cy="502920"/>
          </a:xfrm>
          <a:prstGeom prst="ellipse">
            <a:avLst/>
          </a:prstGeom>
          <a:solidFill>
            <a:srgbClr val="4F7A00"/>
          </a:solidFill>
          <a:ln w="12700">
            <a:solidFill>
              <a:srgbClr val="4F7A00"/>
            </a:solidFill>
            <a:prstDash val="solid"/>
          </a:ln>
        </p:spPr>
      </p:sp>
      <p:pic>
        <p:nvPicPr>
          <p:cNvPr id="13" name="Image 3" descr="preencoded.png">    </p:cNvPr>
          <p:cNvPicPr>
            <a:picLocks noChangeAspect="1"/>
          </p:cNvPicPr>
          <p:nvPr/>
        </p:nvPicPr>
        <p:blipFill>
          <a:blip r:embed="rId4"/>
          <a:stretch>
            <a:fillRect/>
          </a:stretch>
        </p:blipFill>
        <p:spPr>
          <a:xfrm>
            <a:off x="4519879" y="1776679"/>
            <a:ext cx="241402" cy="241402"/>
          </a:xfrm>
          <a:prstGeom prst="rect">
            <a:avLst/>
          </a:prstGeom>
        </p:spPr>
      </p:pic>
      <p:sp>
        <p:nvSpPr>
          <p:cNvPr id="14" name="Text 8"/>
          <p:cNvSpPr txBox="1"/>
          <p:nvPr/>
        </p:nvSpPr>
        <p:spPr>
          <a:xfrm>
            <a:off x="5029200" y="1508760"/>
            <a:ext cx="2788920" cy="274320"/>
          </a:xfrm>
          <a:prstGeom prst="rect">
            <a:avLst/>
          </a:prstGeom>
          <a:noFill/>
          <a:ln/>
        </p:spPr>
        <p:txBody>
          <a:bodyPr wrap="square" lIns="0" tIns="0" rIns="0" bIns="0" rtlCol="0" anchor="t"/>
          <a:lstStyle/>
          <a:p>
            <a:pPr indent="0" marL="0">
              <a:buNone/>
            </a:pPr>
            <a:r>
              <a:rPr lang="en-US" sz="1100" b="1" dirty="0">
                <a:solidFill>
                  <a:srgbClr val="440973"/>
                </a:solidFill>
                <a:latin typeface="Arial" pitchFamily="34" charset="0"/>
                <a:ea typeface="Arial" pitchFamily="34" charset="-122"/>
                <a:cs typeface="Arial" pitchFamily="34" charset="-120"/>
              </a:rPr>
              <a:t>Follow-up for unfinished sign-ups</a:t>
            </a:r>
            <a:endParaRPr lang="en-US" sz="1100" dirty="0"/>
          </a:p>
        </p:txBody>
      </p:sp>
      <p:sp>
        <p:nvSpPr>
          <p:cNvPr id="15" name="Text 9"/>
          <p:cNvSpPr txBox="1"/>
          <p:nvPr/>
        </p:nvSpPr>
        <p:spPr>
          <a:xfrm>
            <a:off x="5029200" y="1801368"/>
            <a:ext cx="2788920" cy="530352"/>
          </a:xfrm>
          <a:prstGeom prst="rect">
            <a:avLst/>
          </a:prstGeom>
          <a:noFill/>
          <a:ln/>
        </p:spPr>
        <p:txBody>
          <a:bodyPr wrap="square" lIns="0" tIns="0" rIns="0" bIns="0" rtlCol="0" anchor="t"/>
          <a:lstStyle/>
          <a:p>
            <a:pPr indent="0" marL="0">
              <a:buNone/>
            </a:pPr>
            <a:r>
              <a:rPr lang="en-US" sz="950" dirty="0">
                <a:solidFill>
                  <a:srgbClr val="2B2B3A"/>
                </a:solidFill>
                <a:latin typeface="Arial" pitchFamily="34" charset="0"/>
                <a:ea typeface="Arial" pitchFamily="34" charset="-122"/>
                <a:cs typeface="Arial" pitchFamily="34" charset="-120"/>
              </a:rPr>
              <a:t>WhatsApp, SMS and email reminders at 1 hour, 1 day and 3 days.</a:t>
            </a:r>
            <a:endParaRPr lang="en-US" sz="950" dirty="0"/>
          </a:p>
        </p:txBody>
      </p:sp>
      <p:sp>
        <p:nvSpPr>
          <p:cNvPr id="16" name="Shape 10"/>
          <p:cNvSpPr/>
          <p:nvPr/>
        </p:nvSpPr>
        <p:spPr>
          <a:xfrm>
            <a:off x="457200" y="2514600"/>
            <a:ext cx="3657600" cy="960120"/>
          </a:xfrm>
          <a:prstGeom prst="roundRect">
            <a:avLst>
              <a:gd name="adj" fmla="val 7619"/>
            </a:avLst>
          </a:prstGeom>
          <a:solidFill>
            <a:srgbClr val="F3EEF8"/>
          </a:solidFill>
          <a:ln w="12700">
            <a:solidFill>
              <a:srgbClr val="F3EEF8"/>
            </a:solidFill>
            <a:prstDash val="solid"/>
          </a:ln>
        </p:spPr>
      </p:sp>
      <p:sp>
        <p:nvSpPr>
          <p:cNvPr id="17" name="Shape 11"/>
          <p:cNvSpPr/>
          <p:nvPr/>
        </p:nvSpPr>
        <p:spPr>
          <a:xfrm>
            <a:off x="594360" y="2743200"/>
            <a:ext cx="502920" cy="502920"/>
          </a:xfrm>
          <a:prstGeom prst="ellipse">
            <a:avLst/>
          </a:prstGeom>
          <a:solidFill>
            <a:srgbClr val="440973"/>
          </a:solidFill>
          <a:ln w="12700">
            <a:solidFill>
              <a:srgbClr val="440973"/>
            </a:solidFill>
            <a:prstDash val="solid"/>
          </a:ln>
        </p:spPr>
      </p:sp>
      <p:pic>
        <p:nvPicPr>
          <p:cNvPr id="18" name="Image 4" descr="preencoded.png">    </p:cNvPr>
          <p:cNvPicPr>
            <a:picLocks noChangeAspect="1"/>
          </p:cNvPicPr>
          <p:nvPr/>
        </p:nvPicPr>
        <p:blipFill>
          <a:blip r:embed="rId5"/>
          <a:stretch>
            <a:fillRect/>
          </a:stretch>
        </p:blipFill>
        <p:spPr>
          <a:xfrm>
            <a:off x="725119" y="2873959"/>
            <a:ext cx="241402" cy="241402"/>
          </a:xfrm>
          <a:prstGeom prst="rect">
            <a:avLst/>
          </a:prstGeom>
        </p:spPr>
      </p:pic>
      <p:sp>
        <p:nvSpPr>
          <p:cNvPr id="19" name="Text 12"/>
          <p:cNvSpPr txBox="1"/>
          <p:nvPr/>
        </p:nvSpPr>
        <p:spPr>
          <a:xfrm>
            <a:off x="1234440" y="2606040"/>
            <a:ext cx="2788920" cy="274320"/>
          </a:xfrm>
          <a:prstGeom prst="rect">
            <a:avLst/>
          </a:prstGeom>
          <a:noFill/>
          <a:ln/>
        </p:spPr>
        <p:txBody>
          <a:bodyPr wrap="square" lIns="0" tIns="0" rIns="0" bIns="0" rtlCol="0" anchor="t"/>
          <a:lstStyle/>
          <a:p>
            <a:pPr indent="0" marL="0">
              <a:buNone/>
            </a:pPr>
            <a:r>
              <a:rPr lang="en-US" sz="1100" b="1" dirty="0">
                <a:solidFill>
                  <a:srgbClr val="440973"/>
                </a:solidFill>
                <a:latin typeface="Arial" pitchFamily="34" charset="0"/>
                <a:ea typeface="Arial" pitchFamily="34" charset="-122"/>
                <a:cs typeface="Arial" pitchFamily="34" charset="-120"/>
              </a:rPr>
              <a:t>First-deposit reward</a:t>
            </a:r>
            <a:endParaRPr lang="en-US" sz="1100" dirty="0"/>
          </a:p>
        </p:txBody>
      </p:sp>
      <p:sp>
        <p:nvSpPr>
          <p:cNvPr id="20" name="Text 13"/>
          <p:cNvSpPr txBox="1"/>
          <p:nvPr/>
        </p:nvSpPr>
        <p:spPr>
          <a:xfrm>
            <a:off x="1234440" y="2898648"/>
            <a:ext cx="2788920" cy="530352"/>
          </a:xfrm>
          <a:prstGeom prst="rect">
            <a:avLst/>
          </a:prstGeom>
          <a:noFill/>
          <a:ln/>
        </p:spPr>
        <p:txBody>
          <a:bodyPr wrap="square" lIns="0" tIns="0" rIns="0" bIns="0" rtlCol="0" anchor="t"/>
          <a:lstStyle/>
          <a:p>
            <a:pPr indent="0" marL="0">
              <a:buNone/>
            </a:pPr>
            <a:r>
              <a:rPr lang="en-US" sz="950" dirty="0">
                <a:solidFill>
                  <a:srgbClr val="2B2B3A"/>
                </a:solidFill>
                <a:latin typeface="Arial" pitchFamily="34" charset="0"/>
                <a:ea typeface="Arial" pitchFamily="34" charset="-122"/>
                <a:cs typeface="Arial" pitchFamily="34" charset="-120"/>
              </a:rPr>
              <a:t>For example, no commission on the first month's trades. Needs AHCML approval.</a:t>
            </a:r>
            <a:endParaRPr lang="en-US" sz="950" dirty="0"/>
          </a:p>
        </p:txBody>
      </p:sp>
      <p:sp>
        <p:nvSpPr>
          <p:cNvPr id="21" name="Shape 14"/>
          <p:cNvSpPr/>
          <p:nvPr/>
        </p:nvSpPr>
        <p:spPr>
          <a:xfrm>
            <a:off x="4251960" y="2514600"/>
            <a:ext cx="3657600" cy="960120"/>
          </a:xfrm>
          <a:prstGeom prst="roundRect">
            <a:avLst>
              <a:gd name="adj" fmla="val 7619"/>
            </a:avLst>
          </a:prstGeom>
          <a:solidFill>
            <a:srgbClr val="F3EEF8"/>
          </a:solidFill>
          <a:ln w="12700">
            <a:solidFill>
              <a:srgbClr val="F3EEF8"/>
            </a:solidFill>
            <a:prstDash val="solid"/>
          </a:ln>
        </p:spPr>
      </p:sp>
      <p:sp>
        <p:nvSpPr>
          <p:cNvPr id="22" name="Shape 15"/>
          <p:cNvSpPr/>
          <p:nvPr/>
        </p:nvSpPr>
        <p:spPr>
          <a:xfrm>
            <a:off x="4389120" y="2743200"/>
            <a:ext cx="502920" cy="502920"/>
          </a:xfrm>
          <a:prstGeom prst="ellipse">
            <a:avLst/>
          </a:prstGeom>
          <a:solidFill>
            <a:srgbClr val="440973"/>
          </a:solidFill>
          <a:ln w="12700">
            <a:solidFill>
              <a:srgbClr val="440973"/>
            </a:solidFill>
            <a:prstDash val="solid"/>
          </a:ln>
        </p:spPr>
      </p:sp>
      <p:pic>
        <p:nvPicPr>
          <p:cNvPr id="23" name="Image 5" descr="preencoded.png">    </p:cNvPr>
          <p:cNvPicPr>
            <a:picLocks noChangeAspect="1"/>
          </p:cNvPicPr>
          <p:nvPr/>
        </p:nvPicPr>
        <p:blipFill>
          <a:blip r:embed="rId6"/>
          <a:stretch>
            <a:fillRect/>
          </a:stretch>
        </p:blipFill>
        <p:spPr>
          <a:xfrm>
            <a:off x="4519879" y="2873959"/>
            <a:ext cx="241402" cy="241402"/>
          </a:xfrm>
          <a:prstGeom prst="rect">
            <a:avLst/>
          </a:prstGeom>
        </p:spPr>
      </p:pic>
      <p:sp>
        <p:nvSpPr>
          <p:cNvPr id="24" name="Text 16"/>
          <p:cNvSpPr txBox="1"/>
          <p:nvPr/>
        </p:nvSpPr>
        <p:spPr>
          <a:xfrm>
            <a:off x="5029200" y="2606040"/>
            <a:ext cx="2788920" cy="274320"/>
          </a:xfrm>
          <a:prstGeom prst="rect">
            <a:avLst/>
          </a:prstGeom>
          <a:noFill/>
          <a:ln/>
        </p:spPr>
        <p:txBody>
          <a:bodyPr wrap="square" lIns="0" tIns="0" rIns="0" bIns="0" rtlCol="0" anchor="t"/>
          <a:lstStyle/>
          <a:p>
            <a:pPr indent="0" marL="0">
              <a:buNone/>
            </a:pPr>
            <a:r>
              <a:rPr lang="en-US" sz="1100" b="1" dirty="0">
                <a:solidFill>
                  <a:srgbClr val="440973"/>
                </a:solidFill>
                <a:latin typeface="Arial" pitchFamily="34" charset="0"/>
                <a:ea typeface="Arial" pitchFamily="34" charset="-122"/>
                <a:cs typeface="Arial" pitchFamily="34" charset="-120"/>
              </a:rPr>
              <a:t>Simple funding guide</a:t>
            </a:r>
            <a:endParaRPr lang="en-US" sz="1100" dirty="0"/>
          </a:p>
        </p:txBody>
      </p:sp>
      <p:sp>
        <p:nvSpPr>
          <p:cNvPr id="25" name="Text 17"/>
          <p:cNvSpPr txBox="1"/>
          <p:nvPr/>
        </p:nvSpPr>
        <p:spPr>
          <a:xfrm>
            <a:off x="5029200" y="2898648"/>
            <a:ext cx="2788920" cy="530352"/>
          </a:xfrm>
          <a:prstGeom prst="rect">
            <a:avLst/>
          </a:prstGeom>
          <a:noFill/>
          <a:ln/>
        </p:spPr>
        <p:txBody>
          <a:bodyPr wrap="square" lIns="0" tIns="0" rIns="0" bIns="0" rtlCol="0" anchor="t"/>
          <a:lstStyle/>
          <a:p>
            <a:pPr indent="0" marL="0">
              <a:buNone/>
            </a:pPr>
            <a:r>
              <a:rPr lang="en-US" sz="950" dirty="0">
                <a:solidFill>
                  <a:srgbClr val="2B2B3A"/>
                </a:solidFill>
                <a:latin typeface="Arial" pitchFamily="34" charset="0"/>
                <a:ea typeface="Arial" pitchFamily="34" charset="-122"/>
                <a:cs typeface="Arial" pitchFamily="34" charset="-120"/>
              </a:rPr>
              <a:t>Step-by-step: how to transfer money in by Raast or bank transfer in 2 minutes.</a:t>
            </a:r>
            <a:endParaRPr lang="en-US" sz="950" dirty="0"/>
          </a:p>
        </p:txBody>
      </p:sp>
      <p:sp>
        <p:nvSpPr>
          <p:cNvPr id="26" name="Shape 18"/>
          <p:cNvSpPr/>
          <p:nvPr/>
        </p:nvSpPr>
        <p:spPr>
          <a:xfrm>
            <a:off x="457200" y="3611880"/>
            <a:ext cx="3657600" cy="960120"/>
          </a:xfrm>
          <a:prstGeom prst="roundRect">
            <a:avLst>
              <a:gd name="adj" fmla="val 7619"/>
            </a:avLst>
          </a:prstGeom>
          <a:solidFill>
            <a:srgbClr val="F3EEF8"/>
          </a:solidFill>
          <a:ln w="12700">
            <a:solidFill>
              <a:srgbClr val="F3EEF8"/>
            </a:solidFill>
            <a:prstDash val="solid"/>
          </a:ln>
        </p:spPr>
      </p:sp>
      <p:sp>
        <p:nvSpPr>
          <p:cNvPr id="27" name="Shape 19"/>
          <p:cNvSpPr/>
          <p:nvPr/>
        </p:nvSpPr>
        <p:spPr>
          <a:xfrm>
            <a:off x="594360" y="3840480"/>
            <a:ext cx="502920" cy="502920"/>
          </a:xfrm>
          <a:prstGeom prst="ellipse">
            <a:avLst/>
          </a:prstGeom>
          <a:solidFill>
            <a:srgbClr val="440973"/>
          </a:solidFill>
          <a:ln w="12700">
            <a:solidFill>
              <a:srgbClr val="440973"/>
            </a:solidFill>
            <a:prstDash val="solid"/>
          </a:ln>
        </p:spPr>
      </p:sp>
      <p:pic>
        <p:nvPicPr>
          <p:cNvPr id="28" name="Image 6" descr="preencoded.png">    </p:cNvPr>
          <p:cNvPicPr>
            <a:picLocks noChangeAspect="1"/>
          </p:cNvPicPr>
          <p:nvPr/>
        </p:nvPicPr>
        <p:blipFill>
          <a:blip r:embed="rId7"/>
          <a:stretch>
            <a:fillRect/>
          </a:stretch>
        </p:blipFill>
        <p:spPr>
          <a:xfrm>
            <a:off x="725119" y="3971239"/>
            <a:ext cx="241402" cy="241402"/>
          </a:xfrm>
          <a:prstGeom prst="rect">
            <a:avLst/>
          </a:prstGeom>
        </p:spPr>
      </p:pic>
      <p:sp>
        <p:nvSpPr>
          <p:cNvPr id="29" name="Text 20"/>
          <p:cNvSpPr txBox="1"/>
          <p:nvPr/>
        </p:nvSpPr>
        <p:spPr>
          <a:xfrm>
            <a:off x="1234440" y="3703320"/>
            <a:ext cx="2788920" cy="274320"/>
          </a:xfrm>
          <a:prstGeom prst="rect">
            <a:avLst/>
          </a:prstGeom>
          <a:noFill/>
          <a:ln/>
        </p:spPr>
        <p:txBody>
          <a:bodyPr wrap="square" lIns="0" tIns="0" rIns="0" bIns="0" rtlCol="0" anchor="t"/>
          <a:lstStyle/>
          <a:p>
            <a:pPr indent="0" marL="0">
              <a:buNone/>
            </a:pPr>
            <a:r>
              <a:rPr lang="en-US" sz="1100" b="1" dirty="0">
                <a:solidFill>
                  <a:srgbClr val="440973"/>
                </a:solidFill>
                <a:latin typeface="Arial" pitchFamily="34" charset="0"/>
                <a:ea typeface="Arial" pitchFamily="34" charset="-122"/>
                <a:cs typeface="Arial" pitchFamily="34" charset="-120"/>
              </a:rPr>
              <a:t>Weekly Urdu beginner session</a:t>
            </a:r>
            <a:endParaRPr lang="en-US" sz="1100" dirty="0"/>
          </a:p>
        </p:txBody>
      </p:sp>
      <p:sp>
        <p:nvSpPr>
          <p:cNvPr id="30" name="Text 21"/>
          <p:cNvSpPr txBox="1"/>
          <p:nvPr/>
        </p:nvSpPr>
        <p:spPr>
          <a:xfrm>
            <a:off x="1234440" y="3995928"/>
            <a:ext cx="2788920" cy="530352"/>
          </a:xfrm>
          <a:prstGeom prst="rect">
            <a:avLst/>
          </a:prstGeom>
          <a:noFill/>
          <a:ln/>
        </p:spPr>
        <p:txBody>
          <a:bodyPr wrap="square" lIns="0" tIns="0" rIns="0" bIns="0" rtlCol="0" anchor="t"/>
          <a:lstStyle/>
          <a:p>
            <a:pPr indent="0" marL="0">
              <a:buNone/>
            </a:pPr>
            <a:r>
              <a:rPr lang="en-US" sz="950" dirty="0">
                <a:solidFill>
                  <a:srgbClr val="2B2B3A"/>
                </a:solidFill>
                <a:latin typeface="Arial" pitchFamily="34" charset="0"/>
                <a:ea typeface="Arial" pitchFamily="34" charset="-122"/>
                <a:cs typeface="Arial" pitchFamily="34" charset="-120"/>
              </a:rPr>
              <a:t>Live on Instagram: how to place a first trade, answered live.</a:t>
            </a:r>
            <a:endParaRPr lang="en-US" sz="950" dirty="0"/>
          </a:p>
        </p:txBody>
      </p:sp>
      <p:sp>
        <p:nvSpPr>
          <p:cNvPr id="31" name="Shape 22"/>
          <p:cNvSpPr/>
          <p:nvPr/>
        </p:nvSpPr>
        <p:spPr>
          <a:xfrm>
            <a:off x="4251960" y="3611880"/>
            <a:ext cx="3657600" cy="960120"/>
          </a:xfrm>
          <a:prstGeom prst="roundRect">
            <a:avLst>
              <a:gd name="adj" fmla="val 7619"/>
            </a:avLst>
          </a:prstGeom>
          <a:solidFill>
            <a:srgbClr val="F3EEF8"/>
          </a:solidFill>
          <a:ln w="12700">
            <a:solidFill>
              <a:srgbClr val="F3EEF8"/>
            </a:solidFill>
            <a:prstDash val="solid"/>
          </a:ln>
        </p:spPr>
      </p:sp>
      <p:sp>
        <p:nvSpPr>
          <p:cNvPr id="32" name="Shape 23"/>
          <p:cNvSpPr/>
          <p:nvPr/>
        </p:nvSpPr>
        <p:spPr>
          <a:xfrm>
            <a:off x="4389120" y="3840480"/>
            <a:ext cx="502920" cy="502920"/>
          </a:xfrm>
          <a:prstGeom prst="ellipse">
            <a:avLst/>
          </a:prstGeom>
          <a:solidFill>
            <a:srgbClr val="440973"/>
          </a:solidFill>
          <a:ln w="12700">
            <a:solidFill>
              <a:srgbClr val="440973"/>
            </a:solidFill>
            <a:prstDash val="solid"/>
          </a:ln>
        </p:spPr>
      </p:sp>
      <p:pic>
        <p:nvPicPr>
          <p:cNvPr id="33" name="Image 7" descr="preencoded.png">    </p:cNvPr>
          <p:cNvPicPr>
            <a:picLocks noChangeAspect="1"/>
          </p:cNvPicPr>
          <p:nvPr/>
        </p:nvPicPr>
        <p:blipFill>
          <a:blip r:embed="rId8"/>
          <a:stretch>
            <a:fillRect/>
          </a:stretch>
        </p:blipFill>
        <p:spPr>
          <a:xfrm>
            <a:off x="4519879" y="3971239"/>
            <a:ext cx="241402" cy="241402"/>
          </a:xfrm>
          <a:prstGeom prst="rect">
            <a:avLst/>
          </a:prstGeom>
        </p:spPr>
      </p:pic>
      <p:sp>
        <p:nvSpPr>
          <p:cNvPr id="34" name="Text 24"/>
          <p:cNvSpPr txBox="1"/>
          <p:nvPr/>
        </p:nvSpPr>
        <p:spPr>
          <a:xfrm>
            <a:off x="5029200" y="3703320"/>
            <a:ext cx="2788920" cy="274320"/>
          </a:xfrm>
          <a:prstGeom prst="rect">
            <a:avLst/>
          </a:prstGeom>
          <a:noFill/>
          <a:ln/>
        </p:spPr>
        <p:txBody>
          <a:bodyPr wrap="square" lIns="0" tIns="0" rIns="0" bIns="0" rtlCol="0" anchor="t"/>
          <a:lstStyle/>
          <a:p>
            <a:pPr indent="0" marL="0">
              <a:buNone/>
            </a:pPr>
            <a:r>
              <a:rPr lang="en-US" sz="1100" b="1" dirty="0">
                <a:solidFill>
                  <a:srgbClr val="440973"/>
                </a:solidFill>
                <a:latin typeface="Arial" pitchFamily="34" charset="0"/>
                <a:ea typeface="Arial" pitchFamily="34" charset="-122"/>
                <a:cs typeface="Arial" pitchFamily="34" charset="-120"/>
              </a:rPr>
              <a:t>Refer a friend</a:t>
            </a:r>
            <a:endParaRPr lang="en-US" sz="1100" dirty="0"/>
          </a:p>
        </p:txBody>
      </p:sp>
      <p:sp>
        <p:nvSpPr>
          <p:cNvPr id="35" name="Text 25"/>
          <p:cNvSpPr txBox="1"/>
          <p:nvPr/>
        </p:nvSpPr>
        <p:spPr>
          <a:xfrm>
            <a:off x="5029200" y="3995928"/>
            <a:ext cx="2788920" cy="530352"/>
          </a:xfrm>
          <a:prstGeom prst="rect">
            <a:avLst/>
          </a:prstGeom>
          <a:noFill/>
          <a:ln/>
        </p:spPr>
        <p:txBody>
          <a:bodyPr wrap="square" lIns="0" tIns="0" rIns="0" bIns="0" rtlCol="0" anchor="t"/>
          <a:lstStyle/>
          <a:p>
            <a:pPr indent="0" marL="0">
              <a:buNone/>
            </a:pPr>
            <a:r>
              <a:rPr lang="en-US" sz="950" dirty="0">
                <a:solidFill>
                  <a:srgbClr val="2B2B3A"/>
                </a:solidFill>
                <a:latin typeface="Arial" pitchFamily="34" charset="0"/>
                <a:ea typeface="Arial" pitchFamily="34" charset="-122"/>
                <a:cs typeface="Arial" pitchFamily="34" charset="-120"/>
              </a:rPr>
              <a:t>A reward for both people once the friend funds their account.</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logo_light.png">    </p:cNvPr>
          <p:cNvPicPr>
            <a:picLocks noChangeAspect="1"/>
          </p:cNvPicPr>
          <p:nvPr/>
        </p:nvPicPr>
        <p:blipFill>
          <a:blip r:embed="rId1"/>
          <a:stretch>
            <a:fillRect/>
          </a:stretch>
        </p:blipFill>
        <p:spPr>
          <a:xfrm>
            <a:off x="7882128" y="164592"/>
            <a:ext cx="896112" cy="475488"/>
          </a:xfrm>
          <a:prstGeom prst="rect">
            <a:avLst/>
          </a:prstGeom>
        </p:spPr>
      </p:pic>
      <p:pic>
        <p:nvPicPr>
          <p:cNvPr id="3" name="Image 1" descr="corner_t.png">    </p:cNvPr>
          <p:cNvPicPr>
            <a:picLocks noChangeAspect="1"/>
          </p:cNvPicPr>
          <p:nvPr/>
        </p:nvPicPr>
        <p:blipFill>
          <a:blip r:embed="rId2"/>
          <a:stretch>
            <a:fillRect/>
          </a:stretch>
        </p:blipFill>
        <p:spPr>
          <a:xfrm>
            <a:off x="8138160" y="4553712"/>
            <a:ext cx="1005840" cy="726948"/>
          </a:xfrm>
          <a:prstGeom prst="rect">
            <a:avLst/>
          </a:prstGeom>
        </p:spPr>
      </p:pic>
      <p:sp>
        <p:nvSpPr>
          <p:cNvPr id="4" name="Text 0"/>
          <p:cNvSpPr txBox="1"/>
          <p:nvPr/>
        </p:nvSpPr>
        <p:spPr>
          <a:xfrm>
            <a:off x="457200" y="228600"/>
            <a:ext cx="7223760" cy="548640"/>
          </a:xfrm>
          <a:prstGeom prst="rect">
            <a:avLst/>
          </a:prstGeom>
          <a:noFill/>
          <a:ln/>
        </p:spPr>
        <p:txBody>
          <a:bodyPr wrap="square" lIns="0" tIns="0" rIns="0" bIns="0" rtlCol="0" anchor="ctr"/>
          <a:lstStyle/>
          <a:p>
            <a:pPr indent="0" marL="0">
              <a:buNone/>
            </a:pPr>
            <a:r>
              <a:rPr lang="en-US" sz="2400" b="1" dirty="0">
                <a:solidFill>
                  <a:srgbClr val="440973"/>
                </a:solidFill>
                <a:latin typeface="Arial" pitchFamily="34" charset="0"/>
                <a:ea typeface="Arial" pitchFamily="34" charset="-122"/>
                <a:cs typeface="Arial" pitchFamily="34" charset="-120"/>
              </a:rPr>
              <a:t>Hummingbird's fee and introductory offer</a:t>
            </a:r>
            <a:endParaRPr lang="en-US" sz="2400" dirty="0"/>
          </a:p>
        </p:txBody>
      </p:sp>
      <p:sp>
        <p:nvSpPr>
          <p:cNvPr id="5" name="Shape 1"/>
          <p:cNvSpPr/>
          <p:nvPr/>
        </p:nvSpPr>
        <p:spPr>
          <a:xfrm>
            <a:off x="457200" y="868680"/>
            <a:ext cx="3931920" cy="3794760"/>
          </a:xfrm>
          <a:prstGeom prst="roundRect">
            <a:avLst>
              <a:gd name="adj" fmla="val 1928"/>
            </a:avLst>
          </a:prstGeom>
          <a:solidFill>
            <a:srgbClr val="F3EEF8"/>
          </a:solidFill>
          <a:ln w="12700">
            <a:solidFill>
              <a:srgbClr val="F3EEF8"/>
            </a:solidFill>
            <a:prstDash val="solid"/>
          </a:ln>
        </p:spPr>
      </p:sp>
      <p:sp>
        <p:nvSpPr>
          <p:cNvPr id="6" name="Text 2"/>
          <p:cNvSpPr txBox="1"/>
          <p:nvPr/>
        </p:nvSpPr>
        <p:spPr>
          <a:xfrm>
            <a:off x="640080" y="1005840"/>
            <a:ext cx="3566160" cy="502920"/>
          </a:xfrm>
          <a:prstGeom prst="rect">
            <a:avLst/>
          </a:prstGeom>
          <a:noFill/>
          <a:ln/>
        </p:spPr>
        <p:txBody>
          <a:bodyPr wrap="square" lIns="0" tIns="0" rIns="0" bIns="0" rtlCol="0" anchor="t"/>
          <a:lstStyle/>
          <a:p>
            <a:pPr indent="0" marL="0">
              <a:buNone/>
            </a:pPr>
            <a:r>
              <a:rPr lang="en-US" sz="2400" b="1" dirty="0">
                <a:solidFill>
                  <a:srgbClr val="440973"/>
                </a:solidFill>
                <a:latin typeface="Arial" pitchFamily="34" charset="0"/>
                <a:ea typeface="Arial" pitchFamily="34" charset="-122"/>
                <a:cs typeface="Arial" pitchFamily="34" charset="-120"/>
              </a:rPr>
              <a:t>PKR 50,000 a month</a:t>
            </a:r>
            <a:endParaRPr lang="en-US" sz="2400" dirty="0"/>
          </a:p>
        </p:txBody>
      </p:sp>
      <p:sp>
        <p:nvSpPr>
          <p:cNvPr id="7" name="Text 3"/>
          <p:cNvSpPr txBox="1"/>
          <p:nvPr/>
        </p:nvSpPr>
        <p:spPr>
          <a:xfrm>
            <a:off x="640080" y="1508760"/>
            <a:ext cx="3566160" cy="274320"/>
          </a:xfrm>
          <a:prstGeom prst="rect">
            <a:avLst/>
          </a:prstGeom>
          <a:noFill/>
          <a:ln/>
        </p:spPr>
        <p:txBody>
          <a:bodyPr wrap="square" lIns="0" tIns="0" rIns="0" bIns="0" rtlCol="0" anchor="t"/>
          <a:lstStyle/>
          <a:p>
            <a:pPr indent="0" marL="0">
              <a:buNone/>
            </a:pPr>
            <a:r>
              <a:rPr lang="en-US" sz="1100" dirty="0">
                <a:solidFill>
                  <a:srgbClr val="6B6B80"/>
                </a:solidFill>
                <a:latin typeface="Arial" pitchFamily="34" charset="0"/>
                <a:ea typeface="Arial" pitchFamily="34" charset="-122"/>
                <a:cs typeface="Arial" pitchFamily="34" charset="-120"/>
              </a:rPr>
              <a:t>PKR 600,000 a year. Covers:</a:t>
            </a:r>
            <a:endParaRPr lang="en-US" sz="1100" dirty="0"/>
          </a:p>
        </p:txBody>
      </p:sp>
      <p:pic>
        <p:nvPicPr>
          <p:cNvPr id="8" name="Image 2" descr="preencoded.png">    </p:cNvPr>
          <p:cNvPicPr>
            <a:picLocks noChangeAspect="1"/>
          </p:cNvPicPr>
          <p:nvPr/>
        </p:nvPicPr>
        <p:blipFill>
          <a:blip r:embed="rId3"/>
          <a:stretch>
            <a:fillRect/>
          </a:stretch>
        </p:blipFill>
        <p:spPr>
          <a:xfrm>
            <a:off x="640080" y="1929384"/>
            <a:ext cx="256032" cy="256032"/>
          </a:xfrm>
          <a:prstGeom prst="rect">
            <a:avLst/>
          </a:prstGeom>
        </p:spPr>
      </p:pic>
      <p:sp>
        <p:nvSpPr>
          <p:cNvPr id="9" name="Text 4"/>
          <p:cNvSpPr txBox="1"/>
          <p:nvPr/>
        </p:nvSpPr>
        <p:spPr>
          <a:xfrm>
            <a:off x="1005840" y="1874520"/>
            <a:ext cx="3246120" cy="384048"/>
          </a:xfrm>
          <a:prstGeom prst="rect">
            <a:avLst/>
          </a:prstGeom>
          <a:noFill/>
          <a:ln/>
        </p:spPr>
        <p:txBody>
          <a:bodyPr wrap="square" lIns="0" tIns="0" rIns="0" bIns="0" rtlCol="0" anchor="ctr"/>
          <a:lstStyle/>
          <a:p>
            <a:pPr indent="0" marL="0">
              <a:buNone/>
            </a:pPr>
            <a:r>
              <a:rPr lang="en-US" sz="1000" dirty="0">
                <a:solidFill>
                  <a:srgbClr val="2B2B3A"/>
                </a:solidFill>
                <a:latin typeface="Arial" pitchFamily="34" charset="0"/>
                <a:ea typeface="Arial" pitchFamily="34" charset="-122"/>
                <a:cs typeface="Arial" pitchFamily="34" charset="-120"/>
              </a:rPr>
              <a:t>Content creation and posting on Instagram, Facebook and LinkedIn</a:t>
            </a:r>
            <a:endParaRPr lang="en-US" sz="1000" dirty="0"/>
          </a:p>
        </p:txBody>
      </p:sp>
      <p:pic>
        <p:nvPicPr>
          <p:cNvPr id="10" name="Image 3" descr="preencoded.png">    </p:cNvPr>
          <p:cNvPicPr>
            <a:picLocks noChangeAspect="1"/>
          </p:cNvPicPr>
          <p:nvPr/>
        </p:nvPicPr>
        <p:blipFill>
          <a:blip r:embed="rId4"/>
          <a:stretch>
            <a:fillRect/>
          </a:stretch>
        </p:blipFill>
        <p:spPr>
          <a:xfrm>
            <a:off x="640080" y="2386584"/>
            <a:ext cx="256032" cy="256032"/>
          </a:xfrm>
          <a:prstGeom prst="rect">
            <a:avLst/>
          </a:prstGeom>
        </p:spPr>
      </p:pic>
      <p:sp>
        <p:nvSpPr>
          <p:cNvPr id="11" name="Text 5"/>
          <p:cNvSpPr txBox="1"/>
          <p:nvPr/>
        </p:nvSpPr>
        <p:spPr>
          <a:xfrm>
            <a:off x="1005840" y="2331720"/>
            <a:ext cx="3246120" cy="384048"/>
          </a:xfrm>
          <a:prstGeom prst="rect">
            <a:avLst/>
          </a:prstGeom>
          <a:noFill/>
          <a:ln/>
        </p:spPr>
        <p:txBody>
          <a:bodyPr wrap="square" lIns="0" tIns="0" rIns="0" bIns="0" rtlCol="0" anchor="ctr"/>
          <a:lstStyle/>
          <a:p>
            <a:pPr indent="0" marL="0">
              <a:buNone/>
            </a:pPr>
            <a:r>
              <a:rPr lang="en-US" sz="1000" dirty="0">
                <a:solidFill>
                  <a:srgbClr val="2B2B3A"/>
                </a:solidFill>
                <a:latin typeface="Arial" pitchFamily="34" charset="0"/>
                <a:ea typeface="Arial" pitchFamily="34" charset="-122"/>
                <a:cs typeface="Arial" pitchFamily="34" charset="-120"/>
              </a:rPr>
              <a:t>AI search optimisation, so GROW appears in AI answers</a:t>
            </a:r>
            <a:endParaRPr lang="en-US" sz="1000" dirty="0"/>
          </a:p>
        </p:txBody>
      </p:sp>
      <p:pic>
        <p:nvPicPr>
          <p:cNvPr id="12" name="Image 4" descr="preencoded.png">    </p:cNvPr>
          <p:cNvPicPr>
            <a:picLocks noChangeAspect="1"/>
          </p:cNvPicPr>
          <p:nvPr/>
        </p:nvPicPr>
        <p:blipFill>
          <a:blip r:embed="rId5"/>
          <a:stretch>
            <a:fillRect/>
          </a:stretch>
        </p:blipFill>
        <p:spPr>
          <a:xfrm>
            <a:off x="640080" y="2843784"/>
            <a:ext cx="256032" cy="256032"/>
          </a:xfrm>
          <a:prstGeom prst="rect">
            <a:avLst/>
          </a:prstGeom>
        </p:spPr>
      </p:pic>
      <p:sp>
        <p:nvSpPr>
          <p:cNvPr id="13" name="Text 6"/>
          <p:cNvSpPr txBox="1"/>
          <p:nvPr/>
        </p:nvSpPr>
        <p:spPr>
          <a:xfrm>
            <a:off x="1005840" y="2788920"/>
            <a:ext cx="3246120" cy="384048"/>
          </a:xfrm>
          <a:prstGeom prst="rect">
            <a:avLst/>
          </a:prstGeom>
          <a:noFill/>
          <a:ln/>
        </p:spPr>
        <p:txBody>
          <a:bodyPr wrap="square" lIns="0" tIns="0" rIns="0" bIns="0" rtlCol="0" anchor="ctr"/>
          <a:lstStyle/>
          <a:p>
            <a:pPr indent="0" marL="0">
              <a:buNone/>
            </a:pPr>
            <a:r>
              <a:rPr lang="en-US" sz="1000" dirty="0">
                <a:solidFill>
                  <a:srgbClr val="2B2B3A"/>
                </a:solidFill>
                <a:latin typeface="Arial" pitchFamily="34" charset="0"/>
                <a:ea typeface="Arial" pitchFamily="34" charset="-122"/>
                <a:cs typeface="Arial" pitchFamily="34" charset="-120"/>
              </a:rPr>
              <a:t>Website optimisation, including the GROW page and FAQs</a:t>
            </a:r>
            <a:endParaRPr lang="en-US" sz="1000" dirty="0"/>
          </a:p>
        </p:txBody>
      </p:sp>
      <p:pic>
        <p:nvPicPr>
          <p:cNvPr id="14" name="Image 5" descr="preencoded.png">    </p:cNvPr>
          <p:cNvPicPr>
            <a:picLocks noChangeAspect="1"/>
          </p:cNvPicPr>
          <p:nvPr/>
        </p:nvPicPr>
        <p:blipFill>
          <a:blip r:embed="rId6"/>
          <a:stretch>
            <a:fillRect/>
          </a:stretch>
        </p:blipFill>
        <p:spPr>
          <a:xfrm>
            <a:off x="640080" y="3300984"/>
            <a:ext cx="256032" cy="256032"/>
          </a:xfrm>
          <a:prstGeom prst="rect">
            <a:avLst/>
          </a:prstGeom>
        </p:spPr>
      </p:pic>
      <p:sp>
        <p:nvSpPr>
          <p:cNvPr id="15" name="Text 7"/>
          <p:cNvSpPr txBox="1"/>
          <p:nvPr/>
        </p:nvSpPr>
        <p:spPr>
          <a:xfrm>
            <a:off x="1005840" y="3246120"/>
            <a:ext cx="3246120" cy="384048"/>
          </a:xfrm>
          <a:prstGeom prst="rect">
            <a:avLst/>
          </a:prstGeom>
          <a:noFill/>
          <a:ln/>
        </p:spPr>
        <p:txBody>
          <a:bodyPr wrap="square" lIns="0" tIns="0" rIns="0" bIns="0" rtlCol="0" anchor="ctr"/>
          <a:lstStyle/>
          <a:p>
            <a:pPr indent="0" marL="0">
              <a:buNone/>
            </a:pPr>
            <a:r>
              <a:rPr lang="en-US" sz="1000" dirty="0">
                <a:solidFill>
                  <a:srgbClr val="2B2B3A"/>
                </a:solidFill>
                <a:latin typeface="Arial" pitchFamily="34" charset="0"/>
                <a:ea typeface="Arial" pitchFamily="34" charset="-122"/>
                <a:cs typeface="Arial" pitchFamily="34" charset="-120"/>
              </a:rPr>
              <a:t>Email campaigns to leads and existing clients</a:t>
            </a:r>
            <a:endParaRPr lang="en-US" sz="1000" dirty="0"/>
          </a:p>
        </p:txBody>
      </p:sp>
      <p:pic>
        <p:nvPicPr>
          <p:cNvPr id="16" name="Image 6" descr="preencoded.png">    </p:cNvPr>
          <p:cNvPicPr>
            <a:picLocks noChangeAspect="1"/>
          </p:cNvPicPr>
          <p:nvPr/>
        </p:nvPicPr>
        <p:blipFill>
          <a:blip r:embed="rId7"/>
          <a:stretch>
            <a:fillRect/>
          </a:stretch>
        </p:blipFill>
        <p:spPr>
          <a:xfrm>
            <a:off x="640080" y="3758184"/>
            <a:ext cx="256032" cy="256032"/>
          </a:xfrm>
          <a:prstGeom prst="rect">
            <a:avLst/>
          </a:prstGeom>
        </p:spPr>
      </p:pic>
      <p:sp>
        <p:nvSpPr>
          <p:cNvPr id="17" name="Text 8"/>
          <p:cNvSpPr txBox="1"/>
          <p:nvPr/>
        </p:nvSpPr>
        <p:spPr>
          <a:xfrm>
            <a:off x="1005840" y="3703320"/>
            <a:ext cx="3246120" cy="384048"/>
          </a:xfrm>
          <a:prstGeom prst="rect">
            <a:avLst/>
          </a:prstGeom>
          <a:noFill/>
          <a:ln/>
        </p:spPr>
        <p:txBody>
          <a:bodyPr wrap="square" lIns="0" tIns="0" rIns="0" bIns="0" rtlCol="0" anchor="ctr"/>
          <a:lstStyle/>
          <a:p>
            <a:pPr indent="0" marL="0">
              <a:buNone/>
            </a:pPr>
            <a:r>
              <a:rPr lang="en-US" sz="1000" dirty="0">
                <a:solidFill>
                  <a:srgbClr val="2B2B3A"/>
                </a:solidFill>
                <a:latin typeface="Arial" pitchFamily="34" charset="0"/>
                <a:ea typeface="Arial" pitchFamily="34" charset="-122"/>
                <a:cs typeface="Arial" pitchFamily="34" charset="-120"/>
              </a:rPr>
              <a:t>Monthly results report</a:t>
            </a:r>
            <a:endParaRPr lang="en-US" sz="1000" dirty="0"/>
          </a:p>
        </p:txBody>
      </p:sp>
      <p:sp>
        <p:nvSpPr>
          <p:cNvPr id="18" name="Shape 9"/>
          <p:cNvSpPr/>
          <p:nvPr/>
        </p:nvSpPr>
        <p:spPr>
          <a:xfrm>
            <a:off x="4617720" y="868680"/>
            <a:ext cx="3337560" cy="2148840"/>
          </a:xfrm>
          <a:prstGeom prst="roundRect">
            <a:avLst>
              <a:gd name="adj" fmla="val 3404"/>
            </a:avLst>
          </a:prstGeom>
          <a:solidFill>
            <a:srgbClr val="440973"/>
          </a:solidFill>
          <a:ln w="12700">
            <a:solidFill>
              <a:srgbClr val="440973"/>
            </a:solidFill>
            <a:prstDash val="solid"/>
          </a:ln>
        </p:spPr>
      </p:sp>
      <p:sp>
        <p:nvSpPr>
          <p:cNvPr id="19" name="Shape 10"/>
          <p:cNvSpPr/>
          <p:nvPr/>
        </p:nvSpPr>
        <p:spPr>
          <a:xfrm>
            <a:off x="4800600" y="1024128"/>
            <a:ext cx="502920" cy="502920"/>
          </a:xfrm>
          <a:prstGeom prst="ellipse">
            <a:avLst/>
          </a:prstGeom>
          <a:solidFill>
            <a:srgbClr val="4F7A00"/>
          </a:solidFill>
          <a:ln w="12700">
            <a:solidFill>
              <a:srgbClr val="4F7A00"/>
            </a:solidFill>
            <a:prstDash val="solid"/>
          </a:ln>
        </p:spPr>
      </p:sp>
      <p:pic>
        <p:nvPicPr>
          <p:cNvPr id="20" name="Image 7" descr="preencoded.png">    </p:cNvPr>
          <p:cNvPicPr>
            <a:picLocks noChangeAspect="1"/>
          </p:cNvPicPr>
          <p:nvPr/>
        </p:nvPicPr>
        <p:blipFill>
          <a:blip r:embed="rId8"/>
          <a:stretch>
            <a:fillRect/>
          </a:stretch>
        </p:blipFill>
        <p:spPr>
          <a:xfrm>
            <a:off x="4931359" y="1154887"/>
            <a:ext cx="241402" cy="241402"/>
          </a:xfrm>
          <a:prstGeom prst="rect">
            <a:avLst/>
          </a:prstGeom>
        </p:spPr>
      </p:pic>
      <p:sp>
        <p:nvSpPr>
          <p:cNvPr id="21" name="Text 11"/>
          <p:cNvSpPr txBox="1"/>
          <p:nvPr/>
        </p:nvSpPr>
        <p:spPr>
          <a:xfrm>
            <a:off x="5440680" y="1024128"/>
            <a:ext cx="2377440" cy="50292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First 3 months free</a:t>
            </a:r>
            <a:endParaRPr lang="en-US" sz="1500" dirty="0"/>
          </a:p>
        </p:txBody>
      </p:sp>
      <p:sp>
        <p:nvSpPr>
          <p:cNvPr id="22" name="Text 12"/>
          <p:cNvSpPr txBox="1"/>
          <p:nvPr/>
        </p:nvSpPr>
        <p:spPr>
          <a:xfrm>
            <a:off x="4800600" y="1645920"/>
            <a:ext cx="3017520" cy="1280160"/>
          </a:xfrm>
          <a:prstGeom prst="rect">
            <a:avLst/>
          </a:prstGeom>
          <a:noFill/>
          <a:ln/>
        </p:spPr>
        <p:txBody>
          <a:bodyPr wrap="square" lIns="0" tIns="0" rIns="0" bIns="0" rtlCol="0" anchor="t"/>
          <a:lstStyle/>
          <a:p>
            <a:pPr indent="0" marL="0">
              <a:buNone/>
            </a:pPr>
            <a:r>
              <a:rPr lang="en-US" sz="1050" dirty="0">
                <a:solidFill>
                  <a:srgbClr val="FFFFFF"/>
                </a:solidFill>
                <a:latin typeface="Arial" pitchFamily="34" charset="0"/>
                <a:ea typeface="Arial" pitchFamily="34" charset="-122"/>
                <a:cs typeface="Arial" pitchFamily="34" charset="-120"/>
              </a:rPr>
              <a:t>If AHCML has no marketing budget right now, Hummingbird will deliver the organic work free for the first three months. From month 4, AHCML can continue at PKR 50,000 a month.</a:t>
            </a:r>
            <a:endParaRPr lang="en-US" sz="1050" dirty="0"/>
          </a:p>
        </p:txBody>
      </p:sp>
      <p:sp>
        <p:nvSpPr>
          <p:cNvPr id="23" name="Shape 13"/>
          <p:cNvSpPr/>
          <p:nvPr/>
        </p:nvSpPr>
        <p:spPr>
          <a:xfrm>
            <a:off x="4617720" y="3200400"/>
            <a:ext cx="3337560" cy="1463040"/>
          </a:xfrm>
          <a:prstGeom prst="roundRect">
            <a:avLst>
              <a:gd name="adj" fmla="val 5000"/>
            </a:avLst>
          </a:prstGeom>
          <a:solidFill>
            <a:srgbClr val="EEF6DC"/>
          </a:solidFill>
          <a:ln w="12700">
            <a:solidFill>
              <a:srgbClr val="EEF6DC"/>
            </a:solidFill>
            <a:prstDash val="solid"/>
          </a:ln>
        </p:spPr>
      </p:sp>
      <p:sp>
        <p:nvSpPr>
          <p:cNvPr id="24" name="Text 14"/>
          <p:cNvSpPr txBox="1"/>
          <p:nvPr/>
        </p:nvSpPr>
        <p:spPr>
          <a:xfrm>
            <a:off x="4754880" y="3291840"/>
            <a:ext cx="3108960" cy="1280160"/>
          </a:xfrm>
          <a:prstGeom prst="rect">
            <a:avLst/>
          </a:prstGeom>
          <a:noFill/>
          <a:ln/>
        </p:spPr>
        <p:txBody>
          <a:bodyPr wrap="square" lIns="0" tIns="0" rIns="0" bIns="0" rtlCol="0" anchor="ctr"/>
          <a:lstStyle/>
          <a:p>
            <a:pPr indent="0" marL="0">
              <a:buNone/>
            </a:pPr>
            <a:r>
              <a:rPr lang="en-US" sz="950" b="1" dirty="0">
                <a:solidFill>
                  <a:srgbClr val="4F7A00"/>
                </a:solidFill>
                <a:latin typeface="Arial" pitchFamily="34" charset="0"/>
                <a:ea typeface="Arial" pitchFamily="34" charset="-122"/>
                <a:cs typeface="Arial" pitchFamily="34" charset="-120"/>
              </a:rPr>
              <a:t>Not included</a:t>
            </a:r>
            <a:endParaRPr lang="en-US" sz="950" dirty="0"/>
          </a:p>
          <a:p>
            <a:pPr indent="0" marL="0">
              <a:buNone/>
            </a:pPr>
            <a:r>
              <a:rPr lang="en-US" sz="950" dirty="0">
                <a:solidFill>
                  <a:srgbClr val="2B2B3A"/>
                </a:solidFill>
                <a:latin typeface="Arial" pitchFamily="34" charset="0"/>
                <a:ea typeface="Arial" pitchFamily="34" charset="-122"/>
                <a:cs typeface="Arial" pitchFamily="34" charset="-120"/>
              </a:rPr>
              <a:t>Ad spend (paid directly to Meta or Google), influencer fees, email and WhatsApp platform charges, and development work by AHCML's website or app vendor.</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Image 0" descr="logo_light.png">    </p:cNvPr>
          <p:cNvPicPr>
            <a:picLocks noChangeAspect="1"/>
          </p:cNvPicPr>
          <p:nvPr/>
        </p:nvPicPr>
        <p:blipFill>
          <a:blip r:embed="rId1"/>
          <a:stretch>
            <a:fillRect/>
          </a:stretch>
        </p:blipFill>
        <p:spPr>
          <a:xfrm>
            <a:off x="7882128" y="164592"/>
            <a:ext cx="896112" cy="475488"/>
          </a:xfrm>
          <a:prstGeom prst="rect">
            <a:avLst/>
          </a:prstGeom>
        </p:spPr>
      </p:pic>
      <p:pic>
        <p:nvPicPr>
          <p:cNvPr id="3" name="Image 1" descr="corner_t.png">    </p:cNvPr>
          <p:cNvPicPr>
            <a:picLocks noChangeAspect="1"/>
          </p:cNvPicPr>
          <p:nvPr/>
        </p:nvPicPr>
        <p:blipFill>
          <a:blip r:embed="rId2"/>
          <a:stretch>
            <a:fillRect/>
          </a:stretch>
        </p:blipFill>
        <p:spPr>
          <a:xfrm>
            <a:off x="8138160" y="4553712"/>
            <a:ext cx="1005840" cy="726948"/>
          </a:xfrm>
          <a:prstGeom prst="rect">
            <a:avLst/>
          </a:prstGeom>
        </p:spPr>
      </p:pic>
      <p:sp>
        <p:nvSpPr>
          <p:cNvPr id="4" name="Text 0"/>
          <p:cNvSpPr txBox="1"/>
          <p:nvPr/>
        </p:nvSpPr>
        <p:spPr>
          <a:xfrm>
            <a:off x="457200" y="228600"/>
            <a:ext cx="7223760" cy="548640"/>
          </a:xfrm>
          <a:prstGeom prst="rect">
            <a:avLst/>
          </a:prstGeom>
          <a:noFill/>
          <a:ln/>
        </p:spPr>
        <p:txBody>
          <a:bodyPr wrap="square" lIns="0" tIns="0" rIns="0" bIns="0" rtlCol="0" anchor="ctr"/>
          <a:lstStyle/>
          <a:p>
            <a:pPr indent="0" marL="0">
              <a:buNone/>
            </a:pPr>
            <a:r>
              <a:rPr lang="en-US" sz="2400" b="1" dirty="0">
                <a:solidFill>
                  <a:srgbClr val="440973"/>
                </a:solidFill>
                <a:latin typeface="Arial" pitchFamily="34" charset="0"/>
                <a:ea typeface="Arial" pitchFamily="34" charset="-122"/>
                <a:cs typeface="Arial" pitchFamily="34" charset="-120"/>
              </a:rPr>
              <a:t>The first 6 months</a:t>
            </a:r>
            <a:endParaRPr lang="en-US" sz="2400" dirty="0"/>
          </a:p>
        </p:txBody>
      </p:sp>
      <p:sp>
        <p:nvSpPr>
          <p:cNvPr id="5" name="Shape 1"/>
          <p:cNvSpPr/>
          <p:nvPr/>
        </p:nvSpPr>
        <p:spPr>
          <a:xfrm>
            <a:off x="457200" y="868680"/>
            <a:ext cx="1426464" cy="457200"/>
          </a:xfrm>
          <a:prstGeom prst="chevron">
            <a:avLst/>
          </a:prstGeom>
          <a:solidFill>
            <a:srgbClr val="440973"/>
          </a:solidFill>
          <a:ln w="12700">
            <a:solidFill>
              <a:srgbClr val="440973"/>
            </a:solidFill>
            <a:prstDash val="solid"/>
          </a:ln>
        </p:spPr>
      </p:sp>
      <p:sp>
        <p:nvSpPr>
          <p:cNvPr id="6" name="Text 2"/>
          <p:cNvSpPr txBox="1"/>
          <p:nvPr/>
        </p:nvSpPr>
        <p:spPr>
          <a:xfrm>
            <a:off x="594360" y="868680"/>
            <a:ext cx="1152144"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Month 1</a:t>
            </a:r>
            <a:endParaRPr lang="en-US" sz="1000" dirty="0"/>
          </a:p>
        </p:txBody>
      </p:sp>
      <p:sp>
        <p:nvSpPr>
          <p:cNvPr id="7" name="Shape 3"/>
          <p:cNvSpPr/>
          <p:nvPr/>
        </p:nvSpPr>
        <p:spPr>
          <a:xfrm>
            <a:off x="457200" y="1463040"/>
            <a:ext cx="1389888" cy="3200400"/>
          </a:xfrm>
          <a:prstGeom prst="roundRect">
            <a:avLst>
              <a:gd name="adj" fmla="val 5263"/>
            </a:avLst>
          </a:prstGeom>
          <a:solidFill>
            <a:srgbClr val="F3EEF8"/>
          </a:solidFill>
          <a:ln w="12700">
            <a:solidFill>
              <a:srgbClr val="F3EEF8"/>
            </a:solidFill>
            <a:prstDash val="solid"/>
          </a:ln>
        </p:spPr>
      </p:sp>
      <p:sp>
        <p:nvSpPr>
          <p:cNvPr id="8" name="Text 4"/>
          <p:cNvSpPr txBox="1"/>
          <p:nvPr/>
        </p:nvSpPr>
        <p:spPr>
          <a:xfrm>
            <a:off x="548640" y="1572768"/>
            <a:ext cx="1207008" cy="365760"/>
          </a:xfrm>
          <a:prstGeom prst="rect">
            <a:avLst/>
          </a:prstGeom>
          <a:noFill/>
          <a:ln/>
        </p:spPr>
        <p:txBody>
          <a:bodyPr wrap="square" lIns="0" tIns="0" rIns="0" bIns="0" rtlCol="0" anchor="t"/>
          <a:lstStyle/>
          <a:p>
            <a:pPr indent="0" marL="0">
              <a:buNone/>
            </a:pPr>
            <a:r>
              <a:rPr lang="en-US" sz="1200" b="1" dirty="0">
                <a:solidFill>
                  <a:srgbClr val="440973"/>
                </a:solidFill>
                <a:latin typeface="Arial" pitchFamily="34" charset="0"/>
                <a:ea typeface="Arial" pitchFamily="34" charset="-122"/>
                <a:cs typeface="Arial" pitchFamily="34" charset="-120"/>
              </a:rPr>
              <a:t>Fix foundations</a:t>
            </a:r>
            <a:endParaRPr lang="en-US" sz="1200" dirty="0"/>
          </a:p>
        </p:txBody>
      </p:sp>
      <p:sp>
        <p:nvSpPr>
          <p:cNvPr id="9" name="Text 5"/>
          <p:cNvSpPr txBox="1"/>
          <p:nvPr/>
        </p:nvSpPr>
        <p:spPr>
          <a:xfrm>
            <a:off x="548640" y="2011680"/>
            <a:ext cx="1225296" cy="2560320"/>
          </a:xfrm>
          <a:prstGeom prst="rect">
            <a:avLst/>
          </a:prstGeom>
          <a:noFill/>
          <a:ln/>
        </p:spPr>
        <p:txBody>
          <a:bodyPr wrap="square" lIns="0" tIns="0" rIns="0" bIns="0" rtlCol="0" anchor="t"/>
          <a:lstStyle/>
          <a:p>
            <a:pPr marL="342900" indent="-342900">
              <a:spcAft>
                <a:spcPts val="500"/>
              </a:spcAft>
              <a:buSzPct val="100000"/>
              <a:buChar char="•"/>
            </a:pPr>
            <a:r>
              <a:rPr lang="en-US" sz="900" dirty="0">
                <a:solidFill>
                  <a:srgbClr val="2B2B3A"/>
                </a:solidFill>
                <a:latin typeface="Arial" pitchFamily="34" charset="0"/>
                <a:ea typeface="Arial" pitchFamily="34" charset="-122"/>
                <a:cs typeface="Arial" pitchFamily="34" charset="-120"/>
              </a:rPr>
              <a:t>One app name and minimum amount</a:t>
            </a:r>
            <a:endParaRPr lang="en-US" sz="900" dirty="0"/>
          </a:p>
          <a:p>
            <a:pPr marL="342900" indent="-342900">
              <a:spcAft>
                <a:spcPts val="500"/>
              </a:spcAft>
              <a:buSzPct val="100000"/>
              <a:buChar char="•"/>
            </a:pPr>
            <a:r>
              <a:rPr lang="en-US" sz="900" dirty="0">
                <a:solidFill>
                  <a:srgbClr val="2B2B3A"/>
                </a:solidFill>
                <a:latin typeface="Arial" pitchFamily="34" charset="0"/>
                <a:ea typeface="Arial" pitchFamily="34" charset="-122"/>
                <a:cs typeface="Arial" pitchFamily="34" charset="-120"/>
              </a:rPr>
              <a:t>GROW page and FAQs on website</a:t>
            </a:r>
            <a:endParaRPr lang="en-US" sz="900" dirty="0"/>
          </a:p>
          <a:p>
            <a:pPr marL="342900" indent="-342900">
              <a:spcAft>
                <a:spcPts val="500"/>
              </a:spcAft>
              <a:buSzPct val="100000"/>
              <a:buChar char="•"/>
            </a:pPr>
            <a:r>
              <a:rPr lang="en-US" sz="900" dirty="0">
                <a:solidFill>
                  <a:srgbClr val="2B2B3A"/>
                </a:solidFill>
                <a:latin typeface="Arial" pitchFamily="34" charset="0"/>
                <a:ea typeface="Arial" pitchFamily="34" charset="-122"/>
                <a:cs typeface="Arial" pitchFamily="34" charset="-120"/>
              </a:rPr>
              <a:t>New Instagram bio, highlights, content plan</a:t>
            </a:r>
            <a:endParaRPr lang="en-US" sz="900" dirty="0"/>
          </a:p>
          <a:p>
            <a:pPr marL="342900" indent="-342900">
              <a:spcAft>
                <a:spcPts val="500"/>
              </a:spcAft>
              <a:buSzPct val="100000"/>
              <a:buChar char="•"/>
            </a:pPr>
            <a:r>
              <a:rPr lang="en-US" sz="900" dirty="0">
                <a:solidFill>
                  <a:srgbClr val="2B2B3A"/>
                </a:solidFill>
                <a:latin typeface="Arial" pitchFamily="34" charset="0"/>
                <a:ea typeface="Arial" pitchFamily="34" charset="-122"/>
                <a:cs typeface="Arial" pitchFamily="34" charset="-120"/>
              </a:rPr>
              <a:t>Tracking set up in the app</a:t>
            </a:r>
            <a:endParaRPr lang="en-US" sz="900" dirty="0"/>
          </a:p>
        </p:txBody>
      </p:sp>
      <p:sp>
        <p:nvSpPr>
          <p:cNvPr id="10" name="Shape 6"/>
          <p:cNvSpPr/>
          <p:nvPr/>
        </p:nvSpPr>
        <p:spPr>
          <a:xfrm>
            <a:off x="1975104" y="868680"/>
            <a:ext cx="1426464" cy="457200"/>
          </a:xfrm>
          <a:prstGeom prst="chevron">
            <a:avLst/>
          </a:prstGeom>
          <a:solidFill>
            <a:srgbClr val="440973"/>
          </a:solidFill>
          <a:ln w="12700">
            <a:solidFill>
              <a:srgbClr val="440973"/>
            </a:solidFill>
            <a:prstDash val="solid"/>
          </a:ln>
        </p:spPr>
      </p:sp>
      <p:sp>
        <p:nvSpPr>
          <p:cNvPr id="11" name="Text 7"/>
          <p:cNvSpPr txBox="1"/>
          <p:nvPr/>
        </p:nvSpPr>
        <p:spPr>
          <a:xfrm>
            <a:off x="2112264" y="868680"/>
            <a:ext cx="1152144"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Month 2</a:t>
            </a:r>
            <a:endParaRPr lang="en-US" sz="1000" dirty="0"/>
          </a:p>
        </p:txBody>
      </p:sp>
      <p:sp>
        <p:nvSpPr>
          <p:cNvPr id="12" name="Shape 8"/>
          <p:cNvSpPr/>
          <p:nvPr/>
        </p:nvSpPr>
        <p:spPr>
          <a:xfrm>
            <a:off x="1975104" y="1463040"/>
            <a:ext cx="1389888" cy="3200400"/>
          </a:xfrm>
          <a:prstGeom prst="roundRect">
            <a:avLst>
              <a:gd name="adj" fmla="val 5263"/>
            </a:avLst>
          </a:prstGeom>
          <a:solidFill>
            <a:srgbClr val="F3EEF8"/>
          </a:solidFill>
          <a:ln w="12700">
            <a:solidFill>
              <a:srgbClr val="F3EEF8"/>
            </a:solidFill>
            <a:prstDash val="solid"/>
          </a:ln>
        </p:spPr>
      </p:sp>
      <p:sp>
        <p:nvSpPr>
          <p:cNvPr id="13" name="Text 9"/>
          <p:cNvSpPr txBox="1"/>
          <p:nvPr/>
        </p:nvSpPr>
        <p:spPr>
          <a:xfrm>
            <a:off x="2066544" y="1572768"/>
            <a:ext cx="1207008" cy="365760"/>
          </a:xfrm>
          <a:prstGeom prst="rect">
            <a:avLst/>
          </a:prstGeom>
          <a:noFill/>
          <a:ln/>
        </p:spPr>
        <p:txBody>
          <a:bodyPr wrap="square" lIns="0" tIns="0" rIns="0" bIns="0" rtlCol="0" anchor="t"/>
          <a:lstStyle/>
          <a:p>
            <a:pPr indent="0" marL="0">
              <a:buNone/>
            </a:pPr>
            <a:r>
              <a:rPr lang="en-US" sz="1200" b="1" dirty="0">
                <a:solidFill>
                  <a:srgbClr val="440973"/>
                </a:solidFill>
                <a:latin typeface="Arial" pitchFamily="34" charset="0"/>
                <a:ea typeface="Arial" pitchFamily="34" charset="-122"/>
                <a:cs typeface="Arial" pitchFamily="34" charset="-120"/>
              </a:rPr>
              <a:t>Start the test</a:t>
            </a:r>
            <a:endParaRPr lang="en-US" sz="1200" dirty="0"/>
          </a:p>
        </p:txBody>
      </p:sp>
      <p:sp>
        <p:nvSpPr>
          <p:cNvPr id="14" name="Text 10"/>
          <p:cNvSpPr txBox="1"/>
          <p:nvPr/>
        </p:nvSpPr>
        <p:spPr>
          <a:xfrm>
            <a:off x="2066544" y="2011680"/>
            <a:ext cx="1225296" cy="2560320"/>
          </a:xfrm>
          <a:prstGeom prst="rect">
            <a:avLst/>
          </a:prstGeom>
          <a:noFill/>
          <a:ln/>
        </p:spPr>
        <p:txBody>
          <a:bodyPr wrap="square" lIns="0" tIns="0" rIns="0" bIns="0" rtlCol="0" anchor="t"/>
          <a:lstStyle/>
          <a:p>
            <a:pPr marL="342900" indent="-342900">
              <a:spcAft>
                <a:spcPts val="500"/>
              </a:spcAft>
              <a:buSzPct val="100000"/>
              <a:buChar char="•"/>
            </a:pPr>
            <a:r>
              <a:rPr lang="en-US" sz="900" dirty="0">
                <a:solidFill>
                  <a:srgbClr val="2B2B3A"/>
                </a:solidFill>
                <a:latin typeface="Arial" pitchFamily="34" charset="0"/>
                <a:ea typeface="Arial" pitchFamily="34" charset="-122"/>
                <a:cs typeface="Arial" pitchFamily="34" charset="-120"/>
              </a:rPr>
              <a:t>Instagram ads go live</a:t>
            </a:r>
            <a:endParaRPr lang="en-US" sz="900" dirty="0"/>
          </a:p>
          <a:p>
            <a:pPr marL="342900" indent="-342900">
              <a:spcAft>
                <a:spcPts val="500"/>
              </a:spcAft>
              <a:buSzPct val="100000"/>
              <a:buChar char="•"/>
            </a:pPr>
            <a:r>
              <a:rPr lang="en-US" sz="900" dirty="0">
                <a:solidFill>
                  <a:srgbClr val="2B2B3A"/>
                </a:solidFill>
                <a:latin typeface="Arial" pitchFamily="34" charset="0"/>
                <a:ea typeface="Arial" pitchFamily="34" charset="-122"/>
                <a:cs typeface="Arial" pitchFamily="34" charset="-120"/>
              </a:rPr>
              <a:t>WhatsApp help and follow-ups</a:t>
            </a:r>
            <a:endParaRPr lang="en-US" sz="900" dirty="0"/>
          </a:p>
          <a:p>
            <a:pPr marL="342900" indent="-342900">
              <a:spcAft>
                <a:spcPts val="500"/>
              </a:spcAft>
              <a:buSzPct val="100000"/>
              <a:buChar char="•"/>
            </a:pPr>
            <a:r>
              <a:rPr lang="en-US" sz="900" dirty="0">
                <a:solidFill>
                  <a:srgbClr val="2B2B3A"/>
                </a:solidFill>
                <a:latin typeface="Arial" pitchFamily="34" charset="0"/>
                <a:ea typeface="Arial" pitchFamily="34" charset="-122"/>
                <a:cs typeface="Arial" pitchFamily="34" charset="-120"/>
              </a:rPr>
              <a:t>Email to existing clients</a:t>
            </a:r>
            <a:endParaRPr lang="en-US" sz="900" dirty="0"/>
          </a:p>
        </p:txBody>
      </p:sp>
      <p:sp>
        <p:nvSpPr>
          <p:cNvPr id="15" name="Shape 11"/>
          <p:cNvSpPr/>
          <p:nvPr/>
        </p:nvSpPr>
        <p:spPr>
          <a:xfrm>
            <a:off x="3493008" y="868680"/>
            <a:ext cx="1426464" cy="457200"/>
          </a:xfrm>
          <a:prstGeom prst="chevron">
            <a:avLst/>
          </a:prstGeom>
          <a:solidFill>
            <a:srgbClr val="4F7A00"/>
          </a:solidFill>
          <a:ln w="12700">
            <a:solidFill>
              <a:srgbClr val="4F7A00"/>
            </a:solidFill>
            <a:prstDash val="solid"/>
          </a:ln>
        </p:spPr>
      </p:sp>
      <p:sp>
        <p:nvSpPr>
          <p:cNvPr id="16" name="Text 12"/>
          <p:cNvSpPr txBox="1"/>
          <p:nvPr/>
        </p:nvSpPr>
        <p:spPr>
          <a:xfrm>
            <a:off x="3630168" y="868680"/>
            <a:ext cx="1152144"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Month 3</a:t>
            </a:r>
            <a:endParaRPr lang="en-US" sz="1000" dirty="0"/>
          </a:p>
        </p:txBody>
      </p:sp>
      <p:sp>
        <p:nvSpPr>
          <p:cNvPr id="17" name="Shape 13"/>
          <p:cNvSpPr/>
          <p:nvPr/>
        </p:nvSpPr>
        <p:spPr>
          <a:xfrm>
            <a:off x="3493008" y="1463040"/>
            <a:ext cx="1389888" cy="3200400"/>
          </a:xfrm>
          <a:prstGeom prst="roundRect">
            <a:avLst>
              <a:gd name="adj" fmla="val 5263"/>
            </a:avLst>
          </a:prstGeom>
          <a:solidFill>
            <a:srgbClr val="EEF6DC"/>
          </a:solidFill>
          <a:ln w="12700">
            <a:solidFill>
              <a:srgbClr val="EEF6DC"/>
            </a:solidFill>
            <a:prstDash val="solid"/>
          </a:ln>
        </p:spPr>
      </p:sp>
      <p:sp>
        <p:nvSpPr>
          <p:cNvPr id="18" name="Text 14"/>
          <p:cNvSpPr txBox="1"/>
          <p:nvPr/>
        </p:nvSpPr>
        <p:spPr>
          <a:xfrm>
            <a:off x="3584448" y="1572768"/>
            <a:ext cx="1207008" cy="365760"/>
          </a:xfrm>
          <a:prstGeom prst="rect">
            <a:avLst/>
          </a:prstGeom>
          <a:noFill/>
          <a:ln/>
        </p:spPr>
        <p:txBody>
          <a:bodyPr wrap="square" lIns="0" tIns="0" rIns="0" bIns="0" rtlCol="0" anchor="t"/>
          <a:lstStyle/>
          <a:p>
            <a:pPr indent="0" marL="0">
              <a:buNone/>
            </a:pPr>
            <a:r>
              <a:rPr lang="en-US" sz="1200" b="1" dirty="0">
                <a:solidFill>
                  <a:srgbClr val="4F7A00"/>
                </a:solidFill>
                <a:latin typeface="Arial" pitchFamily="34" charset="0"/>
                <a:ea typeface="Arial" pitchFamily="34" charset="-122"/>
                <a:cs typeface="Arial" pitchFamily="34" charset="-120"/>
              </a:rPr>
              <a:t>6-week review</a:t>
            </a:r>
            <a:endParaRPr lang="en-US" sz="1200" dirty="0"/>
          </a:p>
        </p:txBody>
      </p:sp>
      <p:sp>
        <p:nvSpPr>
          <p:cNvPr id="19" name="Text 15"/>
          <p:cNvSpPr txBox="1"/>
          <p:nvPr/>
        </p:nvSpPr>
        <p:spPr>
          <a:xfrm>
            <a:off x="3584448" y="2011680"/>
            <a:ext cx="1225296" cy="2560320"/>
          </a:xfrm>
          <a:prstGeom prst="rect">
            <a:avLst/>
          </a:prstGeom>
          <a:noFill/>
          <a:ln/>
        </p:spPr>
        <p:txBody>
          <a:bodyPr wrap="square" lIns="0" tIns="0" rIns="0" bIns="0" rtlCol="0" anchor="t"/>
          <a:lstStyle/>
          <a:p>
            <a:pPr marL="342900" indent="-342900">
              <a:spcAft>
                <a:spcPts val="500"/>
              </a:spcAft>
              <a:buSzPct val="100000"/>
              <a:buChar char="•"/>
            </a:pPr>
            <a:r>
              <a:rPr lang="en-US" sz="900" dirty="0">
                <a:solidFill>
                  <a:srgbClr val="2B2B3A"/>
                </a:solidFill>
                <a:latin typeface="Arial" pitchFamily="34" charset="0"/>
                <a:ea typeface="Arial" pitchFamily="34" charset="-122"/>
                <a:cs typeface="Arial" pitchFamily="34" charset="-120"/>
              </a:rPr>
              <a:t>Share real costs and results</a:t>
            </a:r>
            <a:endParaRPr lang="en-US" sz="900" dirty="0"/>
          </a:p>
          <a:p>
            <a:pPr marL="342900" indent="-342900">
              <a:spcAft>
                <a:spcPts val="500"/>
              </a:spcAft>
              <a:buSzPct val="100000"/>
              <a:buChar char="•"/>
            </a:pPr>
            <a:r>
              <a:rPr lang="en-US" sz="900" dirty="0">
                <a:solidFill>
                  <a:srgbClr val="2B2B3A"/>
                </a:solidFill>
                <a:latin typeface="Arial" pitchFamily="34" charset="0"/>
                <a:ea typeface="Arial" pitchFamily="34" charset="-122"/>
                <a:cs typeface="Arial" pitchFamily="34" charset="-120"/>
              </a:rPr>
              <a:t>Agree targets for months 4 to 6</a:t>
            </a:r>
            <a:endParaRPr lang="en-US" sz="900" dirty="0"/>
          </a:p>
        </p:txBody>
      </p:sp>
      <p:sp>
        <p:nvSpPr>
          <p:cNvPr id="20" name="Shape 16"/>
          <p:cNvSpPr/>
          <p:nvPr/>
        </p:nvSpPr>
        <p:spPr>
          <a:xfrm>
            <a:off x="5010912" y="868680"/>
            <a:ext cx="1426464" cy="457200"/>
          </a:xfrm>
          <a:prstGeom prst="chevron">
            <a:avLst/>
          </a:prstGeom>
          <a:solidFill>
            <a:srgbClr val="440973"/>
          </a:solidFill>
          <a:ln w="12700">
            <a:solidFill>
              <a:srgbClr val="440973"/>
            </a:solidFill>
            <a:prstDash val="solid"/>
          </a:ln>
        </p:spPr>
      </p:sp>
      <p:sp>
        <p:nvSpPr>
          <p:cNvPr id="21" name="Text 17"/>
          <p:cNvSpPr txBox="1"/>
          <p:nvPr/>
        </p:nvSpPr>
        <p:spPr>
          <a:xfrm>
            <a:off x="5148072" y="868680"/>
            <a:ext cx="1152144"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Months 4 to 5</a:t>
            </a:r>
            <a:endParaRPr lang="en-US" sz="1000" dirty="0"/>
          </a:p>
        </p:txBody>
      </p:sp>
      <p:sp>
        <p:nvSpPr>
          <p:cNvPr id="22" name="Shape 18"/>
          <p:cNvSpPr/>
          <p:nvPr/>
        </p:nvSpPr>
        <p:spPr>
          <a:xfrm>
            <a:off x="5010912" y="1463040"/>
            <a:ext cx="1389888" cy="3200400"/>
          </a:xfrm>
          <a:prstGeom prst="roundRect">
            <a:avLst>
              <a:gd name="adj" fmla="val 5263"/>
            </a:avLst>
          </a:prstGeom>
          <a:solidFill>
            <a:srgbClr val="F3EEF8"/>
          </a:solidFill>
          <a:ln w="12700">
            <a:solidFill>
              <a:srgbClr val="F3EEF8"/>
            </a:solidFill>
            <a:prstDash val="solid"/>
          </a:ln>
        </p:spPr>
      </p:sp>
      <p:sp>
        <p:nvSpPr>
          <p:cNvPr id="23" name="Text 19"/>
          <p:cNvSpPr txBox="1"/>
          <p:nvPr/>
        </p:nvSpPr>
        <p:spPr>
          <a:xfrm>
            <a:off x="5102352" y="1572768"/>
            <a:ext cx="1207008" cy="365760"/>
          </a:xfrm>
          <a:prstGeom prst="rect">
            <a:avLst/>
          </a:prstGeom>
          <a:noFill/>
          <a:ln/>
        </p:spPr>
        <p:txBody>
          <a:bodyPr wrap="square" lIns="0" tIns="0" rIns="0" bIns="0" rtlCol="0" anchor="t"/>
          <a:lstStyle/>
          <a:p>
            <a:pPr indent="0" marL="0">
              <a:buNone/>
            </a:pPr>
            <a:r>
              <a:rPr lang="en-US" sz="1200" b="1" dirty="0">
                <a:solidFill>
                  <a:srgbClr val="440973"/>
                </a:solidFill>
                <a:latin typeface="Arial" pitchFamily="34" charset="0"/>
                <a:ea typeface="Arial" pitchFamily="34" charset="-122"/>
                <a:cs typeface="Arial" pitchFamily="34" charset="-120"/>
              </a:rPr>
              <a:t>Improve</a:t>
            </a:r>
            <a:endParaRPr lang="en-US" sz="1200" dirty="0"/>
          </a:p>
        </p:txBody>
      </p:sp>
      <p:sp>
        <p:nvSpPr>
          <p:cNvPr id="24" name="Text 20"/>
          <p:cNvSpPr txBox="1"/>
          <p:nvPr/>
        </p:nvSpPr>
        <p:spPr>
          <a:xfrm>
            <a:off x="5102352" y="2011680"/>
            <a:ext cx="1225296" cy="2560320"/>
          </a:xfrm>
          <a:prstGeom prst="rect">
            <a:avLst/>
          </a:prstGeom>
          <a:noFill/>
          <a:ln/>
        </p:spPr>
        <p:txBody>
          <a:bodyPr wrap="square" lIns="0" tIns="0" rIns="0" bIns="0" rtlCol="0" anchor="t"/>
          <a:lstStyle/>
          <a:p>
            <a:pPr marL="342900" indent="-342900">
              <a:spcAft>
                <a:spcPts val="500"/>
              </a:spcAft>
              <a:buSzPct val="100000"/>
              <a:buChar char="•"/>
            </a:pPr>
            <a:r>
              <a:rPr lang="en-US" sz="900" dirty="0">
                <a:solidFill>
                  <a:srgbClr val="2B2B3A"/>
                </a:solidFill>
                <a:latin typeface="Arial" pitchFamily="34" charset="0"/>
                <a:ea typeface="Arial" pitchFamily="34" charset="-122"/>
                <a:cs typeface="Arial" pitchFamily="34" charset="-120"/>
              </a:rPr>
              <a:t>Test first-deposit reward</a:t>
            </a:r>
            <a:endParaRPr lang="en-US" sz="900" dirty="0"/>
          </a:p>
          <a:p>
            <a:pPr marL="342900" indent="-342900">
              <a:spcAft>
                <a:spcPts val="500"/>
              </a:spcAft>
              <a:buSzPct val="100000"/>
              <a:buChar char="•"/>
            </a:pPr>
            <a:r>
              <a:rPr lang="en-US" sz="900" dirty="0">
                <a:solidFill>
                  <a:srgbClr val="2B2B3A"/>
                </a:solidFill>
                <a:latin typeface="Arial" pitchFamily="34" charset="0"/>
                <a:ea typeface="Arial" pitchFamily="34" charset="-122"/>
                <a:cs typeface="Arial" pitchFamily="34" charset="-120"/>
              </a:rPr>
              <a:t>Test one influencer</a:t>
            </a:r>
            <a:endParaRPr lang="en-US" sz="900" dirty="0"/>
          </a:p>
          <a:p>
            <a:pPr marL="342900" indent="-342900">
              <a:spcAft>
                <a:spcPts val="500"/>
              </a:spcAft>
              <a:buSzPct val="100000"/>
              <a:buChar char="•"/>
            </a:pPr>
            <a:r>
              <a:rPr lang="en-US" sz="900" dirty="0">
                <a:solidFill>
                  <a:srgbClr val="2B2B3A"/>
                </a:solidFill>
                <a:latin typeface="Arial" pitchFamily="34" charset="0"/>
                <a:ea typeface="Arial" pitchFamily="34" charset="-122"/>
                <a:cs typeface="Arial" pitchFamily="34" charset="-120"/>
              </a:rPr>
              <a:t>Media and business listings</a:t>
            </a:r>
            <a:endParaRPr lang="en-US" sz="900" dirty="0"/>
          </a:p>
        </p:txBody>
      </p:sp>
      <p:sp>
        <p:nvSpPr>
          <p:cNvPr id="25" name="Shape 21"/>
          <p:cNvSpPr/>
          <p:nvPr/>
        </p:nvSpPr>
        <p:spPr>
          <a:xfrm>
            <a:off x="6528816" y="868680"/>
            <a:ext cx="1426464" cy="457200"/>
          </a:xfrm>
          <a:prstGeom prst="chevron">
            <a:avLst/>
          </a:prstGeom>
          <a:solidFill>
            <a:srgbClr val="440973"/>
          </a:solidFill>
          <a:ln w="12700">
            <a:solidFill>
              <a:srgbClr val="440973"/>
            </a:solidFill>
            <a:prstDash val="solid"/>
          </a:ln>
        </p:spPr>
      </p:sp>
      <p:sp>
        <p:nvSpPr>
          <p:cNvPr id="26" name="Text 22"/>
          <p:cNvSpPr txBox="1"/>
          <p:nvPr/>
        </p:nvSpPr>
        <p:spPr>
          <a:xfrm>
            <a:off x="6665976" y="868680"/>
            <a:ext cx="1152144"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Month 6</a:t>
            </a:r>
            <a:endParaRPr lang="en-US" sz="1000" dirty="0"/>
          </a:p>
        </p:txBody>
      </p:sp>
      <p:sp>
        <p:nvSpPr>
          <p:cNvPr id="27" name="Shape 23"/>
          <p:cNvSpPr/>
          <p:nvPr/>
        </p:nvSpPr>
        <p:spPr>
          <a:xfrm>
            <a:off x="6528816" y="1463040"/>
            <a:ext cx="1389888" cy="3200400"/>
          </a:xfrm>
          <a:prstGeom prst="roundRect">
            <a:avLst>
              <a:gd name="adj" fmla="val 5263"/>
            </a:avLst>
          </a:prstGeom>
          <a:solidFill>
            <a:srgbClr val="F3EEF8"/>
          </a:solidFill>
          <a:ln w="12700">
            <a:solidFill>
              <a:srgbClr val="F3EEF8"/>
            </a:solidFill>
            <a:prstDash val="solid"/>
          </a:ln>
        </p:spPr>
      </p:sp>
      <p:sp>
        <p:nvSpPr>
          <p:cNvPr id="28" name="Text 24"/>
          <p:cNvSpPr txBox="1"/>
          <p:nvPr/>
        </p:nvSpPr>
        <p:spPr>
          <a:xfrm>
            <a:off x="6620256" y="1572768"/>
            <a:ext cx="1207008" cy="365760"/>
          </a:xfrm>
          <a:prstGeom prst="rect">
            <a:avLst/>
          </a:prstGeom>
          <a:noFill/>
          <a:ln/>
        </p:spPr>
        <p:txBody>
          <a:bodyPr wrap="square" lIns="0" tIns="0" rIns="0" bIns="0" rtlCol="0" anchor="t"/>
          <a:lstStyle/>
          <a:p>
            <a:pPr indent="0" marL="0">
              <a:buNone/>
            </a:pPr>
            <a:r>
              <a:rPr lang="en-US" sz="1200" b="1" dirty="0">
                <a:solidFill>
                  <a:srgbClr val="440973"/>
                </a:solidFill>
                <a:latin typeface="Arial" pitchFamily="34" charset="0"/>
                <a:ea typeface="Arial" pitchFamily="34" charset="-122"/>
                <a:cs typeface="Arial" pitchFamily="34" charset="-120"/>
              </a:rPr>
              <a:t>Decide</a:t>
            </a:r>
            <a:endParaRPr lang="en-US" sz="1200" dirty="0"/>
          </a:p>
        </p:txBody>
      </p:sp>
      <p:sp>
        <p:nvSpPr>
          <p:cNvPr id="29" name="Text 25"/>
          <p:cNvSpPr txBox="1"/>
          <p:nvPr/>
        </p:nvSpPr>
        <p:spPr>
          <a:xfrm>
            <a:off x="6620256" y="2011680"/>
            <a:ext cx="1225296" cy="2560320"/>
          </a:xfrm>
          <a:prstGeom prst="rect">
            <a:avLst/>
          </a:prstGeom>
          <a:noFill/>
          <a:ln/>
        </p:spPr>
        <p:txBody>
          <a:bodyPr wrap="square" lIns="0" tIns="0" rIns="0" bIns="0" rtlCol="0" anchor="t"/>
          <a:lstStyle/>
          <a:p>
            <a:pPr marL="342900" indent="-342900">
              <a:spcAft>
                <a:spcPts val="500"/>
              </a:spcAft>
              <a:buSzPct val="100000"/>
              <a:buChar char="•"/>
            </a:pPr>
            <a:r>
              <a:rPr lang="en-US" sz="900" dirty="0">
                <a:solidFill>
                  <a:srgbClr val="2B2B3A"/>
                </a:solidFill>
                <a:latin typeface="Arial" pitchFamily="34" charset="0"/>
                <a:ea typeface="Arial" pitchFamily="34" charset="-122"/>
                <a:cs typeface="Arial" pitchFamily="34" charset="-120"/>
              </a:rPr>
              <a:t>Full results review</a:t>
            </a:r>
            <a:endParaRPr lang="en-US" sz="900" dirty="0"/>
          </a:p>
          <a:p>
            <a:pPr marL="342900" indent="-342900">
              <a:spcAft>
                <a:spcPts val="500"/>
              </a:spcAft>
              <a:buSzPct val="100000"/>
              <a:buChar char="•"/>
            </a:pPr>
            <a:r>
              <a:rPr lang="en-US" sz="900" dirty="0">
                <a:solidFill>
                  <a:srgbClr val="2B2B3A"/>
                </a:solidFill>
                <a:latin typeface="Arial" pitchFamily="34" charset="0"/>
                <a:ea typeface="Arial" pitchFamily="34" charset="-122"/>
                <a:cs typeface="Arial" pitchFamily="34" charset="-120"/>
              </a:rPr>
              <a:t>Scale, add Google, or stop</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Image 0" descr="logo_light.png">    </p:cNvPr>
          <p:cNvPicPr>
            <a:picLocks noChangeAspect="1"/>
          </p:cNvPicPr>
          <p:nvPr/>
        </p:nvPicPr>
        <p:blipFill>
          <a:blip r:embed="rId1"/>
          <a:stretch>
            <a:fillRect/>
          </a:stretch>
        </p:blipFill>
        <p:spPr>
          <a:xfrm>
            <a:off x="7882128" y="164592"/>
            <a:ext cx="896112" cy="475488"/>
          </a:xfrm>
          <a:prstGeom prst="rect">
            <a:avLst/>
          </a:prstGeom>
        </p:spPr>
      </p:pic>
      <p:pic>
        <p:nvPicPr>
          <p:cNvPr id="3" name="Image 1" descr="corner_t.png">    </p:cNvPr>
          <p:cNvPicPr>
            <a:picLocks noChangeAspect="1"/>
          </p:cNvPicPr>
          <p:nvPr/>
        </p:nvPicPr>
        <p:blipFill>
          <a:blip r:embed="rId2"/>
          <a:stretch>
            <a:fillRect/>
          </a:stretch>
        </p:blipFill>
        <p:spPr>
          <a:xfrm>
            <a:off x="8138160" y="4553712"/>
            <a:ext cx="1005840" cy="726948"/>
          </a:xfrm>
          <a:prstGeom prst="rect">
            <a:avLst/>
          </a:prstGeom>
        </p:spPr>
      </p:pic>
      <p:sp>
        <p:nvSpPr>
          <p:cNvPr id="4" name="Text 0"/>
          <p:cNvSpPr txBox="1"/>
          <p:nvPr/>
        </p:nvSpPr>
        <p:spPr>
          <a:xfrm>
            <a:off x="457200" y="228600"/>
            <a:ext cx="7223760" cy="548640"/>
          </a:xfrm>
          <a:prstGeom prst="rect">
            <a:avLst/>
          </a:prstGeom>
          <a:noFill/>
          <a:ln/>
        </p:spPr>
        <p:txBody>
          <a:bodyPr wrap="square" lIns="0" tIns="0" rIns="0" bIns="0" rtlCol="0" anchor="ctr"/>
          <a:lstStyle/>
          <a:p>
            <a:pPr indent="0" marL="0">
              <a:buNone/>
            </a:pPr>
            <a:r>
              <a:rPr lang="en-US" sz="2400" b="1" dirty="0">
                <a:solidFill>
                  <a:srgbClr val="440973"/>
                </a:solidFill>
                <a:latin typeface="Arial" pitchFamily="34" charset="0"/>
                <a:ea typeface="Arial" pitchFamily="34" charset="-122"/>
                <a:cs typeface="Arial" pitchFamily="34" charset="-120"/>
              </a:rPr>
              <a:t>Risks, and what we need from AHCML</a:t>
            </a:r>
            <a:endParaRPr lang="en-US" sz="2400" dirty="0"/>
          </a:p>
        </p:txBody>
      </p:sp>
      <p:sp>
        <p:nvSpPr>
          <p:cNvPr id="5" name="Text 1"/>
          <p:cNvSpPr txBox="1"/>
          <p:nvPr/>
        </p:nvSpPr>
        <p:spPr>
          <a:xfrm>
            <a:off x="457200" y="868680"/>
            <a:ext cx="3657600" cy="274320"/>
          </a:xfrm>
          <a:prstGeom prst="rect">
            <a:avLst/>
          </a:prstGeom>
          <a:noFill/>
          <a:ln/>
        </p:spPr>
        <p:txBody>
          <a:bodyPr wrap="square" lIns="0" tIns="0" rIns="0" bIns="0" rtlCol="0" anchor="t"/>
          <a:lstStyle/>
          <a:p>
            <a:pPr indent="0" marL="0">
              <a:buNone/>
            </a:pPr>
            <a:r>
              <a:rPr lang="en-US" sz="1200" b="1" dirty="0">
                <a:solidFill>
                  <a:srgbClr val="0E0F3D"/>
                </a:solidFill>
                <a:latin typeface="Arial" pitchFamily="34" charset="0"/>
                <a:ea typeface="Arial" pitchFamily="34" charset="-122"/>
                <a:cs typeface="Arial" pitchFamily="34" charset="-120"/>
              </a:rPr>
              <a:t>Risks we will manage</a:t>
            </a:r>
            <a:endParaRPr lang="en-US" sz="1200" dirty="0"/>
          </a:p>
        </p:txBody>
      </p:sp>
      <p:sp>
        <p:nvSpPr>
          <p:cNvPr id="6" name="Shape 2"/>
          <p:cNvSpPr/>
          <p:nvPr/>
        </p:nvSpPr>
        <p:spPr>
          <a:xfrm>
            <a:off x="457200" y="1188720"/>
            <a:ext cx="3749040" cy="749808"/>
          </a:xfrm>
          <a:prstGeom prst="roundRect">
            <a:avLst>
              <a:gd name="adj" fmla="val 9756"/>
            </a:avLst>
          </a:prstGeom>
          <a:solidFill>
            <a:srgbClr val="F3EEF8"/>
          </a:solidFill>
          <a:ln w="12700">
            <a:solidFill>
              <a:srgbClr val="F3EEF8"/>
            </a:solidFill>
            <a:prstDash val="solid"/>
          </a:ln>
        </p:spPr>
      </p:sp>
      <p:sp>
        <p:nvSpPr>
          <p:cNvPr id="7" name="Shape 3"/>
          <p:cNvSpPr/>
          <p:nvPr/>
        </p:nvSpPr>
        <p:spPr>
          <a:xfrm>
            <a:off x="566928" y="1344168"/>
            <a:ext cx="438912" cy="438912"/>
          </a:xfrm>
          <a:prstGeom prst="ellipse">
            <a:avLst/>
          </a:prstGeom>
          <a:solidFill>
            <a:srgbClr val="440973"/>
          </a:solidFill>
          <a:ln w="12700">
            <a:solidFill>
              <a:srgbClr val="440973"/>
            </a:solidFill>
            <a:prstDash val="solid"/>
          </a:ln>
        </p:spPr>
      </p:sp>
      <p:pic>
        <p:nvPicPr>
          <p:cNvPr id="8" name="Image 2" descr="preencoded.png">    </p:cNvPr>
          <p:cNvPicPr>
            <a:picLocks noChangeAspect="1"/>
          </p:cNvPicPr>
          <p:nvPr/>
        </p:nvPicPr>
        <p:blipFill>
          <a:blip r:embed="rId3"/>
          <a:stretch>
            <a:fillRect/>
          </a:stretch>
        </p:blipFill>
        <p:spPr>
          <a:xfrm>
            <a:off x="681045" y="1458285"/>
            <a:ext cx="210678" cy="210678"/>
          </a:xfrm>
          <a:prstGeom prst="rect">
            <a:avLst/>
          </a:prstGeom>
        </p:spPr>
      </p:pic>
      <p:sp>
        <p:nvSpPr>
          <p:cNvPr id="9" name="Text 4"/>
          <p:cNvSpPr txBox="1"/>
          <p:nvPr/>
        </p:nvSpPr>
        <p:spPr>
          <a:xfrm>
            <a:off x="1143000" y="1243584"/>
            <a:ext cx="2971800" cy="228600"/>
          </a:xfrm>
          <a:prstGeom prst="rect">
            <a:avLst/>
          </a:prstGeom>
          <a:noFill/>
          <a:ln/>
        </p:spPr>
        <p:txBody>
          <a:bodyPr wrap="square" lIns="0" tIns="0" rIns="0" bIns="0" rtlCol="0" anchor="t"/>
          <a:lstStyle/>
          <a:p>
            <a:pPr indent="0" marL="0">
              <a:buNone/>
            </a:pPr>
            <a:r>
              <a:rPr lang="en-US" sz="1050" b="1" dirty="0">
                <a:solidFill>
                  <a:srgbClr val="440973"/>
                </a:solidFill>
                <a:latin typeface="Arial" pitchFamily="34" charset="0"/>
                <a:ea typeface="Arial" pitchFamily="34" charset="-122"/>
                <a:cs typeface="Arial" pitchFamily="34" charset="-120"/>
              </a:rPr>
              <a:t>Compliance</a:t>
            </a:r>
            <a:endParaRPr lang="en-US" sz="1050" dirty="0"/>
          </a:p>
        </p:txBody>
      </p:sp>
      <p:sp>
        <p:nvSpPr>
          <p:cNvPr id="10" name="Text 5"/>
          <p:cNvSpPr txBox="1"/>
          <p:nvPr/>
        </p:nvSpPr>
        <p:spPr>
          <a:xfrm>
            <a:off x="1143000" y="1481328"/>
            <a:ext cx="2971800" cy="438912"/>
          </a:xfrm>
          <a:prstGeom prst="rect">
            <a:avLst/>
          </a:prstGeom>
          <a:noFill/>
          <a:ln/>
        </p:spPr>
        <p:txBody>
          <a:bodyPr wrap="square" lIns="0" tIns="0" rIns="0" bIns="0" rtlCol="0" anchor="t"/>
          <a:lstStyle/>
          <a:p>
            <a:pPr indent="0" marL="0">
              <a:buNone/>
            </a:pPr>
            <a:r>
              <a:rPr lang="en-US" sz="900" dirty="0">
                <a:solidFill>
                  <a:srgbClr val="2B2B3A"/>
                </a:solidFill>
                <a:latin typeface="Arial" pitchFamily="34" charset="0"/>
                <a:ea typeface="Arial" pitchFamily="34" charset="-122"/>
                <a:cs typeface="Arial" pitchFamily="34" charset="-120"/>
              </a:rPr>
              <a:t>No promised returns. Every post and ad goes through AHCML sign-off.</a:t>
            </a:r>
            <a:endParaRPr lang="en-US" sz="900" dirty="0"/>
          </a:p>
        </p:txBody>
      </p:sp>
      <p:sp>
        <p:nvSpPr>
          <p:cNvPr id="11" name="Shape 6"/>
          <p:cNvSpPr/>
          <p:nvPr/>
        </p:nvSpPr>
        <p:spPr>
          <a:xfrm>
            <a:off x="457200" y="2039112"/>
            <a:ext cx="3749040" cy="749808"/>
          </a:xfrm>
          <a:prstGeom prst="roundRect">
            <a:avLst>
              <a:gd name="adj" fmla="val 9756"/>
            </a:avLst>
          </a:prstGeom>
          <a:solidFill>
            <a:srgbClr val="F3EEF8"/>
          </a:solidFill>
          <a:ln w="12700">
            <a:solidFill>
              <a:srgbClr val="F3EEF8"/>
            </a:solidFill>
            <a:prstDash val="solid"/>
          </a:ln>
        </p:spPr>
      </p:sp>
      <p:sp>
        <p:nvSpPr>
          <p:cNvPr id="12" name="Shape 7"/>
          <p:cNvSpPr/>
          <p:nvPr/>
        </p:nvSpPr>
        <p:spPr>
          <a:xfrm>
            <a:off x="566928" y="2194560"/>
            <a:ext cx="438912" cy="438912"/>
          </a:xfrm>
          <a:prstGeom prst="ellipse">
            <a:avLst/>
          </a:prstGeom>
          <a:solidFill>
            <a:srgbClr val="440973"/>
          </a:solidFill>
          <a:ln w="12700">
            <a:solidFill>
              <a:srgbClr val="440973"/>
            </a:solidFill>
            <a:prstDash val="solid"/>
          </a:ln>
        </p:spPr>
      </p:sp>
      <p:pic>
        <p:nvPicPr>
          <p:cNvPr id="13" name="Image 3" descr="preencoded.png">    </p:cNvPr>
          <p:cNvPicPr>
            <a:picLocks noChangeAspect="1"/>
          </p:cNvPicPr>
          <p:nvPr/>
        </p:nvPicPr>
        <p:blipFill>
          <a:blip r:embed="rId4"/>
          <a:stretch>
            <a:fillRect/>
          </a:stretch>
        </p:blipFill>
        <p:spPr>
          <a:xfrm>
            <a:off x="681045" y="2308677"/>
            <a:ext cx="210678" cy="210678"/>
          </a:xfrm>
          <a:prstGeom prst="rect">
            <a:avLst/>
          </a:prstGeom>
        </p:spPr>
      </p:pic>
      <p:sp>
        <p:nvSpPr>
          <p:cNvPr id="14" name="Text 8"/>
          <p:cNvSpPr txBox="1"/>
          <p:nvPr/>
        </p:nvSpPr>
        <p:spPr>
          <a:xfrm>
            <a:off x="1143000" y="2093976"/>
            <a:ext cx="2971800" cy="228600"/>
          </a:xfrm>
          <a:prstGeom prst="rect">
            <a:avLst/>
          </a:prstGeom>
          <a:noFill/>
          <a:ln/>
        </p:spPr>
        <p:txBody>
          <a:bodyPr wrap="square" lIns="0" tIns="0" rIns="0" bIns="0" rtlCol="0" anchor="t"/>
          <a:lstStyle/>
          <a:p>
            <a:pPr indent="0" marL="0">
              <a:buNone/>
            </a:pPr>
            <a:r>
              <a:rPr lang="en-US" sz="1050" b="1" dirty="0">
                <a:solidFill>
                  <a:srgbClr val="440973"/>
                </a:solidFill>
                <a:latin typeface="Arial" pitchFamily="34" charset="0"/>
                <a:ea typeface="Arial" pitchFamily="34" charset="-122"/>
                <a:cs typeface="Arial" pitchFamily="34" charset="-120"/>
              </a:rPr>
              <a:t>Scam fatigue</a:t>
            </a:r>
            <a:endParaRPr lang="en-US" sz="1050" dirty="0"/>
          </a:p>
        </p:txBody>
      </p:sp>
      <p:sp>
        <p:nvSpPr>
          <p:cNvPr id="15" name="Text 9"/>
          <p:cNvSpPr txBox="1"/>
          <p:nvPr/>
        </p:nvSpPr>
        <p:spPr>
          <a:xfrm>
            <a:off x="1143000" y="2331720"/>
            <a:ext cx="2971800" cy="438912"/>
          </a:xfrm>
          <a:prstGeom prst="rect">
            <a:avLst/>
          </a:prstGeom>
          <a:noFill/>
          <a:ln/>
        </p:spPr>
        <p:txBody>
          <a:bodyPr wrap="square" lIns="0" tIns="0" rIns="0" bIns="0" rtlCol="0" anchor="t"/>
          <a:lstStyle/>
          <a:p>
            <a:pPr indent="0" marL="0">
              <a:buNone/>
            </a:pPr>
            <a:r>
              <a:rPr lang="en-US" sz="900" dirty="0">
                <a:solidFill>
                  <a:srgbClr val="2B2B3A"/>
                </a:solidFill>
                <a:latin typeface="Arial" pitchFamily="34" charset="0"/>
                <a:ea typeface="Arial" pitchFamily="34" charset="-122"/>
                <a:cs typeface="Arial" pitchFamily="34" charset="-120"/>
              </a:rPr>
              <a:t>Feeds are full of fake trading ads. Verified pages and trust signals are essential.</a:t>
            </a:r>
            <a:endParaRPr lang="en-US" sz="900" dirty="0"/>
          </a:p>
        </p:txBody>
      </p:sp>
      <p:sp>
        <p:nvSpPr>
          <p:cNvPr id="16" name="Shape 10"/>
          <p:cNvSpPr/>
          <p:nvPr/>
        </p:nvSpPr>
        <p:spPr>
          <a:xfrm>
            <a:off x="457200" y="2889504"/>
            <a:ext cx="3749040" cy="749808"/>
          </a:xfrm>
          <a:prstGeom prst="roundRect">
            <a:avLst>
              <a:gd name="adj" fmla="val 9756"/>
            </a:avLst>
          </a:prstGeom>
          <a:solidFill>
            <a:srgbClr val="F3EEF8"/>
          </a:solidFill>
          <a:ln w="12700">
            <a:solidFill>
              <a:srgbClr val="F3EEF8"/>
            </a:solidFill>
            <a:prstDash val="solid"/>
          </a:ln>
        </p:spPr>
      </p:sp>
      <p:sp>
        <p:nvSpPr>
          <p:cNvPr id="17" name="Shape 11"/>
          <p:cNvSpPr/>
          <p:nvPr/>
        </p:nvSpPr>
        <p:spPr>
          <a:xfrm>
            <a:off x="566928" y="3044952"/>
            <a:ext cx="438912" cy="438912"/>
          </a:xfrm>
          <a:prstGeom prst="ellipse">
            <a:avLst/>
          </a:prstGeom>
          <a:solidFill>
            <a:srgbClr val="440973"/>
          </a:solidFill>
          <a:ln w="12700">
            <a:solidFill>
              <a:srgbClr val="440973"/>
            </a:solidFill>
            <a:prstDash val="solid"/>
          </a:ln>
        </p:spPr>
      </p:sp>
      <p:pic>
        <p:nvPicPr>
          <p:cNvPr id="18" name="Image 4" descr="preencoded.png">    </p:cNvPr>
          <p:cNvPicPr>
            <a:picLocks noChangeAspect="1"/>
          </p:cNvPicPr>
          <p:nvPr/>
        </p:nvPicPr>
        <p:blipFill>
          <a:blip r:embed="rId5"/>
          <a:stretch>
            <a:fillRect/>
          </a:stretch>
        </p:blipFill>
        <p:spPr>
          <a:xfrm>
            <a:off x="681045" y="3159069"/>
            <a:ext cx="210678" cy="210678"/>
          </a:xfrm>
          <a:prstGeom prst="rect">
            <a:avLst/>
          </a:prstGeom>
        </p:spPr>
      </p:pic>
      <p:sp>
        <p:nvSpPr>
          <p:cNvPr id="19" name="Text 12"/>
          <p:cNvSpPr txBox="1"/>
          <p:nvPr/>
        </p:nvSpPr>
        <p:spPr>
          <a:xfrm>
            <a:off x="1143000" y="2944368"/>
            <a:ext cx="2971800" cy="228600"/>
          </a:xfrm>
          <a:prstGeom prst="rect">
            <a:avLst/>
          </a:prstGeom>
          <a:noFill/>
          <a:ln/>
        </p:spPr>
        <p:txBody>
          <a:bodyPr wrap="square" lIns="0" tIns="0" rIns="0" bIns="0" rtlCol="0" anchor="t"/>
          <a:lstStyle/>
          <a:p>
            <a:pPr indent="0" marL="0">
              <a:buNone/>
            </a:pPr>
            <a:r>
              <a:rPr lang="en-US" sz="1050" b="1" dirty="0">
                <a:solidFill>
                  <a:srgbClr val="440973"/>
                </a:solidFill>
                <a:latin typeface="Arial" pitchFamily="34" charset="0"/>
                <a:ea typeface="Arial" pitchFamily="34" charset="-122"/>
                <a:cs typeface="Arial" pitchFamily="34" charset="-120"/>
              </a:rPr>
              <a:t>Onboarding friction</a:t>
            </a:r>
            <a:endParaRPr lang="en-US" sz="1050" dirty="0"/>
          </a:p>
        </p:txBody>
      </p:sp>
      <p:sp>
        <p:nvSpPr>
          <p:cNvPr id="20" name="Text 13"/>
          <p:cNvSpPr txBox="1"/>
          <p:nvPr/>
        </p:nvSpPr>
        <p:spPr>
          <a:xfrm>
            <a:off x="1143000" y="3182112"/>
            <a:ext cx="2971800" cy="438912"/>
          </a:xfrm>
          <a:prstGeom prst="rect">
            <a:avLst/>
          </a:prstGeom>
          <a:noFill/>
          <a:ln/>
        </p:spPr>
        <p:txBody>
          <a:bodyPr wrap="square" lIns="0" tIns="0" rIns="0" bIns="0" rtlCol="0" anchor="t"/>
          <a:lstStyle/>
          <a:p>
            <a:pPr indent="0" marL="0">
              <a:buNone/>
            </a:pPr>
            <a:r>
              <a:rPr lang="en-US" sz="900" dirty="0">
                <a:solidFill>
                  <a:srgbClr val="2B2B3A"/>
                </a:solidFill>
                <a:latin typeface="Arial" pitchFamily="34" charset="0"/>
                <a:ea typeface="Arial" pitchFamily="34" charset="-122"/>
                <a:cs typeface="Arial" pitchFamily="34" charset="-120"/>
              </a:rPr>
              <a:t>If account opening or funding is slow, marketing cannot fix it.</a:t>
            </a:r>
            <a:endParaRPr lang="en-US" sz="900" dirty="0"/>
          </a:p>
        </p:txBody>
      </p:sp>
      <p:sp>
        <p:nvSpPr>
          <p:cNvPr id="21" name="Shape 14"/>
          <p:cNvSpPr/>
          <p:nvPr/>
        </p:nvSpPr>
        <p:spPr>
          <a:xfrm>
            <a:off x="457200" y="3739896"/>
            <a:ext cx="3749040" cy="749808"/>
          </a:xfrm>
          <a:prstGeom prst="roundRect">
            <a:avLst>
              <a:gd name="adj" fmla="val 9756"/>
            </a:avLst>
          </a:prstGeom>
          <a:solidFill>
            <a:srgbClr val="F3EEF8"/>
          </a:solidFill>
          <a:ln w="12700">
            <a:solidFill>
              <a:srgbClr val="F3EEF8"/>
            </a:solidFill>
            <a:prstDash val="solid"/>
          </a:ln>
        </p:spPr>
      </p:sp>
      <p:sp>
        <p:nvSpPr>
          <p:cNvPr id="22" name="Shape 15"/>
          <p:cNvSpPr/>
          <p:nvPr/>
        </p:nvSpPr>
        <p:spPr>
          <a:xfrm>
            <a:off x="566928" y="3895344"/>
            <a:ext cx="438912" cy="438912"/>
          </a:xfrm>
          <a:prstGeom prst="ellipse">
            <a:avLst/>
          </a:prstGeom>
          <a:solidFill>
            <a:srgbClr val="440973"/>
          </a:solidFill>
          <a:ln w="12700">
            <a:solidFill>
              <a:srgbClr val="440973"/>
            </a:solidFill>
            <a:prstDash val="solid"/>
          </a:ln>
        </p:spPr>
      </p:sp>
      <p:pic>
        <p:nvPicPr>
          <p:cNvPr id="23" name="Image 5" descr="preencoded.png">    </p:cNvPr>
          <p:cNvPicPr>
            <a:picLocks noChangeAspect="1"/>
          </p:cNvPicPr>
          <p:nvPr/>
        </p:nvPicPr>
        <p:blipFill>
          <a:blip r:embed="rId6"/>
          <a:stretch>
            <a:fillRect/>
          </a:stretch>
        </p:blipFill>
        <p:spPr>
          <a:xfrm>
            <a:off x="681045" y="4009461"/>
            <a:ext cx="210678" cy="210678"/>
          </a:xfrm>
          <a:prstGeom prst="rect">
            <a:avLst/>
          </a:prstGeom>
        </p:spPr>
      </p:pic>
      <p:sp>
        <p:nvSpPr>
          <p:cNvPr id="24" name="Text 16"/>
          <p:cNvSpPr txBox="1"/>
          <p:nvPr/>
        </p:nvSpPr>
        <p:spPr>
          <a:xfrm>
            <a:off x="1143000" y="3794760"/>
            <a:ext cx="2971800" cy="228600"/>
          </a:xfrm>
          <a:prstGeom prst="rect">
            <a:avLst/>
          </a:prstGeom>
          <a:noFill/>
          <a:ln/>
        </p:spPr>
        <p:txBody>
          <a:bodyPr wrap="square" lIns="0" tIns="0" rIns="0" bIns="0" rtlCol="0" anchor="t"/>
          <a:lstStyle/>
          <a:p>
            <a:pPr indent="0" marL="0">
              <a:buNone/>
            </a:pPr>
            <a:r>
              <a:rPr lang="en-US" sz="1050" b="1" dirty="0">
                <a:solidFill>
                  <a:srgbClr val="440973"/>
                </a:solidFill>
                <a:latin typeface="Arial" pitchFamily="34" charset="0"/>
                <a:ea typeface="Arial" pitchFamily="34" charset="-122"/>
                <a:cs typeface="Arial" pitchFamily="34" charset="-120"/>
              </a:rPr>
              <a:t>Organic only</a:t>
            </a:r>
            <a:endParaRPr lang="en-US" sz="1050" dirty="0"/>
          </a:p>
        </p:txBody>
      </p:sp>
      <p:sp>
        <p:nvSpPr>
          <p:cNvPr id="25" name="Text 17"/>
          <p:cNvSpPr txBox="1"/>
          <p:nvPr/>
        </p:nvSpPr>
        <p:spPr>
          <a:xfrm>
            <a:off x="1143000" y="4032504"/>
            <a:ext cx="2971800" cy="438912"/>
          </a:xfrm>
          <a:prstGeom prst="rect">
            <a:avLst/>
          </a:prstGeom>
          <a:noFill/>
          <a:ln/>
        </p:spPr>
        <p:txBody>
          <a:bodyPr wrap="square" lIns="0" tIns="0" rIns="0" bIns="0" rtlCol="0" anchor="t"/>
          <a:lstStyle/>
          <a:p>
            <a:pPr indent="0" marL="0">
              <a:buNone/>
            </a:pPr>
            <a:r>
              <a:rPr lang="en-US" sz="900" dirty="0">
                <a:solidFill>
                  <a:srgbClr val="2B2B3A"/>
                </a:solidFill>
                <a:latin typeface="Arial" pitchFamily="34" charset="0"/>
                <a:ea typeface="Arial" pitchFamily="34" charset="-122"/>
                <a:cs typeface="Arial" pitchFamily="34" charset="-120"/>
              </a:rPr>
              <a:t>Without any paid push, better content alone will bring very few customers.</a:t>
            </a:r>
            <a:endParaRPr lang="en-US" sz="900" dirty="0"/>
          </a:p>
        </p:txBody>
      </p:sp>
      <p:sp>
        <p:nvSpPr>
          <p:cNvPr id="26" name="Text 18"/>
          <p:cNvSpPr txBox="1"/>
          <p:nvPr/>
        </p:nvSpPr>
        <p:spPr>
          <a:xfrm>
            <a:off x="4526280" y="868680"/>
            <a:ext cx="3474720" cy="274320"/>
          </a:xfrm>
          <a:prstGeom prst="rect">
            <a:avLst/>
          </a:prstGeom>
          <a:noFill/>
          <a:ln/>
        </p:spPr>
        <p:txBody>
          <a:bodyPr wrap="square" lIns="0" tIns="0" rIns="0" bIns="0" rtlCol="0" anchor="t"/>
          <a:lstStyle/>
          <a:p>
            <a:pPr indent="0" marL="0">
              <a:buNone/>
            </a:pPr>
            <a:r>
              <a:rPr lang="en-US" sz="1200" b="1" dirty="0">
                <a:solidFill>
                  <a:srgbClr val="0E0F3D"/>
                </a:solidFill>
                <a:latin typeface="Arial" pitchFamily="34" charset="0"/>
                <a:ea typeface="Arial" pitchFamily="34" charset="-122"/>
                <a:cs typeface="Arial" pitchFamily="34" charset="-120"/>
              </a:rPr>
              <a:t>What we need to start</a:t>
            </a:r>
            <a:endParaRPr lang="en-US" sz="1200" dirty="0"/>
          </a:p>
        </p:txBody>
      </p:sp>
      <p:pic>
        <p:nvPicPr>
          <p:cNvPr id="27" name="Image 6" descr="preencoded.png">    </p:cNvPr>
          <p:cNvPicPr>
            <a:picLocks noChangeAspect="1"/>
          </p:cNvPicPr>
          <p:nvPr/>
        </p:nvPicPr>
        <p:blipFill>
          <a:blip r:embed="rId7"/>
          <a:stretch>
            <a:fillRect/>
          </a:stretch>
        </p:blipFill>
        <p:spPr>
          <a:xfrm>
            <a:off x="4526280" y="1271016"/>
            <a:ext cx="274320" cy="274320"/>
          </a:xfrm>
          <a:prstGeom prst="rect">
            <a:avLst/>
          </a:prstGeom>
        </p:spPr>
      </p:pic>
      <p:sp>
        <p:nvSpPr>
          <p:cNvPr id="28" name="Text 19"/>
          <p:cNvSpPr txBox="1"/>
          <p:nvPr/>
        </p:nvSpPr>
        <p:spPr>
          <a:xfrm>
            <a:off x="4937760" y="1207008"/>
            <a:ext cx="3017520" cy="411480"/>
          </a:xfrm>
          <a:prstGeom prst="rect">
            <a:avLst/>
          </a:prstGeom>
          <a:noFill/>
          <a:ln/>
        </p:spPr>
        <p:txBody>
          <a:bodyPr wrap="square" lIns="0" tIns="0" rIns="0" bIns="0" rtlCol="0" anchor="ctr"/>
          <a:lstStyle/>
          <a:p>
            <a:pPr indent="0" marL="0">
              <a:buNone/>
            </a:pPr>
            <a:r>
              <a:rPr lang="en-US" sz="1000" dirty="0">
                <a:solidFill>
                  <a:srgbClr val="2B2B3A"/>
                </a:solidFill>
                <a:latin typeface="Arial" pitchFamily="34" charset="0"/>
                <a:ea typeface="Arial" pitchFamily="34" charset="-122"/>
                <a:cs typeface="Arial" pitchFamily="34" charset="-120"/>
              </a:rPr>
              <a:t>Agreement that success means funded accounts</a:t>
            </a:r>
            <a:endParaRPr lang="en-US" sz="1000" dirty="0"/>
          </a:p>
        </p:txBody>
      </p:sp>
      <p:pic>
        <p:nvPicPr>
          <p:cNvPr id="29" name="Image 7" descr="preencoded.png">    </p:cNvPr>
          <p:cNvPicPr>
            <a:picLocks noChangeAspect="1"/>
          </p:cNvPicPr>
          <p:nvPr/>
        </p:nvPicPr>
        <p:blipFill>
          <a:blip r:embed="rId8"/>
          <a:stretch>
            <a:fillRect/>
          </a:stretch>
        </p:blipFill>
        <p:spPr>
          <a:xfrm>
            <a:off x="4526280" y="1819656"/>
            <a:ext cx="274320" cy="274320"/>
          </a:xfrm>
          <a:prstGeom prst="rect">
            <a:avLst/>
          </a:prstGeom>
        </p:spPr>
      </p:pic>
      <p:sp>
        <p:nvSpPr>
          <p:cNvPr id="30" name="Text 20"/>
          <p:cNvSpPr txBox="1"/>
          <p:nvPr/>
        </p:nvSpPr>
        <p:spPr>
          <a:xfrm>
            <a:off x="4937760" y="1755648"/>
            <a:ext cx="3017520" cy="411480"/>
          </a:xfrm>
          <a:prstGeom prst="rect">
            <a:avLst/>
          </a:prstGeom>
          <a:noFill/>
          <a:ln/>
        </p:spPr>
        <p:txBody>
          <a:bodyPr wrap="square" lIns="0" tIns="0" rIns="0" bIns="0" rtlCol="0" anchor="ctr"/>
          <a:lstStyle/>
          <a:p>
            <a:pPr indent="0" marL="0">
              <a:buNone/>
            </a:pPr>
            <a:r>
              <a:rPr lang="en-US" sz="1000" dirty="0">
                <a:solidFill>
                  <a:srgbClr val="2B2B3A"/>
                </a:solidFill>
                <a:latin typeface="Arial" pitchFamily="34" charset="0"/>
                <a:ea typeface="Arial" pitchFamily="34" charset="-122"/>
                <a:cs typeface="Arial" pitchFamily="34" charset="-120"/>
              </a:rPr>
              <a:t>Access to social pages, website and app store listings</a:t>
            </a:r>
            <a:endParaRPr lang="en-US" sz="1000" dirty="0"/>
          </a:p>
        </p:txBody>
      </p:sp>
      <p:pic>
        <p:nvPicPr>
          <p:cNvPr id="31" name="Image 8" descr="preencoded.png">    </p:cNvPr>
          <p:cNvPicPr>
            <a:picLocks noChangeAspect="1"/>
          </p:cNvPicPr>
          <p:nvPr/>
        </p:nvPicPr>
        <p:blipFill>
          <a:blip r:embed="rId9"/>
          <a:stretch>
            <a:fillRect/>
          </a:stretch>
        </p:blipFill>
        <p:spPr>
          <a:xfrm>
            <a:off x="4526280" y="2368296"/>
            <a:ext cx="274320" cy="274320"/>
          </a:xfrm>
          <a:prstGeom prst="rect">
            <a:avLst/>
          </a:prstGeom>
        </p:spPr>
      </p:pic>
      <p:sp>
        <p:nvSpPr>
          <p:cNvPr id="32" name="Text 21"/>
          <p:cNvSpPr txBox="1"/>
          <p:nvPr/>
        </p:nvSpPr>
        <p:spPr>
          <a:xfrm>
            <a:off x="4937760" y="2304288"/>
            <a:ext cx="3017520" cy="411480"/>
          </a:xfrm>
          <a:prstGeom prst="rect">
            <a:avLst/>
          </a:prstGeom>
          <a:noFill/>
          <a:ln/>
        </p:spPr>
        <p:txBody>
          <a:bodyPr wrap="square" lIns="0" tIns="0" rIns="0" bIns="0" rtlCol="0" anchor="ctr"/>
          <a:lstStyle/>
          <a:p>
            <a:pPr indent="0" marL="0">
              <a:buNone/>
            </a:pPr>
            <a:r>
              <a:rPr lang="en-US" sz="1000" dirty="0">
                <a:solidFill>
                  <a:srgbClr val="2B2B3A"/>
                </a:solidFill>
                <a:latin typeface="Arial" pitchFamily="34" charset="0"/>
                <a:ea typeface="Arial" pitchFamily="34" charset="-122"/>
                <a:cs typeface="Arial" pitchFamily="34" charset="-120"/>
              </a:rPr>
              <a:t>One confirmed app name and minimum amount</a:t>
            </a:r>
            <a:endParaRPr lang="en-US" sz="1000" dirty="0"/>
          </a:p>
        </p:txBody>
      </p:sp>
      <p:pic>
        <p:nvPicPr>
          <p:cNvPr id="33" name="Image 9" descr="preencoded.png">    </p:cNvPr>
          <p:cNvPicPr>
            <a:picLocks noChangeAspect="1"/>
          </p:cNvPicPr>
          <p:nvPr/>
        </p:nvPicPr>
        <p:blipFill>
          <a:blip r:embed="rId10"/>
          <a:stretch>
            <a:fillRect/>
          </a:stretch>
        </p:blipFill>
        <p:spPr>
          <a:xfrm>
            <a:off x="4526280" y="2916936"/>
            <a:ext cx="274320" cy="274320"/>
          </a:xfrm>
          <a:prstGeom prst="rect">
            <a:avLst/>
          </a:prstGeom>
        </p:spPr>
      </p:pic>
      <p:sp>
        <p:nvSpPr>
          <p:cNvPr id="34" name="Text 22"/>
          <p:cNvSpPr txBox="1"/>
          <p:nvPr/>
        </p:nvSpPr>
        <p:spPr>
          <a:xfrm>
            <a:off x="4937760" y="2852928"/>
            <a:ext cx="3017520" cy="411480"/>
          </a:xfrm>
          <a:prstGeom prst="rect">
            <a:avLst/>
          </a:prstGeom>
          <a:noFill/>
          <a:ln/>
        </p:spPr>
        <p:txBody>
          <a:bodyPr wrap="square" lIns="0" tIns="0" rIns="0" bIns="0" rtlCol="0" anchor="ctr"/>
          <a:lstStyle/>
          <a:p>
            <a:pPr indent="0" marL="0">
              <a:buNone/>
            </a:pPr>
            <a:r>
              <a:rPr lang="en-US" sz="1000" dirty="0">
                <a:solidFill>
                  <a:srgbClr val="2B2B3A"/>
                </a:solidFill>
                <a:latin typeface="Arial" pitchFamily="34" charset="0"/>
                <a:ea typeface="Arial" pitchFamily="34" charset="-122"/>
                <a:cs typeface="Arial" pitchFamily="34" charset="-120"/>
              </a:rPr>
              <a:t>Client email list with consent to contact</a:t>
            </a:r>
            <a:endParaRPr lang="en-US" sz="1000" dirty="0"/>
          </a:p>
        </p:txBody>
      </p:sp>
      <p:pic>
        <p:nvPicPr>
          <p:cNvPr id="35" name="Image 10" descr="preencoded.png">    </p:cNvPr>
          <p:cNvPicPr>
            <a:picLocks noChangeAspect="1"/>
          </p:cNvPicPr>
          <p:nvPr/>
        </p:nvPicPr>
        <p:blipFill>
          <a:blip r:embed="rId11"/>
          <a:stretch>
            <a:fillRect/>
          </a:stretch>
        </p:blipFill>
        <p:spPr>
          <a:xfrm>
            <a:off x="4526280" y="3465576"/>
            <a:ext cx="274320" cy="274320"/>
          </a:xfrm>
          <a:prstGeom prst="rect">
            <a:avLst/>
          </a:prstGeom>
        </p:spPr>
      </p:pic>
      <p:sp>
        <p:nvSpPr>
          <p:cNvPr id="36" name="Text 23"/>
          <p:cNvSpPr txBox="1"/>
          <p:nvPr/>
        </p:nvSpPr>
        <p:spPr>
          <a:xfrm>
            <a:off x="4937760" y="3401568"/>
            <a:ext cx="3017520" cy="411480"/>
          </a:xfrm>
          <a:prstGeom prst="rect">
            <a:avLst/>
          </a:prstGeom>
          <a:noFill/>
          <a:ln/>
        </p:spPr>
        <p:txBody>
          <a:bodyPr wrap="square" lIns="0" tIns="0" rIns="0" bIns="0" rtlCol="0" anchor="ctr"/>
          <a:lstStyle/>
          <a:p>
            <a:pPr indent="0" marL="0">
              <a:buNone/>
            </a:pPr>
            <a:r>
              <a:rPr lang="en-US" sz="1000" dirty="0">
                <a:solidFill>
                  <a:srgbClr val="2B2B3A"/>
                </a:solidFill>
                <a:latin typeface="Arial" pitchFamily="34" charset="0"/>
                <a:ea typeface="Arial" pitchFamily="34" charset="-122"/>
                <a:cs typeface="Arial" pitchFamily="34" charset="-120"/>
              </a:rPr>
              <a:t>A named compliance approver, 48-hour sign-off</a:t>
            </a:r>
            <a:endParaRPr lang="en-US" sz="1000" dirty="0"/>
          </a:p>
        </p:txBody>
      </p:sp>
      <p:pic>
        <p:nvPicPr>
          <p:cNvPr id="37" name="Image 11" descr="preencoded.png">    </p:cNvPr>
          <p:cNvPicPr>
            <a:picLocks noChangeAspect="1"/>
          </p:cNvPicPr>
          <p:nvPr/>
        </p:nvPicPr>
        <p:blipFill>
          <a:blip r:embed="rId12"/>
          <a:stretch>
            <a:fillRect/>
          </a:stretch>
        </p:blipFill>
        <p:spPr>
          <a:xfrm>
            <a:off x="4526280" y="4014216"/>
            <a:ext cx="274320" cy="274320"/>
          </a:xfrm>
          <a:prstGeom prst="rect">
            <a:avLst/>
          </a:prstGeom>
        </p:spPr>
      </p:pic>
      <p:sp>
        <p:nvSpPr>
          <p:cNvPr id="38" name="Text 24"/>
          <p:cNvSpPr txBox="1"/>
          <p:nvPr/>
        </p:nvSpPr>
        <p:spPr>
          <a:xfrm>
            <a:off x="4937760" y="3950208"/>
            <a:ext cx="3017520" cy="411480"/>
          </a:xfrm>
          <a:prstGeom prst="rect">
            <a:avLst/>
          </a:prstGeom>
          <a:noFill/>
          <a:ln/>
        </p:spPr>
        <p:txBody>
          <a:bodyPr wrap="square" lIns="0" tIns="0" rIns="0" bIns="0" rtlCol="0" anchor="ctr"/>
          <a:lstStyle/>
          <a:p>
            <a:pPr indent="0" marL="0">
              <a:buNone/>
            </a:pPr>
            <a:r>
              <a:rPr lang="en-US" sz="1000" dirty="0">
                <a:solidFill>
                  <a:srgbClr val="2B2B3A"/>
                </a:solidFill>
                <a:latin typeface="Arial" pitchFamily="34" charset="0"/>
                <a:ea typeface="Arial" pitchFamily="34" charset="-122"/>
                <a:cs typeface="Arial" pitchFamily="34" charset="-120"/>
              </a:rPr>
              <a:t>A decision on the Instagram test budget</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pic>
        <p:nvPicPr>
          <p:cNvPr id="2" name="Image 0" descr="logo_light.png">    </p:cNvPr>
          <p:cNvPicPr>
            <a:picLocks noChangeAspect="1"/>
          </p:cNvPicPr>
          <p:nvPr/>
        </p:nvPicPr>
        <p:blipFill>
          <a:blip r:embed="rId1"/>
          <a:stretch>
            <a:fillRect/>
          </a:stretch>
        </p:blipFill>
        <p:spPr>
          <a:xfrm>
            <a:off x="7882128" y="164592"/>
            <a:ext cx="896112" cy="475488"/>
          </a:xfrm>
          <a:prstGeom prst="rect">
            <a:avLst/>
          </a:prstGeom>
        </p:spPr>
      </p:pic>
      <p:pic>
        <p:nvPicPr>
          <p:cNvPr id="3" name="Image 1" descr="corner_t.png">    </p:cNvPr>
          <p:cNvPicPr>
            <a:picLocks noChangeAspect="1"/>
          </p:cNvPicPr>
          <p:nvPr/>
        </p:nvPicPr>
        <p:blipFill>
          <a:blip r:embed="rId2"/>
          <a:stretch>
            <a:fillRect/>
          </a:stretch>
        </p:blipFill>
        <p:spPr>
          <a:xfrm>
            <a:off x="8138160" y="4553712"/>
            <a:ext cx="1005840" cy="726948"/>
          </a:xfrm>
          <a:prstGeom prst="rect">
            <a:avLst/>
          </a:prstGeom>
        </p:spPr>
      </p:pic>
      <p:sp>
        <p:nvSpPr>
          <p:cNvPr id="4" name="Text 0"/>
          <p:cNvSpPr txBox="1"/>
          <p:nvPr/>
        </p:nvSpPr>
        <p:spPr>
          <a:xfrm>
            <a:off x="457200" y="228600"/>
            <a:ext cx="7223760" cy="548640"/>
          </a:xfrm>
          <a:prstGeom prst="rect">
            <a:avLst/>
          </a:prstGeom>
          <a:noFill/>
          <a:ln/>
        </p:spPr>
        <p:txBody>
          <a:bodyPr wrap="square" lIns="0" tIns="0" rIns="0" bIns="0" rtlCol="0" anchor="ctr"/>
          <a:lstStyle/>
          <a:p>
            <a:pPr indent="0" marL="0">
              <a:buNone/>
            </a:pPr>
            <a:r>
              <a:rPr lang="en-US" sz="2400" b="1" dirty="0">
                <a:solidFill>
                  <a:srgbClr val="440973"/>
                </a:solidFill>
                <a:latin typeface="Arial" pitchFamily="34" charset="0"/>
                <a:ea typeface="Arial" pitchFamily="34" charset="-122"/>
                <a:cs typeface="Arial" pitchFamily="34" charset="-120"/>
              </a:rPr>
              <a:t>Sources and notes</a:t>
            </a:r>
            <a:endParaRPr lang="en-US" sz="2400" dirty="0"/>
          </a:p>
        </p:txBody>
      </p:sp>
      <p:sp>
        <p:nvSpPr>
          <p:cNvPr id="5" name="Text 1"/>
          <p:cNvSpPr txBox="1"/>
          <p:nvPr/>
        </p:nvSpPr>
        <p:spPr>
          <a:xfrm>
            <a:off x="457200" y="868680"/>
            <a:ext cx="7498080" cy="3840480"/>
          </a:xfrm>
          <a:prstGeom prst="rect">
            <a:avLst/>
          </a:prstGeom>
          <a:noFill/>
          <a:ln/>
        </p:spPr>
        <p:txBody>
          <a:bodyPr wrap="square" lIns="0" tIns="0" rIns="0" bIns="0" rtlCol="0" anchor="t"/>
          <a:lstStyle/>
          <a:p>
            <a:pPr indent="0" marL="0">
              <a:spcAft>
                <a:spcPts val="400"/>
              </a:spcAft>
              <a:buNone/>
            </a:pPr>
            <a:r>
              <a:rPr lang="en-US" sz="1000" b="1" dirty="0">
                <a:solidFill>
                  <a:srgbClr val="440973"/>
                </a:solidFill>
                <a:latin typeface="Arial" pitchFamily="34" charset="0"/>
                <a:ea typeface="Arial" pitchFamily="34" charset="-122"/>
                <a:cs typeface="Arial" pitchFamily="34" charset="-120"/>
              </a:rPr>
              <a:t>Market data</a:t>
            </a:r>
            <a:endParaRPr lang="en-US" sz="1000" dirty="0"/>
          </a:p>
          <a:p>
            <a:pPr marL="342900" indent="-342900">
              <a:spcAft>
                <a:spcPts val="400"/>
              </a:spcAft>
              <a:buSzPct val="100000"/>
              <a:buChar char="•"/>
            </a:pPr>
            <a:r>
              <a:rPr lang="en-US" sz="1000" dirty="0">
                <a:solidFill>
                  <a:srgbClr val="2B2B3A"/>
                </a:solidFill>
                <a:latin typeface="Arial" pitchFamily="34" charset="0"/>
                <a:ea typeface="Arial" pitchFamily="34" charset="-122"/>
                <a:cs typeface="Arial" pitchFamily="34" charset="-120"/>
              </a:rPr>
              <a:t>Arab News, "Pakistan's stock market crosses 600,000 investors", Aug 2026; ProPakistani, Feb and Aug 2026, citing NCCPL (age, gender, province, Sahulat share)</a:t>
            </a:r>
            <a:endParaRPr lang="en-US" sz="1000" dirty="0"/>
          </a:p>
          <a:p>
            <a:pPr marL="342900" indent="-342900">
              <a:spcAft>
                <a:spcPts val="400"/>
              </a:spcAft>
              <a:buSzPct val="100000"/>
              <a:buChar char="•"/>
            </a:pPr>
            <a:r>
              <a:rPr lang="en-US" sz="1000" dirty="0">
                <a:solidFill>
                  <a:srgbClr val="2B2B3A"/>
                </a:solidFill>
                <a:latin typeface="Arial" pitchFamily="34" charset="0"/>
                <a:ea typeface="Arial" pitchFamily="34" charset="-122"/>
                <a:cs typeface="Arial" pitchFamily="34" charset="-120"/>
              </a:rPr>
              <a:t>Arab News on Gen Z investors, 2026; Pakistan Economic Survey 2025-26 / PBS Labour Force Survey 2024-25; DataReportal, Digital 2026: Pakistan</a:t>
            </a:r>
            <a:endParaRPr lang="en-US" sz="1000" dirty="0"/>
          </a:p>
          <a:p>
            <a:pPr indent="0" marL="0">
              <a:spcAft>
                <a:spcPts val="400"/>
              </a:spcAft>
              <a:buNone/>
            </a:pPr>
            <a:r>
              <a:rPr lang="en-US" sz="1000" b="1" dirty="0">
                <a:solidFill>
                  <a:srgbClr val="440973"/>
                </a:solidFill>
                <a:latin typeface="Arial" pitchFamily="34" charset="0"/>
                <a:ea typeface="Arial" pitchFamily="34" charset="-122"/>
                <a:cs typeface="Arial" pitchFamily="34" charset="-120"/>
              </a:rPr>
              <a:t>Competitors, app and website</a:t>
            </a:r>
            <a:endParaRPr lang="en-US" sz="1000" dirty="0"/>
          </a:p>
          <a:p>
            <a:pPr marL="342900" indent="-342900">
              <a:spcAft>
                <a:spcPts val="400"/>
              </a:spcAft>
              <a:buSzPct val="100000"/>
              <a:buChar char="•"/>
            </a:pPr>
            <a:r>
              <a:rPr lang="en-US" sz="1000" dirty="0">
                <a:solidFill>
                  <a:srgbClr val="2B2B3A"/>
                </a:solidFill>
                <a:latin typeface="Arial" pitchFamily="34" charset="0"/>
                <a:ea typeface="Arial" pitchFamily="34" charset="-122"/>
                <a:cs typeface="Arial" pitchFamily="34" charset="-120"/>
              </a:rPr>
              <a:t>Google Play and Apple App Store listings; www.ahcml.com; company websites; Investify.pk; SECP public warnings on fake trading apps (2025)</a:t>
            </a:r>
            <a:endParaRPr lang="en-US" sz="1000" dirty="0"/>
          </a:p>
          <a:p>
            <a:pPr indent="0" marL="0">
              <a:spcAft>
                <a:spcPts val="400"/>
              </a:spcAft>
              <a:buNone/>
            </a:pPr>
            <a:r>
              <a:rPr lang="en-US" sz="1000" b="1" dirty="0">
                <a:solidFill>
                  <a:srgbClr val="440973"/>
                </a:solidFill>
                <a:latin typeface="Arial" pitchFamily="34" charset="0"/>
                <a:ea typeface="Arial" pitchFamily="34" charset="-122"/>
                <a:cs typeface="Arial" pitchFamily="34" charset="-120"/>
              </a:rPr>
              <a:t>Influencers and advertising</a:t>
            </a:r>
            <a:endParaRPr lang="en-US" sz="1000" dirty="0"/>
          </a:p>
          <a:p>
            <a:pPr marL="342900" indent="-342900">
              <a:spcAft>
                <a:spcPts val="400"/>
              </a:spcAft>
              <a:buSzPct val="100000"/>
              <a:buChar char="•"/>
            </a:pPr>
            <a:r>
              <a:rPr lang="en-US" sz="1000" dirty="0">
                <a:solidFill>
                  <a:srgbClr val="2B2B3A"/>
                </a:solidFill>
                <a:latin typeface="Arial" pitchFamily="34" charset="0"/>
                <a:ea typeface="Arial" pitchFamily="34" charset="-122"/>
                <a:cs typeface="Arial" pitchFamily="34" charset="-120"/>
              </a:rPr>
              <a:t>Favikon, Top 20 Business Influencers in Pakistan (2026); HypeAuditor, Pakistan finance Instagram ranking; Google Ads Help, App campaign best practices</a:t>
            </a:r>
            <a:endParaRPr lang="en-US" sz="1000" dirty="0"/>
          </a:p>
          <a:p>
            <a:pPr indent="0" marL="0">
              <a:spcAft>
                <a:spcPts val="400"/>
              </a:spcAft>
              <a:buNone/>
            </a:pPr>
            <a:r>
              <a:rPr lang="en-US" sz="1000" b="1" dirty="0">
                <a:solidFill>
                  <a:srgbClr val="440973"/>
                </a:solidFill>
                <a:latin typeface="Arial" pitchFamily="34" charset="0"/>
                <a:ea typeface="Arial" pitchFamily="34" charset="-122"/>
                <a:cs typeface="Arial" pitchFamily="34" charset="-120"/>
              </a:rPr>
              <a:t>Important</a:t>
            </a:r>
            <a:endParaRPr lang="en-US" sz="1000" dirty="0"/>
          </a:p>
          <a:p>
            <a:pPr marL="342900" indent="-342900">
              <a:spcAft>
                <a:spcPts val="400"/>
              </a:spcAft>
              <a:buSzPct val="100000"/>
              <a:buChar char="•"/>
            </a:pPr>
            <a:r>
              <a:rPr lang="en-US" sz="1000" dirty="0">
                <a:solidFill>
                  <a:srgbClr val="2B2B3A"/>
                </a:solidFill>
                <a:latin typeface="Arial" pitchFamily="34" charset="0"/>
                <a:ea typeface="Arial" pitchFamily="34" charset="-122"/>
                <a:cs typeface="Arial" pitchFamily="34" charset="-120"/>
              </a:rPr>
              <a:t>All results and costs in this deck are estimates based on typical Pakistan advertising costs. Realistic targets will be agreed with AHCML after 6 weeks of paid activity.</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440973"/>
        </a:solidFill>
      </p:bgPr>
    </p:bg>
    <p:spTree>
      <p:nvGrpSpPr>
        <p:cNvPr id="1" name=""/>
        <p:cNvGrpSpPr/>
        <p:nvPr/>
      </p:nvGrpSpPr>
      <p:grpSpPr>
        <a:xfrm>
          <a:off x="0" y="0"/>
          <a:ext cx="0" cy="0"/>
          <a:chOff x="0" y="0"/>
          <a:chExt cx="0" cy="0"/>
        </a:xfrm>
      </p:grpSpPr>
      <p:pic>
        <p:nvPicPr>
          <p:cNvPr id="2" name="Image 0" descr="logo_purple.png">    </p:cNvPr>
          <p:cNvPicPr>
            <a:picLocks noChangeAspect="1"/>
          </p:cNvPicPr>
          <p:nvPr/>
        </p:nvPicPr>
        <p:blipFill>
          <a:blip r:embed="rId1"/>
          <a:stretch>
            <a:fillRect/>
          </a:stretch>
        </p:blipFill>
        <p:spPr>
          <a:xfrm>
            <a:off x="457200" y="411480"/>
            <a:ext cx="1463040" cy="786384"/>
          </a:xfrm>
          <a:prstGeom prst="rect">
            <a:avLst/>
          </a:prstGeom>
        </p:spPr>
      </p:pic>
      <p:sp>
        <p:nvSpPr>
          <p:cNvPr id="3" name="Text 0"/>
          <p:cNvSpPr txBox="1"/>
          <p:nvPr/>
        </p:nvSpPr>
        <p:spPr>
          <a:xfrm>
            <a:off x="457200" y="1463040"/>
            <a:ext cx="5486400" cy="502920"/>
          </a:xfrm>
          <a:prstGeom prst="rect">
            <a:avLst/>
          </a:prstGeom>
          <a:noFill/>
          <a:ln/>
        </p:spPr>
        <p:txBody>
          <a:bodyPr wrap="square" lIns="0" tIns="0" rIns="0" bIns="0" rtlCol="0" anchor="t"/>
          <a:lstStyle/>
          <a:p>
            <a:pPr indent="0" marL="0">
              <a:buNone/>
            </a:pPr>
            <a:r>
              <a:rPr lang="en-US" sz="2800" b="1" dirty="0">
                <a:solidFill>
                  <a:srgbClr val="FFFFFF"/>
                </a:solidFill>
                <a:latin typeface="Arial" pitchFamily="34" charset="0"/>
                <a:ea typeface="Arial" pitchFamily="34" charset="-122"/>
                <a:cs typeface="Arial" pitchFamily="34" charset="-120"/>
              </a:rPr>
              <a:t>Next steps</a:t>
            </a:r>
            <a:endParaRPr lang="en-US" sz="2800" dirty="0"/>
          </a:p>
        </p:txBody>
      </p:sp>
      <p:sp>
        <p:nvSpPr>
          <p:cNvPr id="4" name="Text 1"/>
          <p:cNvSpPr txBox="1"/>
          <p:nvPr/>
        </p:nvSpPr>
        <p:spPr>
          <a:xfrm>
            <a:off x="457200" y="2011680"/>
            <a:ext cx="6858000" cy="11887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Arial" pitchFamily="34" charset="0"/>
                <a:ea typeface="Arial" pitchFamily="34" charset="-122"/>
                <a:cs typeface="Arial" pitchFamily="34" charset="-120"/>
              </a:rPr>
              <a:t>Choose a starting option: content + Instagram test, content + influencers, or content only</a:t>
            </a:r>
            <a:endParaRPr lang="en-US" sz="1300" dirty="0"/>
          </a:p>
          <a:p>
            <a:pPr marL="342900" indent="-342900">
              <a:spcAft>
                <a:spcPts val="600"/>
              </a:spcAft>
              <a:buSzPct val="100000"/>
              <a:buChar char="•"/>
            </a:pPr>
            <a:r>
              <a:rPr lang="en-US" sz="1300" dirty="0">
                <a:solidFill>
                  <a:srgbClr val="FFFFFF"/>
                </a:solidFill>
                <a:latin typeface="Arial" pitchFamily="34" charset="0"/>
                <a:ea typeface="Arial" pitchFamily="34" charset="-122"/>
                <a:cs typeface="Arial" pitchFamily="34" charset="-120"/>
              </a:rPr>
              <a:t>Share access to social pages, website and app store listings</a:t>
            </a:r>
            <a:endParaRPr lang="en-US" sz="1300" dirty="0"/>
          </a:p>
          <a:p>
            <a:pPr marL="342900" indent="-342900">
              <a:spcAft>
                <a:spcPts val="600"/>
              </a:spcAft>
              <a:buSzPct val="100000"/>
              <a:buChar char="•"/>
            </a:pPr>
            <a:r>
              <a:rPr lang="en-US" sz="1300" dirty="0">
                <a:solidFill>
                  <a:srgbClr val="FFFFFF"/>
                </a:solidFill>
                <a:latin typeface="Arial" pitchFamily="34" charset="0"/>
                <a:ea typeface="Arial" pitchFamily="34" charset="-122"/>
                <a:cs typeface="Arial" pitchFamily="34" charset="-120"/>
              </a:rPr>
              <a:t>Kick-off meeting: quick fixes, compliance and content plan in week 1</a:t>
            </a:r>
            <a:endParaRPr lang="en-US" sz="1300" dirty="0"/>
          </a:p>
        </p:txBody>
      </p:sp>
      <p:sp>
        <p:nvSpPr>
          <p:cNvPr id="5" name="Text 2"/>
          <p:cNvSpPr txBox="1"/>
          <p:nvPr/>
        </p:nvSpPr>
        <p:spPr>
          <a:xfrm>
            <a:off x="457200" y="3337560"/>
            <a:ext cx="6400800" cy="365760"/>
          </a:xfrm>
          <a:prstGeom prst="rect">
            <a:avLst/>
          </a:prstGeom>
          <a:noFill/>
          <a:ln/>
        </p:spPr>
        <p:txBody>
          <a:bodyPr wrap="square" lIns="0" tIns="0" rIns="0" bIns="0" rtlCol="0" anchor="t"/>
          <a:lstStyle/>
          <a:p>
            <a:pPr indent="0" marL="0">
              <a:buNone/>
            </a:pPr>
            <a:r>
              <a:rPr lang="en-US" sz="1000" i="1" dirty="0">
                <a:solidFill>
                  <a:srgbClr val="D9F29A"/>
                </a:solidFill>
                <a:latin typeface="Arial" pitchFamily="34" charset="0"/>
                <a:ea typeface="Arial" pitchFamily="34" charset="-122"/>
                <a:cs typeface="Arial" pitchFamily="34" charset="-120"/>
              </a:rPr>
              <a:t>This deck sets out the scope of an annual digital marketing plan. All figures are estimates until tested.</a:t>
            </a:r>
            <a:endParaRPr lang="en-US" sz="1000" dirty="0"/>
          </a:p>
        </p:txBody>
      </p:sp>
      <p:sp>
        <p:nvSpPr>
          <p:cNvPr id="6" name="Text 3"/>
          <p:cNvSpPr txBox="1"/>
          <p:nvPr/>
        </p:nvSpPr>
        <p:spPr>
          <a:xfrm>
            <a:off x="457200" y="4069080"/>
            <a:ext cx="5943600" cy="548640"/>
          </a:xfrm>
          <a:prstGeom prst="rect">
            <a:avLst/>
          </a:prstGeom>
          <a:noFill/>
          <a:ln/>
        </p:spPr>
        <p:txBody>
          <a:bodyPr wrap="square" lIns="0" tIns="0" rIns="0" bIns="0" rtlCol="0" anchor="t"/>
          <a:lstStyle/>
          <a:p>
            <a:pPr indent="0" marL="0">
              <a:buNone/>
            </a:pPr>
            <a:r>
              <a:rPr lang="en-US" sz="1100" b="1" dirty="0">
                <a:solidFill>
                  <a:srgbClr val="FFFFFF"/>
                </a:solidFill>
                <a:latin typeface="Arial" pitchFamily="34" charset="0"/>
                <a:ea typeface="Arial" pitchFamily="34" charset="-122"/>
                <a:cs typeface="Arial" pitchFamily="34" charset="-120"/>
              </a:rPr>
              <a:t>Uzma Mehtab</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Director Global Business, Hummingbird Digital Marketing Solutions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 Habib Capital GROW: Growth Plan</dc:title>
  <dc:subject>PptxGenJS Presentation</dc:subject>
  <dc:creator>Hummingbird Digital Marketing Solutions</dc:creator>
  <cp:lastModifiedBy>Hummingbird Digital Marketing Solutions</cp:lastModifiedBy>
  <cp:revision>1</cp:revision>
  <dcterms:created xsi:type="dcterms:W3CDTF">2026-09-25T12:37:37Z</dcterms:created>
  <dcterms:modified xsi:type="dcterms:W3CDTF">2026-09-25T12:37:37Z</dcterms:modified>
</cp:coreProperties>
</file>